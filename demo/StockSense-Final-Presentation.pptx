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BE4"/>
          </a:solidFill>
        </a:fill>
      </a:tcStyle>
    </a:wholeTbl>
    <a:band2H>
      <a:tcTxStyle b="def" i="def"/>
      <a:tcStyle>
        <a:tcBdr/>
        <a:fill>
          <a:solidFill>
            <a:srgbClr val="FDEEF2"/>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EEE8"/>
          </a:solidFill>
        </a:fill>
      </a:tcStyle>
    </a:wholeTbl>
    <a:band2H>
      <a:tcTxStyle b="def" i="def"/>
      <a:tcStyle>
        <a:tcBdr/>
        <a:fill>
          <a:solidFill>
            <a:srgbClr val="ECF7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DB"/>
          </a:solidFill>
        </a:fill>
      </a:tcStyle>
    </a:wholeTbl>
    <a:band2H>
      <a:tcTxStyle b="def" i="def"/>
      <a:tcStyle>
        <a:tcBdr/>
        <a:fill>
          <a:solidFill>
            <a:srgbClr val="FFF1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3B2A4F"/>
        </a:fontRef>
        <a:srgbClr val="3B2A4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8"/>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3B2A4F"/>
        </a:fontRef>
        <a:srgbClr val="3B2A4F"/>
      </a:tcTxStyle>
      <a:tcStyle>
        <a:tcBdr>
          <a:left>
            <a:ln w="12700" cap="flat">
              <a:noFill/>
              <a:miter lim="400000"/>
            </a:ln>
          </a:left>
          <a:right>
            <a:ln w="12700" cap="flat">
              <a:noFill/>
              <a:miter lim="400000"/>
            </a:ln>
          </a:right>
          <a:top>
            <a:ln w="50800" cap="flat">
              <a:solidFill>
                <a:srgbClr val="3B2A4F"/>
              </a:solidFill>
              <a:prstDash val="solid"/>
              <a:round/>
            </a:ln>
          </a:top>
          <a:bottom>
            <a:ln w="25400" cap="flat">
              <a:solidFill>
                <a:srgbClr val="3B2A4F"/>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3B2A4F"/>
              </a:solidFill>
              <a:prstDash val="solid"/>
              <a:round/>
            </a:ln>
          </a:top>
          <a:bottom>
            <a:ln w="25400" cap="flat">
              <a:solidFill>
                <a:srgbClr val="3B2A4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CBCF"/>
          </a:solidFill>
        </a:fill>
      </a:tcStyle>
    </a:wholeTbl>
    <a:band2H>
      <a:tcTxStyle b="def" i="def"/>
      <a:tcStyle>
        <a:tcBdr/>
        <a:fill>
          <a:solidFill>
            <a:srgbClr val="E7E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firstRow>
  </a:tblStyle>
  <a:tblStyle styleId="{2708684C-4D16-4618-839F-0558EEFCDFE6}" styleName="">
    <a:tblBg/>
    <a:wholeTbl>
      <a:tcTxStyle b="off"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solidFill>
            <a:srgbClr val="3B2A4F">
              <a:alpha val="20000"/>
            </a:srgbClr>
          </a:solidFill>
        </a:fill>
      </a:tcStyle>
    </a:wholeTbl>
    <a:band2H>
      <a:tcTxStyle b="def" i="def"/>
      <a:tcStyle>
        <a:tcBdr/>
        <a:fill>
          <a:solidFill>
            <a:srgbClr val="FFFFFF"/>
          </a:solidFill>
        </a:fill>
      </a:tcStyle>
    </a:band2H>
    <a:firstCol>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solidFill>
            <a:srgbClr val="3B2A4F">
              <a:alpha val="20000"/>
            </a:srgbClr>
          </a:solidFill>
        </a:fill>
      </a:tcStyle>
    </a:firstCol>
    <a:lastRow>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508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noFill/>
        </a:fill>
      </a:tcStyle>
    </a:lastRow>
    <a:firstRow>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254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300" u="none">
                <a:solidFill>
                  <a:srgbClr val="3B2A4F"/>
                </a:solidFill>
                <a:latin typeface="Calibri"/>
              </a:defRPr>
            </a:pPr>
            <a:r>
              <a:rPr b="0" i="0" strike="noStrike" sz="1300" u="none">
                <a:solidFill>
                  <a:srgbClr val="3B2A4F"/>
                </a:solidFill>
                <a:latin typeface="Calibri"/>
              </a:rPr>
              <a:t>Backend CPU, % of its request (HPA target 60%)</a:t>
            </a:r>
          </a:p>
        </c:rich>
      </c:tx>
      <c:layout>
        <c:manualLayout>
          <c:xMode val="edge"/>
          <c:yMode val="edge"/>
          <c:x val="0.262293"/>
          <c:y val="0"/>
          <c:w val="0.475414"/>
          <c:h val="0.141241"/>
        </c:manualLayout>
      </c:layout>
      <c:overlay val="1"/>
      <c:spPr>
        <a:noFill/>
        <a:effectLst/>
      </c:spPr>
    </c:title>
    <c:autoTitleDeleted val="1"/>
    <c:plotArea>
      <c:layout>
        <c:manualLayout>
          <c:layoutTarget val="inner"/>
          <c:xMode val="edge"/>
          <c:yMode val="edge"/>
          <c:x val="0.0495495"/>
          <c:y val="0.141241"/>
          <c:w val="0.945451"/>
          <c:h val="0.747118"/>
        </c:manualLayout>
      </c:layout>
      <c:barChart>
        <c:barDir val="col"/>
        <c:grouping val="clustered"/>
        <c:varyColors val="0"/>
        <c:ser>
          <c:idx val="0"/>
          <c:order val="0"/>
          <c:tx>
            <c:strRef>
              <c:f>Sheet1!$B$1</c:f>
              <c:strCache>
                <c:ptCount val="1"/>
                <c:pt idx="0">
                  <c:v>CPU % of request</c:v>
                </c:pt>
              </c:strCache>
            </c:strRef>
          </c:tx>
          <c:spPr>
            <a:solidFill>
              <a:schemeClr val="accent1"/>
            </a:solidFill>
            <a:ln w="12700" cap="flat">
              <a:noFill/>
              <a:miter lim="400000"/>
            </a:ln>
            <a:effectLst/>
          </c:spPr>
          <c:invertIfNegative val="0"/>
          <c:dLbls>
            <c:numFmt formatCode="#,##0" sourceLinked="0"/>
            <c:txPr>
              <a:bodyPr/>
              <a:lstStyle/>
              <a:p>
                <a:pPr>
                  <a:defRPr b="0" i="0" strike="noStrike" sz="1800" u="none">
                    <a:solidFill>
                      <a:srgbClr val="3B2A4F"/>
                    </a:solidFill>
                    <a:latin typeface="Calibri"/>
                  </a:defRPr>
                </a:pPr>
              </a:p>
            </c:txPr>
            <c:dLblPos val="outEnd"/>
            <c:showLegendKey val="0"/>
            <c:showVal val="0"/>
            <c:showCatName val="0"/>
            <c:showSerName val="0"/>
            <c:showPercent val="0"/>
            <c:showBubbleSize val="0"/>
            <c:showLeaderLines val="0"/>
          </c:dLbls>
          <c:cat>
            <c:multiLvlStrRef>
              <c:f>Sheet1!$A$2:$A$19</c:f>
              <c:multiLvlStrCache>
                <c:ptCount val="18"/>
                <c:lvl>
                  <c:pt idx="0">
                    <c:v>10</c:v>
                  </c:pt>
                  <c:pt idx="0">
                    <c:v>09:10</c:v>
                  </c:pt>
                  <c:pt idx="1">
                    <c:v>30</c:v>
                  </c:pt>
                  <c:pt idx="1">
                    <c:v>09:30</c:v>
                  </c:pt>
                  <c:pt idx="2">
                    <c:v>50</c:v>
                  </c:pt>
                  <c:pt idx="2">
                    <c:v>09:50</c:v>
                  </c:pt>
                  <c:pt idx="3">
                    <c:v>10</c:v>
                  </c:pt>
                  <c:pt idx="3">
                    <c:v>10:10</c:v>
                  </c:pt>
                  <c:pt idx="4">
                    <c:v>30</c:v>
                  </c:pt>
                  <c:pt idx="4">
                    <c:v>10:30</c:v>
                  </c:pt>
                  <c:pt idx="5">
                    <c:v>51</c:v>
                  </c:pt>
                  <c:pt idx="5">
                    <c:v>10:51</c:v>
                  </c:pt>
                  <c:pt idx="6">
                    <c:v>11</c:v>
                  </c:pt>
                  <c:pt idx="6">
                    <c:v>11:11</c:v>
                  </c:pt>
                  <c:pt idx="7">
                    <c:v>31</c:v>
                  </c:pt>
                  <c:pt idx="7">
                    <c:v>11:31</c:v>
                  </c:pt>
                  <c:pt idx="8">
                    <c:v>51</c:v>
                  </c:pt>
                  <c:pt idx="8">
                    <c:v>11:51</c:v>
                  </c:pt>
                  <c:pt idx="9">
                    <c:v>11</c:v>
                  </c:pt>
                  <c:pt idx="9">
                    <c:v>12:11</c:v>
                  </c:pt>
                  <c:pt idx="10">
                    <c:v>32</c:v>
                  </c:pt>
                  <c:pt idx="10">
                    <c:v>12:32</c:v>
                  </c:pt>
                  <c:pt idx="11">
                    <c:v>52</c:v>
                  </c:pt>
                  <c:pt idx="11">
                    <c:v>12:52</c:v>
                  </c:pt>
                  <c:pt idx="12">
                    <c:v>12</c:v>
                  </c:pt>
                  <c:pt idx="12">
                    <c:v>13:12</c:v>
                  </c:pt>
                  <c:pt idx="13">
                    <c:v>32</c:v>
                  </c:pt>
                  <c:pt idx="13">
                    <c:v>13:32</c:v>
                  </c:pt>
                  <c:pt idx="14">
                    <c:v>56</c:v>
                  </c:pt>
                  <c:pt idx="14">
                    <c:v>13:56</c:v>
                  </c:pt>
                  <c:pt idx="15">
                    <c:v>17</c:v>
                  </c:pt>
                  <c:pt idx="15">
                    <c:v>14:17</c:v>
                  </c:pt>
                  <c:pt idx="16">
                    <c:v>39</c:v>
                  </c:pt>
                  <c:pt idx="16">
                    <c:v>14:39</c:v>
                  </c:pt>
                  <c:pt idx="17">
                    <c:v>59</c:v>
                  </c:pt>
                  <c:pt idx="17">
                    <c:v>14:59</c:v>
                  </c:pt>
                </c:lvl>
                <c:lvl>
                  <c:pt idx="0">
                    <c:v>09</c:v>
                  </c:pt>
                  <c:pt idx="1">
                    <c:v>09</c:v>
                  </c:pt>
                  <c:pt idx="2">
                    <c:v>09</c:v>
                  </c:pt>
                  <c:pt idx="3">
                    <c:v>10</c:v>
                  </c:pt>
                  <c:pt idx="4">
                    <c:v>10</c:v>
                  </c:pt>
                  <c:pt idx="5">
                    <c:v>10</c:v>
                  </c:pt>
                  <c:pt idx="6">
                    <c:v>11</c:v>
                  </c:pt>
                  <c:pt idx="7">
                    <c:v>11</c:v>
                  </c:pt>
                  <c:pt idx="8">
                    <c:v>11</c:v>
                  </c:pt>
                  <c:pt idx="9">
                    <c:v>12</c:v>
                  </c:pt>
                  <c:pt idx="10">
                    <c:v>12</c:v>
                  </c:pt>
                  <c:pt idx="11">
                    <c:v>12</c:v>
                  </c:pt>
                  <c:pt idx="12">
                    <c:v>13</c:v>
                  </c:pt>
                  <c:pt idx="13">
                    <c:v>13</c:v>
                  </c:pt>
                  <c:pt idx="14">
                    <c:v>13</c:v>
                  </c:pt>
                  <c:pt idx="15">
                    <c:v>14</c:v>
                  </c:pt>
                  <c:pt idx="16">
                    <c:v>14</c:v>
                  </c:pt>
                  <c:pt idx="17">
                    <c:v>14</c:v>
                  </c:pt>
                </c:lvl>
              </c:multiLvlStrCache>
            </c:multiLvlStrRef>
          </c:cat>
          <c:val>
            <c:numRef>
              <c:f>Sheet1!$B$2:$B$19</c:f>
              <c:numCache>
                <c:ptCount val="18"/>
                <c:pt idx="0">
                  <c:v>203.000000</c:v>
                </c:pt>
                <c:pt idx="1">
                  <c:v>203.000000</c:v>
                </c:pt>
                <c:pt idx="2">
                  <c:v>203.000000</c:v>
                </c:pt>
                <c:pt idx="3">
                  <c:v>330.000000</c:v>
                </c:pt>
                <c:pt idx="4">
                  <c:v>330.000000</c:v>
                </c:pt>
                <c:pt idx="5">
                  <c:v>330.000000</c:v>
                </c:pt>
                <c:pt idx="6">
                  <c:v>284.000000</c:v>
                </c:pt>
                <c:pt idx="7">
                  <c:v>284.000000</c:v>
                </c:pt>
                <c:pt idx="8">
                  <c:v>284.000000</c:v>
                </c:pt>
                <c:pt idx="9">
                  <c:v>284.000000</c:v>
                </c:pt>
                <c:pt idx="10">
                  <c:v>207.000000</c:v>
                </c:pt>
                <c:pt idx="11">
                  <c:v>207.000000</c:v>
                </c:pt>
                <c:pt idx="12">
                  <c:v>5.000000</c:v>
                </c:pt>
                <c:pt idx="13">
                  <c:v>5.000000</c:v>
                </c:pt>
                <c:pt idx="14">
                  <c:v>5.000000</c:v>
                </c:pt>
                <c:pt idx="15">
                  <c:v>2.000000</c:v>
                </c:pt>
                <c:pt idx="16">
                  <c:v>2.000000</c:v>
                </c:pt>
                <c:pt idx="17">
                  <c:v>2.000000</c:v>
                </c:pt>
              </c:numCache>
            </c:numRef>
          </c:val>
        </c:ser>
        <c:gapWidth val="40"/>
        <c:overlap val="0"/>
        <c:axId val="2094734552"/>
        <c:axId val="2094734553"/>
      </c:barChart>
      <c:catAx>
        <c:axId val="2094734552"/>
        <c:scaling>
          <c:orientation val="minMax"/>
        </c:scaling>
        <c:delete val="0"/>
        <c:axPos val="b"/>
        <c:numFmt formatCode="General" sourceLinked="0"/>
        <c:majorTickMark val="out"/>
        <c:minorTickMark val="none"/>
        <c:tickLblPos val="low"/>
        <c:spPr>
          <a:ln w="12700" cap="flat">
            <a:solidFill>
              <a:srgbClr val="EDE7F6"/>
            </a:solidFill>
            <a:prstDash val="solid"/>
            <a:miter lim="800000"/>
          </a:ln>
        </c:spPr>
        <c:txPr>
          <a:bodyPr rot="0"/>
          <a:lstStyle/>
          <a:p>
            <a:pPr>
              <a:defRPr b="0" i="0" strike="noStrike" sz="1000" u="none">
                <a:solidFill>
                  <a:srgbClr val="6B5B86"/>
                </a:solidFill>
                <a:latin typeface="Calibri"/>
              </a:defRPr>
            </a:pPr>
          </a:p>
        </c:txPr>
        <c:crossAx val="2094734553"/>
        <c:crosses val="autoZero"/>
        <c:auto val="1"/>
        <c:lblAlgn val="ctr"/>
        <c:noMultiLvlLbl val="1"/>
      </c:catAx>
      <c:valAx>
        <c:axId val="2094734553"/>
        <c:scaling>
          <c:orientation val="minMax"/>
          <c:max val="400"/>
          <c:min val="0"/>
        </c:scaling>
        <c:delete val="0"/>
        <c:axPos val="l"/>
        <c:majorGridlines>
          <c:spPr>
            <a:ln w="12700" cap="flat">
              <a:solidFill>
                <a:srgbClr val="EDE7F6"/>
              </a:solidFill>
              <a:prstDash val="solid"/>
              <a:miter lim="800000"/>
            </a:ln>
          </c:spPr>
        </c:majorGridlines>
        <c:numFmt formatCode="0" sourceLinked="0"/>
        <c:majorTickMark val="none"/>
        <c:minorTickMark val="none"/>
        <c:tickLblPos val="nextTo"/>
        <c:spPr>
          <a:ln w="12700" cap="flat">
            <a:noFill/>
            <a:prstDash val="solid"/>
            <a:miter lim="800000"/>
          </a:ln>
        </c:spPr>
        <c:txPr>
          <a:bodyPr rot="0"/>
          <a:lstStyle/>
          <a:p>
            <a:pPr>
              <a:defRPr b="0" i="0" strike="noStrike" sz="1000" u="none">
                <a:solidFill>
                  <a:srgbClr val="6B5B86"/>
                </a:solidFill>
                <a:latin typeface="Calibri"/>
              </a:defRPr>
            </a:pPr>
          </a:p>
        </c:txPr>
        <c:crossAx val="2094734552"/>
        <c:crosses val="autoZero"/>
        <c:crossBetween val="between"/>
        <c:majorUnit val="100"/>
        <c:minorUnit val="50"/>
      </c:valAx>
      <c:spPr>
        <a:noFill/>
        <a:ln w="12700" cap="flat">
          <a:noFill/>
          <a:miter lim="400000"/>
        </a:ln>
        <a:effectLst/>
      </c:spPr>
    </c:plotArea>
    <c:plotVisOnly val="0"/>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300" u="none">
                <a:solidFill>
                  <a:srgbClr val="3B2A4F"/>
                </a:solidFill>
                <a:latin typeface="Calibri"/>
              </a:defRPr>
            </a:pPr>
            <a:r>
              <a:rPr b="0" i="0" strike="noStrike" sz="1300" u="none">
                <a:solidFill>
                  <a:srgbClr val="3B2A4F"/>
                </a:solidFill>
                <a:latin typeface="Calibri"/>
              </a:rPr>
              <a:t>Backend pods (kubectl get hpa, every 20 s)</a:t>
            </a:r>
          </a:p>
        </c:rich>
      </c:tx>
      <c:layout>
        <c:manualLayout>
          <c:xMode val="edge"/>
          <c:yMode val="edge"/>
          <c:x val="0.287698"/>
          <c:y val="0"/>
          <c:w val="0.424603"/>
          <c:h val="0.154364"/>
        </c:manualLayout>
      </c:layout>
      <c:overlay val="1"/>
      <c:spPr>
        <a:noFill/>
        <a:effectLst/>
      </c:spPr>
    </c:title>
    <c:autoTitleDeleted val="1"/>
    <c:plotArea>
      <c:layout>
        <c:manualLayout>
          <c:layoutTarget val="inner"/>
          <c:xMode val="edge"/>
          <c:yMode val="edge"/>
          <c:x val="0.0302796"/>
          <c:y val="0.154364"/>
          <c:w val="0.96472"/>
          <c:h val="0.724783"/>
        </c:manualLayout>
      </c:layout>
      <c:lineChart>
        <c:grouping val="standard"/>
        <c:varyColors val="0"/>
        <c:ser>
          <c:idx val="0"/>
          <c:order val="0"/>
          <c:tx>
            <c:strRef>
              <c:f>Sheet1!$B$1</c:f>
              <c:strCache>
                <c:ptCount val="1"/>
                <c:pt idx="0">
                  <c:v>Backend pods</c:v>
                </c:pt>
              </c:strCache>
            </c:strRef>
          </c:tx>
          <c:spPr>
            <a:solidFill>
              <a:srgbClr val="7E5BD6"/>
            </a:solidFill>
            <a:ln w="38100" cap="flat">
              <a:solidFill>
                <a:srgbClr val="7E5BD6"/>
              </a:solidFill>
              <a:prstDash val="solid"/>
              <a:miter lim="800000"/>
            </a:ln>
            <a:effectLst/>
          </c:spPr>
          <c:marker>
            <c:symbol val="circle"/>
            <c:size val="6"/>
            <c:spPr>
              <a:solidFill>
                <a:srgbClr val="7E5BD6"/>
              </a:solidFill>
              <a:ln w="6350" cap="flat">
                <a:solidFill>
                  <a:srgbClr val="7E5BD6"/>
                </a:solidFill>
                <a:prstDash val="solid"/>
                <a:miter lim="800000"/>
              </a:ln>
              <a:effectLst/>
            </c:spPr>
          </c:marker>
          <c:dLbls>
            <c:numFmt formatCode="#,##0" sourceLinked="0"/>
            <c:txPr>
              <a:bodyPr/>
              <a:lstStyle/>
              <a:p>
                <a:pPr>
                  <a:defRPr b="0" i="0" strike="noStrike" sz="1800" u="none">
                    <a:solidFill>
                      <a:srgbClr val="3B2A4F"/>
                    </a:solidFill>
                    <a:latin typeface="Calibri"/>
                  </a:defRPr>
                </a:pPr>
              </a:p>
            </c:txPr>
            <c:dLblPos val="t"/>
            <c:showLegendKey val="0"/>
            <c:showVal val="0"/>
            <c:showCatName val="0"/>
            <c:showSerName val="0"/>
            <c:showPercent val="0"/>
            <c:showBubbleSize val="0"/>
            <c:showLeaderLines val="0"/>
          </c:dLbls>
          <c:cat>
            <c:multiLvlStrRef>
              <c:f>Sheet1!$A$2:$A$19</c:f>
              <c:multiLvlStrCache>
                <c:ptCount val="18"/>
                <c:lvl>
                  <c:pt idx="0">
                    <c:v>10</c:v>
                  </c:pt>
                  <c:pt idx="0">
                    <c:v>09:10</c:v>
                  </c:pt>
                  <c:pt idx="1">
                    <c:v>30</c:v>
                  </c:pt>
                  <c:pt idx="1">
                    <c:v>09:30</c:v>
                  </c:pt>
                  <c:pt idx="2">
                    <c:v>50</c:v>
                  </c:pt>
                  <c:pt idx="2">
                    <c:v>09:50</c:v>
                  </c:pt>
                  <c:pt idx="3">
                    <c:v>10</c:v>
                  </c:pt>
                  <c:pt idx="3">
                    <c:v>10:10</c:v>
                  </c:pt>
                  <c:pt idx="4">
                    <c:v>30</c:v>
                  </c:pt>
                  <c:pt idx="4">
                    <c:v>10:30</c:v>
                  </c:pt>
                  <c:pt idx="5">
                    <c:v>51</c:v>
                  </c:pt>
                  <c:pt idx="5">
                    <c:v>10:51</c:v>
                  </c:pt>
                  <c:pt idx="6">
                    <c:v>11</c:v>
                  </c:pt>
                  <c:pt idx="6">
                    <c:v>11:11</c:v>
                  </c:pt>
                  <c:pt idx="7">
                    <c:v>31</c:v>
                  </c:pt>
                  <c:pt idx="7">
                    <c:v>11:31</c:v>
                  </c:pt>
                  <c:pt idx="8">
                    <c:v>51</c:v>
                  </c:pt>
                  <c:pt idx="8">
                    <c:v>11:51</c:v>
                  </c:pt>
                  <c:pt idx="9">
                    <c:v>11</c:v>
                  </c:pt>
                  <c:pt idx="9">
                    <c:v>12:11</c:v>
                  </c:pt>
                  <c:pt idx="10">
                    <c:v>32</c:v>
                  </c:pt>
                  <c:pt idx="10">
                    <c:v>12:32</c:v>
                  </c:pt>
                  <c:pt idx="11">
                    <c:v>52</c:v>
                  </c:pt>
                  <c:pt idx="11">
                    <c:v>12:52</c:v>
                  </c:pt>
                  <c:pt idx="12">
                    <c:v>12</c:v>
                  </c:pt>
                  <c:pt idx="12">
                    <c:v>13:12</c:v>
                  </c:pt>
                  <c:pt idx="13">
                    <c:v>32</c:v>
                  </c:pt>
                  <c:pt idx="13">
                    <c:v>13:32</c:v>
                  </c:pt>
                  <c:pt idx="14">
                    <c:v>56</c:v>
                  </c:pt>
                  <c:pt idx="14">
                    <c:v>13:56</c:v>
                  </c:pt>
                  <c:pt idx="15">
                    <c:v>17</c:v>
                  </c:pt>
                  <c:pt idx="15">
                    <c:v>14:17</c:v>
                  </c:pt>
                  <c:pt idx="16">
                    <c:v>39</c:v>
                  </c:pt>
                  <c:pt idx="16">
                    <c:v>14:39</c:v>
                  </c:pt>
                  <c:pt idx="17">
                    <c:v>59</c:v>
                  </c:pt>
                  <c:pt idx="17">
                    <c:v>14:59</c:v>
                  </c:pt>
                </c:lvl>
                <c:lvl>
                  <c:pt idx="0">
                    <c:v>09</c:v>
                  </c:pt>
                  <c:pt idx="1">
                    <c:v>09</c:v>
                  </c:pt>
                  <c:pt idx="2">
                    <c:v>09</c:v>
                  </c:pt>
                  <c:pt idx="3">
                    <c:v>10</c:v>
                  </c:pt>
                  <c:pt idx="4">
                    <c:v>10</c:v>
                  </c:pt>
                  <c:pt idx="5">
                    <c:v>10</c:v>
                  </c:pt>
                  <c:pt idx="6">
                    <c:v>11</c:v>
                  </c:pt>
                  <c:pt idx="7">
                    <c:v>11</c:v>
                  </c:pt>
                  <c:pt idx="8">
                    <c:v>11</c:v>
                  </c:pt>
                  <c:pt idx="9">
                    <c:v>12</c:v>
                  </c:pt>
                  <c:pt idx="10">
                    <c:v>12</c:v>
                  </c:pt>
                  <c:pt idx="11">
                    <c:v>12</c:v>
                  </c:pt>
                  <c:pt idx="12">
                    <c:v>13</c:v>
                  </c:pt>
                  <c:pt idx="13">
                    <c:v>13</c:v>
                  </c:pt>
                  <c:pt idx="14">
                    <c:v>13</c:v>
                  </c:pt>
                  <c:pt idx="15">
                    <c:v>14</c:v>
                  </c:pt>
                  <c:pt idx="16">
                    <c:v>14</c:v>
                  </c:pt>
                  <c:pt idx="17">
                    <c:v>14</c:v>
                  </c:pt>
                </c:lvl>
              </c:multiLvlStrCache>
            </c:multiLvlStrRef>
          </c:cat>
          <c:val>
            <c:numRef>
              <c:f>Sheet1!$B$2:$B$19</c:f>
              <c:numCache>
                <c:ptCount val="18"/>
                <c:pt idx="0">
                  <c:v>2.000000</c:v>
                </c:pt>
                <c:pt idx="1">
                  <c:v>5.000000</c:v>
                </c:pt>
                <c:pt idx="2">
                  <c:v>5.000000</c:v>
                </c:pt>
                <c:pt idx="3">
                  <c:v>5.000000</c:v>
                </c:pt>
                <c:pt idx="4">
                  <c:v>5.000000</c:v>
                </c:pt>
                <c:pt idx="5">
                  <c:v>5.000000</c:v>
                </c:pt>
                <c:pt idx="6">
                  <c:v>5.000000</c:v>
                </c:pt>
                <c:pt idx="7">
                  <c:v>5.000000</c:v>
                </c:pt>
                <c:pt idx="8">
                  <c:v>5.000000</c:v>
                </c:pt>
                <c:pt idx="9">
                  <c:v>5.000000</c:v>
                </c:pt>
                <c:pt idx="10">
                  <c:v>5.000000</c:v>
                </c:pt>
                <c:pt idx="11">
                  <c:v>5.000000</c:v>
                </c:pt>
                <c:pt idx="12">
                  <c:v>5.000000</c:v>
                </c:pt>
                <c:pt idx="13">
                  <c:v>5.000000</c:v>
                </c:pt>
                <c:pt idx="14">
                  <c:v>5.000000</c:v>
                </c:pt>
                <c:pt idx="15">
                  <c:v>2.000000</c:v>
                </c:pt>
                <c:pt idx="16">
                  <c:v>2.000000</c:v>
                </c:pt>
                <c:pt idx="17">
                  <c:v>2.000000</c:v>
                </c:pt>
              </c:numCache>
            </c:numRef>
          </c:val>
          <c:smooth val="0"/>
        </c:ser>
        <c:marker val="1"/>
        <c:axId val="2094734552"/>
        <c:axId val="2094734553"/>
      </c:lineChart>
      <c:catAx>
        <c:axId val="2094734552"/>
        <c:scaling>
          <c:orientation val="minMax"/>
        </c:scaling>
        <c:delete val="0"/>
        <c:axPos val="b"/>
        <c:numFmt formatCode="General" sourceLinked="0"/>
        <c:majorTickMark val="out"/>
        <c:minorTickMark val="none"/>
        <c:tickLblPos val="low"/>
        <c:spPr>
          <a:ln w="12700" cap="flat">
            <a:solidFill>
              <a:srgbClr val="EDE7F6"/>
            </a:solidFill>
            <a:prstDash val="solid"/>
            <a:miter lim="800000"/>
          </a:ln>
        </c:spPr>
        <c:txPr>
          <a:bodyPr rot="0"/>
          <a:lstStyle/>
          <a:p>
            <a:pPr>
              <a:defRPr b="0" i="0" strike="noStrike" sz="1000" u="none">
                <a:solidFill>
                  <a:srgbClr val="6B5B86"/>
                </a:solidFill>
                <a:latin typeface="Calibri"/>
              </a:defRPr>
            </a:pPr>
          </a:p>
        </c:txPr>
        <c:crossAx val="2094734553"/>
        <c:crosses val="autoZero"/>
        <c:auto val="1"/>
        <c:lblAlgn val="ctr"/>
        <c:noMultiLvlLbl val="1"/>
      </c:catAx>
      <c:valAx>
        <c:axId val="2094734553"/>
        <c:scaling>
          <c:orientation val="minMax"/>
          <c:max val="6"/>
          <c:min val="0"/>
        </c:scaling>
        <c:delete val="0"/>
        <c:axPos val="l"/>
        <c:majorGridlines>
          <c:spPr>
            <a:ln w="12700" cap="flat">
              <a:solidFill>
                <a:srgbClr val="EDE7F6"/>
              </a:solidFill>
              <a:prstDash val="solid"/>
              <a:miter lim="800000"/>
            </a:ln>
          </c:spPr>
        </c:majorGridlines>
        <c:numFmt formatCode="0" sourceLinked="0"/>
        <c:majorTickMark val="none"/>
        <c:minorTickMark val="none"/>
        <c:tickLblPos val="nextTo"/>
        <c:spPr>
          <a:ln w="12700" cap="flat">
            <a:noFill/>
            <a:prstDash val="solid"/>
            <a:miter lim="800000"/>
          </a:ln>
        </c:spPr>
        <c:txPr>
          <a:bodyPr rot="0"/>
          <a:lstStyle/>
          <a:p>
            <a:pPr>
              <a:defRPr b="0" i="0" strike="noStrike" sz="1000" u="none">
                <a:solidFill>
                  <a:srgbClr val="6B5B86"/>
                </a:solidFill>
                <a:latin typeface="Calibri"/>
              </a:defRPr>
            </a:pPr>
          </a:p>
        </c:txPr>
        <c:crossAx val="2094734552"/>
        <c:crosses val="autoZero"/>
        <c:crossBetween val="between"/>
        <c:majorUnit val="1"/>
        <c:minorUnit val="0.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8" name="Shape 48"/>
          <p:cNvSpPr/>
          <p:nvPr>
            <p:ph type="sldImg"/>
          </p:nvPr>
        </p:nvSpPr>
        <p:spPr>
          <a:xfrm>
            <a:off x="1143000" y="685800"/>
            <a:ext cx="4572000" cy="3429000"/>
          </a:xfrm>
          <a:prstGeom prst="rect">
            <a:avLst/>
          </a:prstGeom>
        </p:spPr>
        <p:txBody>
          <a:bodyPr/>
          <a:lstStyle/>
          <a:p>
            <a:pPr/>
          </a:p>
        </p:txBody>
      </p:sp>
      <p:sp>
        <p:nvSpPr>
          <p:cNvPr id="49" name="Shape 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3B2A4F"/>
        </a:solidFill>
        <a:latin typeface="+mj-lt"/>
        <a:ea typeface="+mj-ea"/>
        <a:cs typeface="+mj-cs"/>
        <a:sym typeface="Calibri"/>
      </a:defRPr>
    </a:lvl1pPr>
    <a:lvl2pPr indent="228600" latinLnBrk="0">
      <a:defRPr sz="1200">
        <a:solidFill>
          <a:srgbClr val="3B2A4F"/>
        </a:solidFill>
        <a:latin typeface="+mj-lt"/>
        <a:ea typeface="+mj-ea"/>
        <a:cs typeface="+mj-cs"/>
        <a:sym typeface="Calibri"/>
      </a:defRPr>
    </a:lvl2pPr>
    <a:lvl3pPr indent="457200" latinLnBrk="0">
      <a:defRPr sz="1200">
        <a:solidFill>
          <a:srgbClr val="3B2A4F"/>
        </a:solidFill>
        <a:latin typeface="+mj-lt"/>
        <a:ea typeface="+mj-ea"/>
        <a:cs typeface="+mj-cs"/>
        <a:sym typeface="Calibri"/>
      </a:defRPr>
    </a:lvl3pPr>
    <a:lvl4pPr indent="685800" latinLnBrk="0">
      <a:defRPr sz="1200">
        <a:solidFill>
          <a:srgbClr val="3B2A4F"/>
        </a:solidFill>
        <a:latin typeface="+mj-lt"/>
        <a:ea typeface="+mj-ea"/>
        <a:cs typeface="+mj-cs"/>
        <a:sym typeface="Calibri"/>
      </a:defRPr>
    </a:lvl4pPr>
    <a:lvl5pPr indent="914400" latinLnBrk="0">
      <a:defRPr sz="1200">
        <a:solidFill>
          <a:srgbClr val="3B2A4F"/>
        </a:solidFill>
        <a:latin typeface="+mj-lt"/>
        <a:ea typeface="+mj-ea"/>
        <a:cs typeface="+mj-cs"/>
        <a:sym typeface="Calibri"/>
      </a:defRPr>
    </a:lvl5pPr>
    <a:lvl6pPr indent="1143000" latinLnBrk="0">
      <a:defRPr sz="1200">
        <a:solidFill>
          <a:srgbClr val="3B2A4F"/>
        </a:solidFill>
        <a:latin typeface="+mj-lt"/>
        <a:ea typeface="+mj-ea"/>
        <a:cs typeface="+mj-cs"/>
        <a:sym typeface="Calibri"/>
      </a:defRPr>
    </a:lvl6pPr>
    <a:lvl7pPr indent="1371600" latinLnBrk="0">
      <a:defRPr sz="1200">
        <a:solidFill>
          <a:srgbClr val="3B2A4F"/>
        </a:solidFill>
        <a:latin typeface="+mj-lt"/>
        <a:ea typeface="+mj-ea"/>
        <a:cs typeface="+mj-cs"/>
        <a:sym typeface="Calibri"/>
      </a:defRPr>
    </a:lvl7pPr>
    <a:lvl8pPr indent="1600200" latinLnBrk="0">
      <a:defRPr sz="1200">
        <a:solidFill>
          <a:srgbClr val="3B2A4F"/>
        </a:solidFill>
        <a:latin typeface="+mj-lt"/>
        <a:ea typeface="+mj-ea"/>
        <a:cs typeface="+mj-cs"/>
        <a:sym typeface="Calibri"/>
      </a:defRPr>
    </a:lvl8pPr>
    <a:lvl9pPr indent="1828800" latinLnBrk="0">
      <a:defRPr sz="1200">
        <a:solidFill>
          <a:srgbClr val="3B2A4F"/>
        </a:solidFill>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 name="Shape 54"/>
          <p:cNvSpPr/>
          <p:nvPr>
            <p:ph type="sldImg"/>
          </p:nvPr>
        </p:nvSpPr>
        <p:spPr>
          <a:prstGeom prst="rect">
            <a:avLst/>
          </a:prstGeom>
        </p:spPr>
        <p:txBody>
          <a:bodyPr/>
          <a:lstStyle/>
          <a:p>
            <a:pPr/>
          </a:p>
        </p:txBody>
      </p:sp>
      <p:sp>
        <p:nvSpPr>
          <p:cNvPr id="55" name="Shape 55"/>
          <p:cNvSpPr/>
          <p:nvPr>
            <p:ph type="body" sz="quarter" idx="1"/>
          </p:nvPr>
        </p:nvSpPr>
        <p:spPr>
          <a:prstGeom prst="rect">
            <a:avLst/>
          </a:prstGeom>
        </p:spPr>
        <p:txBody>
          <a:bodyPr/>
          <a:lstStyle/>
          <a:p>
            <a:pPr/>
            <a:r>
              <a:t>Hello everyone, I'm Ridaa Mirza, enrollment number 24BCS10394, and this is my DevOps final project: StockSense.</a:t>
            </a:r>
          </a:p>
          <a:p>
            <a:pPr/>
          </a:p>
          <a:p>
            <a:pPr/>
            <a:r>
              <a:t>StockSense is a small warehouse inventory dashboard. The app itself is deliberately simple - the point of the project is everything around it. I took this one application from code on my laptop through testing, Docker images, a CI/CD pipeline with security gates, infrastructure as code for AWS, Kubernetes with Helm, monitoring with Prometheus and Grafana, GitOps with Argo CD, and finally a troubleshooting challenge where I broke it on purpose - and once by accident.</a:t>
            </a:r>
          </a:p>
          <a:p>
            <a:pPr/>
          </a:p>
          <a:p>
            <a:pPr/>
            <a:r>
              <a:t>The little box is Stocky, the project mascot - it'll pop up between sections.</a:t>
            </a:r>
          </a:p>
          <a:p>
            <a:pPr/>
          </a:p>
          <a:p>
            <a:pPr/>
            <a:r>
              <a:t>Everything you'll see was actually run: every screenshot comes from a real run on my machine, and all the code is in the repo github.com/Ridaa10394/devops-project.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Here's the plan for the talk, in nine stops.</a:t>
            </a:r>
          </a:p>
          <a:p>
            <a:pPr/>
          </a:p>
          <a:p>
            <a:pPr/>
            <a:r>
              <a:t>First, what the app does and its REST API. Then the architecture and the tools I used. Third, how it's tested and packaged into Docker images. Fourth, the CI/CD pipeline that runs on every push, and fifth, the DevSecOps security gate inside it - including the time it blocked my release.</a:t>
            </a:r>
          </a:p>
          <a:p>
            <a:pPr/>
          </a:p>
          <a:p>
            <a:pPr/>
            <a:r>
              <a:t>Sixth, running it on Kubernetes: raw manifests, a Helm chart, and autoscaling under real load. Seventh, the Terraform code for AWS. Eighth, monitoring with Prometheus and Grafana, and GitOps with Argo CD. And last, the seven troubleshooting scenarios, what I learned, how it maps to the rubric, and a live demo.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Shape 112"/>
          <p:cNvSpPr/>
          <p:nvPr>
            <p:ph type="sldImg"/>
          </p:nvPr>
        </p:nvSpPr>
        <p:spPr>
          <a:prstGeom prst="rect">
            <a:avLst/>
          </a:prstGeom>
        </p:spPr>
        <p:txBody>
          <a:bodyPr/>
          <a:lstStyle/>
          <a:p>
            <a:pPr/>
          </a:p>
        </p:txBody>
      </p:sp>
      <p:sp>
        <p:nvSpPr>
          <p:cNvPr id="113" name="Shape 113"/>
          <p:cNvSpPr/>
          <p:nvPr>
            <p:ph type="body" sz="quarter" idx="1"/>
          </p:nvPr>
        </p:nvSpPr>
        <p:spPr>
          <a:prstGeom prst="rect">
            <a:avLst/>
          </a:prstGeom>
        </p:spPr>
        <p:txBody>
          <a:bodyPr/>
          <a:lstStyle/>
          <a:p>
            <a:pPr/>
            <a:r>
              <a:t>Part one: the application itself - what it does, its API, the architecture, and the toolbox I used to build and run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StockSense is a warehouse inventory dashboard. I picked my own domain because the rubric says the DevOps layers can follow the reference TaskBoard project, but the application has to be our own.</a:t>
            </a:r>
          </a:p>
          <a:p>
            <a:pPr/>
          </a:p>
          <a:p>
            <a:pPr/>
            <a:r>
              <a:t>What it does: the top of the page shows live KPI cards - number of products, units on hand, how many are low or out of stock, and the total inventory value. You can search and filter items by SKU, name, category or supplier. You can add, edit and delete items, and there are quick minus and plus buttons to ship or restock one unit. There's a "Reorder soon" panel listing items that hit their reorder level, with a one-click restock.</a:t>
            </a:r>
          </a:p>
          <a:p>
            <a:pPr/>
          </a:p>
          <a:p>
            <a:pPr/>
            <a:r>
              <a:t>Every item gets a computed status: IN_STOCK, LOW_STOCK when the quantity is at or below its reorder level, or OUT_OF_STOCK. The screenshot on the right is the real app running with Docker Compose. The UI is also responsive - it works at phone width.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The backend is FastAPI, and it exposes ten endpoints. FastAPI generates the Swagger UI at /docs automatically - that's the screenshot on the right.</a:t>
            </a:r>
          </a:p>
          <a:p>
            <a:pPr/>
          </a:p>
          <a:p>
            <a:pPr/>
            <a:r>
              <a:t>Three are for operations: /health is the liveness check - it only says the process is up and deliberately doesn't touch the database. /ready is the readiness check - it runs SELECT 1 against Postgres and returns 503 if the database is down. /metrics is for Prometheus.</a:t>
            </a:r>
          </a:p>
          <a:p>
            <a:pPr/>
          </a:p>
          <a:p>
            <a:pPr/>
            <a:r>
              <a:t>The rest is the inventory API: list items with search and filters, get one item (404 if it doesn't exist), create (409 if the SKU is a duplicate, 422 on bad input), partial update with PUT, adjust - which takes a delta, minus three to ship, plus ten to restock, and refuses to go negative - delete, which returns 204, and stats, which feeds the KPI cards.</a:t>
            </a:r>
          </a:p>
          <a:p>
            <a:pPr/>
          </a:p>
          <a:p>
            <a:pPr/>
            <a:r>
              <a:t>So the rubric's "at least four REST endpoints with GET, POST, PUT and DELETE" is covered with room to spare.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This is the whole system on one slide.</a:t>
            </a:r>
          </a:p>
          <a:p>
            <a:pPr/>
          </a:p>
          <a:p>
            <a:pPr/>
            <a:r>
              <a:t>Top row is the delivery path: I push code from my laptop to GitHub. GitHub Actions runs a nine-stage pipeline - tests, security scans, image builds - and if everything passes on main, it pushes the images to the GitHub Container Registry, tagged with the git commit SHA, never "latest".</a:t>
            </a:r>
          </a:p>
          <a:p>
            <a:pPr/>
          </a:p>
          <a:p>
            <a:pPr/>
            <a:r>
              <a:t>The dashed box is the Kubernetes cluster - minikube on my laptop, and EKS on AWS in production. Traffic comes in through the nginx Ingress: slash goes to the frontend pods (React served by nginx), and /api goes to the backend pods (FastAPI). The backend has a Horizontal Pod Autoscaler that scales it between 2 and 5 pods. Data lives in PostgreSQL, running as a StatefulSet with a persistent volume.</a:t>
            </a:r>
          </a:p>
          <a:p>
            <a:pPr/>
          </a:p>
          <a:p>
            <a:pPr/>
            <a:r>
              <a:t>Prometheus scrapes the backend's /metrics endpoint and Grafana visualises it.</a:t>
            </a:r>
          </a:p>
          <a:p>
            <a:pPr/>
          </a:p>
          <a:p>
            <a:pPr/>
            <a:r>
              <a:t>On the right: Terraform creates the AWS infrastructure - a VPC and an EKS cluster. And Argo CD does GitOps: instead of the pipeline pushing into the cluster, Argo CD pulls the Helm chart from GitHub and keeps the cluster matching what's in Git.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These are the tools I used, roughly in the order the code meets them.</a:t>
            </a:r>
          </a:p>
          <a:p>
            <a:pPr/>
          </a:p>
          <a:p>
            <a:pPr/>
            <a:r>
              <a:t>React 19 with Vite for the frontend, FastAPI for the backend, PostgreSQL 16 with Alembic migrations for the database. pytest and ruff for tests and linting, with an 80% coverage gate.</a:t>
            </a:r>
          </a:p>
          <a:p>
            <a:pPr/>
          </a:p>
          <a:p>
            <a:pPr/>
            <a:r>
              <a:t>Docker with multi-stage builds and non-root users. GitHub Actions for CI/CD, pushing to the GitHub Container Registry. For security: Trivy for image, filesystem and infrastructure-as-code scans, plus bandit for Python code, pip-audit and npm audit for dependencies, and gitleaks for secrets.</a:t>
            </a:r>
          </a:p>
          <a:p>
            <a:pPr/>
          </a:p>
          <a:p>
            <a:pPr/>
            <a:r>
              <a:t>Kubernetes - minikube locally, EKS on AWS. Helm to package it as one chart with dev and prod values. Terraform for the AWS infrastructure. Prometheus and Grafana for monitoring. And Argo CD for GitOps with self-healing.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hape 315"/>
          <p:cNvSpPr/>
          <p:nvPr>
            <p:ph type="sldImg"/>
          </p:nvPr>
        </p:nvSpPr>
        <p:spPr>
          <a:prstGeom prst="rect">
            <a:avLst/>
          </a:prstGeom>
        </p:spPr>
        <p:txBody>
          <a:bodyPr/>
          <a:lstStyle/>
          <a:p>
            <a:pPr/>
          </a:p>
        </p:txBody>
      </p:sp>
      <p:sp>
        <p:nvSpPr>
          <p:cNvPr id="316" name="Shape 316"/>
          <p:cNvSpPr/>
          <p:nvPr>
            <p:ph type="body" sz="quarter" idx="1"/>
          </p:nvPr>
        </p:nvSpPr>
        <p:spPr>
          <a:prstGeom prst="rect">
            <a:avLst/>
          </a:prstGeom>
        </p:spPr>
        <p:txBody>
          <a:bodyPr/>
          <a:lstStyle/>
          <a:p>
            <a:pPr/>
            <a:r>
              <a:t>Part two: how the code gets from my editor to a trusted image - tests, Docker images, the pipeline and the security gate.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hape 335"/>
          <p:cNvSpPr/>
          <p:nvPr>
            <p:ph type="sldImg"/>
          </p:nvPr>
        </p:nvSpPr>
        <p:spPr>
          <a:prstGeom prst="rect">
            <a:avLst/>
          </a:prstGeom>
        </p:spPr>
        <p:txBody>
          <a:bodyPr/>
          <a:lstStyle/>
          <a:p>
            <a:pPr/>
          </a:p>
        </p:txBody>
      </p:sp>
      <p:sp>
        <p:nvSpPr>
          <p:cNvPr id="336" name="Shape 336"/>
          <p:cNvSpPr/>
          <p:nvPr>
            <p:ph type="body" sz="quarter" idx="1"/>
          </p:nvPr>
        </p:nvSpPr>
        <p:spPr>
          <a:prstGeom prst="rect">
            <a:avLst/>
          </a:prstGeom>
        </p:spPr>
        <p:txBody>
          <a:bodyPr/>
          <a:lstStyle/>
          <a:p>
            <a:pPr/>
            <a:r>
              <a:t>Testing is the first quality gate - nothing gets built into an image unless the tests pass.</a:t>
            </a:r>
          </a:p>
          <a:p>
            <a:pPr/>
          </a:p>
          <a:p>
            <a:pPr/>
            <a:r>
              <a:t>I have 19 pytest tests covering health, readiness, every CRUD endpoint, validation errors, duplicate SKUs, the adjust endpoint refusing to go negative, and the stats endpoint. Coverage is 97.7%, and the pipeline fails if it ever drops below 80%. ruff, the linter, reports zero issues.</a:t>
            </a:r>
          </a:p>
          <a:p>
            <a:pPr/>
          </a:p>
          <a:p>
            <a:pPr/>
            <a:r>
              <a:t>The tests normally run against SQLite so they're fast, but I also ran the whole suite against a real throwaway PostgreSQL container, and in CI they run against a Postgres service container - so I know the SQL works on the real database.</a:t>
            </a:r>
          </a:p>
          <a:p>
            <a:pPr/>
          </a:p>
          <a:p>
            <a:pPr/>
            <a:r>
              <a:t>The schema is managed by Alembic: migration one creates the items table, migration two seeds demo data. On the right is the real terminal output of ruff and pytest.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r>
              <a:t>Both images are small and run as non-root users.</a:t>
            </a:r>
          </a:p>
          <a:p>
            <a:pPr/>
          </a:p>
          <a:p>
            <a:pPr/>
            <a:r>
              <a:t>The backend image has two stages: the first builds a Python virtual environment, the second copies just that venv into a clean python 3.12 slim image. I also uninstalled pip from the runtime image - the security scan found high-severity CVEs inside pip's own vendored libraries, and the app never needs pip at runtime anyway. It runs as user 10001. The entrypoint waits for the database, runs the Alembic migrations, and then starts uvicorn.</a:t>
            </a:r>
          </a:p>
          <a:p>
            <a:pPr/>
          </a:p>
          <a:p>
            <a:pPr/>
            <a:r>
              <a:t>The frontend is a classic multi-stage build: a Node stage runs npm ci and builds the React app, then only the built dist folder is copied into nginx-unprivileged, which runs as user 101. apk upgrade patches the Alpine base image.</a:t>
            </a:r>
          </a:p>
          <a:p>
            <a:pPr/>
          </a:p>
          <a:p>
            <a:pPr/>
            <a:r>
              <a:t>For local development, Docker Compose starts all three containers, and each one waits until the one before it passes its health check.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This is the GitHub Actions pipeline. It runs on every push and pull request to main.</a:t>
            </a:r>
          </a:p>
          <a:p>
            <a:pPr/>
          </a:p>
          <a:p>
            <a:pPr/>
            <a:r>
              <a:t>Stage one runs in parallel: backend lint and tests against a Postgres service with the 80% coverage gate, the frontend build, and infrastructure checks - helm lint, kustomize, and terraform fmt and validate.</a:t>
            </a:r>
          </a:p>
          <a:p>
            <a:pPr/>
          </a:p>
          <a:p>
            <a:pPr/>
            <a:r>
              <a:t>Then the security stages. Two is SAST - bandit reads the Python source looking for insecure code. Three is SCA - software composition analysis - pip-audit, npm audit and trivy fs check the dependencies for known CVEs. Four is gitleaks, scanning for committed secrets.</a:t>
            </a:r>
          </a:p>
          <a:p>
            <a:pPr/>
          </a:p>
          <a:p>
            <a:pPr/>
            <a:r>
              <a:t>Five builds both Docker images. Six scans those images with Trivy. Seven is the security gate: one Python script with one policy file reads every report and decides whether the release is allowed. Every scanner only reports; the gate decides.</a:t>
            </a:r>
          </a:p>
          <a:p>
            <a:pPr/>
          </a:p>
          <a:p>
            <a:pPr/>
            <a:r>
              <a:t>Only on pushes to main: eight pushes the exact images that were scanned to GHCR, tagged with the commit SHA. And nine deploys them to a throwaway kind cluster inside the runner, runs helm install and helm test, and smoke-tests with curl.</a:t>
            </a:r>
          </a:p>
          <a:p>
            <a:pPr/>
          </a:p>
          <a:p>
            <a:pPr/>
            <a:r>
              <a:t>Three design choices worth pointing out, along the bottom: images are built once and that same tarball is scanned and pushed, so what was scanned is exactly what ships. SHA tags only, never latest. And the owner name is lower-cased, because GHCR rejects upper-case image names - the reference project's workflow would actually fail on that.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2" name="Shape 432"/>
          <p:cNvSpPr/>
          <p:nvPr>
            <p:ph type="sldImg"/>
          </p:nvPr>
        </p:nvSpPr>
        <p:spPr>
          <a:prstGeom prst="rect">
            <a:avLst/>
          </a:prstGeom>
        </p:spPr>
        <p:txBody>
          <a:bodyPr/>
          <a:lstStyle/>
          <a:p>
            <a:pPr/>
          </a:p>
        </p:txBody>
      </p:sp>
      <p:sp>
        <p:nvSpPr>
          <p:cNvPr id="433" name="Shape 433"/>
          <p:cNvSpPr/>
          <p:nvPr>
            <p:ph type="body" sz="quarter" idx="1"/>
          </p:nvPr>
        </p:nvSpPr>
        <p:spPr>
          <a:prstGeom prst="rect">
            <a:avLst/>
          </a:prstGeom>
        </p:spPr>
        <p:txBody>
          <a:bodyPr/>
          <a:lstStyle/>
          <a:p>
            <a:pPr/>
            <a:r>
              <a:t>My favourite moment of the project: the first time I ran the pipeline, the security gate blocked the release.</a:t>
            </a:r>
          </a:p>
          <a:p>
            <a:pPr/>
          </a:p>
          <a:p>
            <a:pPr/>
            <a:r>
              <a:t>The screenshot is the real output. SAST, the dependency audits and the secret scan all passed, but Trivy found fixable high-severity CVEs in both images: 4 in the backend - and they weren't even in my dependencies, they were inside pip's own vendored libraries, urllib3, msgpack and setuptools - and 42 in the frontend, from outdated Alpine packages in the nginx base image.</a:t>
            </a:r>
          </a:p>
          <a:p>
            <a:pPr/>
          </a:p>
          <a:p>
            <a:pPr/>
            <a:r>
              <a:t>I fixed them at the source rather than suppressing them: the backend runtime image doesn't need pip, so I removed it, and the frontend runtime stage now runs apk upgrade.</a:t>
            </a:r>
          </a:p>
          <a:p>
            <a:pPr/>
          </a:p>
          <a:p>
            <a:pPr/>
            <a:r>
              <a:t>On the second run the gate passed: zero fixable high or critical findings, and everything else clean.</a:t>
            </a:r>
          </a:p>
          <a:p>
            <a:pPr/>
          </a:p>
          <a:p>
            <a:pPr/>
            <a:r>
              <a:t>The lesson: scanners find problems in code you didn't write, and the best fix is often to remove what you don't need at runtime. And the gate design - one policy file, every scanner only reporting, and a missing report counts as a failure - means a scan that silently didn't run can't let a release through.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440"/>
          <p:cNvSpPr/>
          <p:nvPr>
            <p:ph type="sldImg"/>
          </p:nvPr>
        </p:nvSpPr>
        <p:spPr>
          <a:prstGeom prst="rect">
            <a:avLst/>
          </a:prstGeom>
        </p:spPr>
        <p:txBody>
          <a:bodyPr/>
          <a:lstStyle/>
          <a:p>
            <a:pPr/>
          </a:p>
        </p:txBody>
      </p:sp>
      <p:sp>
        <p:nvSpPr>
          <p:cNvPr id="441" name="Shape 441"/>
          <p:cNvSpPr/>
          <p:nvPr>
            <p:ph type="body" sz="quarter" idx="1"/>
          </p:nvPr>
        </p:nvSpPr>
        <p:spPr>
          <a:prstGeom prst="rect">
            <a:avLst/>
          </a:prstGeom>
        </p:spPr>
        <p:txBody>
          <a:bodyPr/>
          <a:lstStyle/>
          <a:p>
            <a:pPr/>
            <a:r>
              <a:t>Part three: running StockSense on Kubernetes - the raw manifests, the Helm chart, autoscaling under real load, and the Terraform code for AWS.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Shape 488"/>
          <p:cNvSpPr/>
          <p:nvPr>
            <p:ph type="sldImg"/>
          </p:nvPr>
        </p:nvSpPr>
        <p:spPr>
          <a:prstGeom prst="rect">
            <a:avLst/>
          </a:prstGeom>
        </p:spPr>
        <p:txBody>
          <a:bodyPr/>
          <a:lstStyle/>
          <a:p>
            <a:pPr/>
          </a:p>
        </p:txBody>
      </p:sp>
      <p:sp>
        <p:nvSpPr>
          <p:cNvPr id="489" name="Shape 489"/>
          <p:cNvSpPr/>
          <p:nvPr>
            <p:ph type="body" sz="quarter" idx="1"/>
          </p:nvPr>
        </p:nvSpPr>
        <p:spPr>
          <a:prstGeom prst="rect">
            <a:avLst/>
          </a:prstGeom>
        </p:spPr>
        <p:txBody>
          <a:bodyPr/>
          <a:lstStyle/>
          <a:p>
            <a:pPr/>
            <a:r>
              <a:t>Before Helm, I wrote plain Kubernetes manifests so I understood every object. Everything the rubric asks for is here.</a:t>
            </a:r>
          </a:p>
          <a:p>
            <a:pPr/>
          </a:p>
          <a:p>
            <a:pPr/>
            <a:r>
              <a:t>A namespace, final-app. A ConfigMap with non-secret settings like the database host and port, and a Secret with the database user and password - a fake, dev-only value; production uses an existing Secret that never touches Git. PostgreSQL runs as a StatefulSet with a 1 gigabyte persistent volume claim, so the data survives pod restarts. The backend and frontend are Deployments with two replicas each, behind ClusterIP Services. The Ingress routes slash to the frontend and /api to the backend. And there's an HPA for autoscaling.</a:t>
            </a:r>
          </a:p>
          <a:p>
            <a:pPr/>
          </a:p>
          <a:p>
            <a:pPr/>
            <a:r>
              <a:t>Each backend pod has three probes: a startup probe so slow starts aren't killed, a readiness probe that checks the database, and a liveness probe that doesn't - so a database outage takes pods out of rotation instead of restarting all of them for nothing.</a:t>
            </a:r>
          </a:p>
          <a:p>
            <a:pPr/>
          </a:p>
          <a:p>
            <a:pPr/>
            <a:r>
              <a:t>Every pod is locked down: non-root, read-only root filesystem, all Linux capabilities dropped, and the default seccomp profile. The screenshot is the app served through the Ingress on minikube.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3" name="Shape 523"/>
          <p:cNvSpPr/>
          <p:nvPr>
            <p:ph type="sldImg"/>
          </p:nvPr>
        </p:nvSpPr>
        <p:spPr>
          <a:prstGeom prst="rect">
            <a:avLst/>
          </a:prstGeom>
        </p:spPr>
        <p:txBody>
          <a:bodyPr/>
          <a:lstStyle/>
          <a:p>
            <a:pPr/>
          </a:p>
        </p:txBody>
      </p:sp>
      <p:sp>
        <p:nvSpPr>
          <p:cNvPr id="524" name="Shape 524"/>
          <p:cNvSpPr/>
          <p:nvPr>
            <p:ph type="body" sz="quarter" idx="1"/>
          </p:nvPr>
        </p:nvSpPr>
        <p:spPr>
          <a:prstGeom prst="rect">
            <a:avLst/>
          </a:prstGeom>
        </p:spPr>
        <p:txBody>
          <a:bodyPr/>
          <a:lstStyle/>
          <a:p>
            <a:pPr/>
            <a:r>
              <a:t>Then I packaged everything as one Helm chart, helm/stocksense.</a:t>
            </a:r>
          </a:p>
          <a:p>
            <a:pPr/>
          </a:p>
          <a:p>
            <a:pPr/>
            <a:r>
              <a:t>There are three values files: values.yaml with the defaults and the GHCR images, values-dev.yaml for minikube, and values-prod.yaml for EKS - which uses an existing Secret instead of one in Git, the gp3 storage class, and TLS on the Ingress.</a:t>
            </a:r>
          </a:p>
          <a:p>
            <a:pPr/>
          </a:p>
          <a:p>
            <a:pPr/>
            <a:r>
              <a:t>The lifecycle I tested: helm install, then helm test, then an upgrade and a rollback. helm test runs a pod inside the cluster that checks health, readiness, the API, the /metrics endpoint, the frontend, and the frontend's /api proxy - the screenshot on the right is that passing.</a:t>
            </a:r>
          </a:p>
          <a:p>
            <a:pPr/>
          </a:p>
          <a:p>
            <a:pPr/>
            <a:r>
              <a:t>A checksum annotation on the pods means that when the config changes, Helm rolls the pods automatically - the upgrade and rollback both did that. And the chart also ships the monitoring pieces: the ServiceMonitor, the alert rules and the Grafana dashboard.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9" name="Shape 539"/>
          <p:cNvSpPr/>
          <p:nvPr>
            <p:ph type="sldImg"/>
          </p:nvPr>
        </p:nvSpPr>
        <p:spPr>
          <a:prstGeom prst="rect">
            <a:avLst/>
          </a:prstGeom>
        </p:spPr>
        <p:txBody>
          <a:bodyPr/>
          <a:lstStyle/>
          <a:p>
            <a:pPr/>
          </a:p>
        </p:txBody>
      </p:sp>
      <p:sp>
        <p:nvSpPr>
          <p:cNvPr id="540" name="Shape 540"/>
          <p:cNvSpPr/>
          <p:nvPr>
            <p:ph type="body" sz="quarter" idx="1"/>
          </p:nvPr>
        </p:nvSpPr>
        <p:spPr>
          <a:prstGeom prst="rect">
            <a:avLst/>
          </a:prstGeom>
        </p:spPr>
        <p:txBody>
          <a:bodyPr/>
          <a:lstStyle/>
          <a:p>
            <a:pPr/>
            <a:r>
              <a:t>This chart is real data from the load test. scripts/load-test.sh starts a curl pod inside the cluster with 8 workers hammering the stats endpoint for four minutes - about 73 thousand requests.</a:t>
            </a:r>
          </a:p>
          <a:p>
            <a:pPr/>
          </a:p>
          <a:p>
            <a:pPr/>
            <a:r>
              <a:t>The top chart, in pink, is the backend's CPU usage as a percentage of its CPU request; the HPA target is 60%. As soon as the load starts, CPU jumps to 203% and the HPA scales the backend from 2 pods straight to its maximum of 5 - that's the purple line in the bottom chart. CPU peaks at 330% of the request.</a:t>
            </a:r>
          </a:p>
          <a:p>
            <a:pPr/>
          </a:p>
          <a:p>
            <a:pPr/>
            <a:r>
              <a:t>When the load stops, CPU drops to almost nothing, but the pods don't disappear immediately: the HPA waits out its scale-down stabilisation window, then goes back to 2.</a:t>
            </a:r>
          </a:p>
          <a:p>
            <a:pPr/>
          </a:p>
          <a:p>
            <a:pPr/>
            <a:r>
              <a:t>One gotcha I hit, and it's troubleshooting scenario 6: the HPA measures utilisation as a percentage of the CPU request, so if a pod has no request, the HPA shows unknown and never scales.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9" name="Shape 579"/>
          <p:cNvSpPr/>
          <p:nvPr>
            <p:ph type="sldImg"/>
          </p:nvPr>
        </p:nvSpPr>
        <p:spPr>
          <a:prstGeom prst="rect">
            <a:avLst/>
          </a:prstGeom>
        </p:spPr>
        <p:txBody>
          <a:bodyPr/>
          <a:lstStyle/>
          <a:p>
            <a:pPr/>
          </a:p>
        </p:txBody>
      </p:sp>
      <p:sp>
        <p:nvSpPr>
          <p:cNvPr id="580" name="Shape 580"/>
          <p:cNvSpPr/>
          <p:nvPr>
            <p:ph type="body" sz="quarter" idx="1"/>
          </p:nvPr>
        </p:nvSpPr>
        <p:spPr>
          <a:prstGeom prst="rect">
            <a:avLst/>
          </a:prstGeom>
        </p:spPr>
        <p:txBody>
          <a:bodyPr/>
          <a:lstStyle/>
          <a:p>
            <a:pPr/>
            <a:r>
              <a:t>The production environment is defined in Terraform, using the official community modules for the VPC and EKS.</a:t>
            </a:r>
          </a:p>
          <a:p>
            <a:pPr/>
          </a:p>
          <a:p>
            <a:pPr/>
            <a:r>
              <a:t>The VPC is 10.42.0.0/16 across two availability zones, each with a public and a private subnet. There's an internet gateway, and a single NAT gateway to keep the cost down. The EKS cluster runs in the private subnets with a managed node group of t3.medium instances - minimum 1, desired 2, maximum 3, using spot instances in dev.</a:t>
            </a:r>
          </a:p>
          <a:p>
            <a:pPr/>
          </a:p>
          <a:p>
            <a:pPr/>
            <a:r>
              <a:t>Security-wise, the cluster admin CIDR has no default and rejects 0.0.0.0/0 - Trivy's config scan flagged an open API endpoint, so I fixed it. The tfvars example is committed; the real tfvars, state and .terraform folder are gitignored, and an S3 remote backend block is ready.</a:t>
            </a:r>
          </a:p>
          <a:p>
            <a:pPr/>
          </a:p>
          <a:p>
            <a:pPr/>
            <a:r>
              <a:t>init, fmt and validate all pass, and the same checks run in the pipeline on every push. To create the infrastructure you run terraform plan, apply and destroy against an AWS account. It takes about 15 minutes, and costs roughly 15 cents an hour while the cluster exists, so it gets destroyed right after use.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Shape 587"/>
          <p:cNvSpPr/>
          <p:nvPr>
            <p:ph type="sldImg"/>
          </p:nvPr>
        </p:nvSpPr>
        <p:spPr>
          <a:prstGeom prst="rect">
            <a:avLst/>
          </a:prstGeom>
        </p:spPr>
        <p:txBody>
          <a:bodyPr/>
          <a:lstStyle/>
          <a:p>
            <a:pPr/>
          </a:p>
        </p:txBody>
      </p:sp>
      <p:sp>
        <p:nvSpPr>
          <p:cNvPr id="588" name="Shape 588"/>
          <p:cNvSpPr/>
          <p:nvPr>
            <p:ph type="body" sz="quarter" idx="1"/>
          </p:nvPr>
        </p:nvSpPr>
        <p:spPr>
          <a:prstGeom prst="rect">
            <a:avLst/>
          </a:prstGeom>
        </p:spPr>
        <p:txBody>
          <a:bodyPr/>
          <a:lstStyle/>
          <a:p>
            <a:pPr/>
            <a:r>
              <a:t>Part four: operating it - watching it with monitoring, healing it with GitOps, and fixing it when things break.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6" name="Shape 606"/>
          <p:cNvSpPr/>
          <p:nvPr>
            <p:ph type="sldImg"/>
          </p:nvPr>
        </p:nvSpPr>
        <p:spPr>
          <a:prstGeom prst="rect">
            <a:avLst/>
          </a:prstGeom>
        </p:spPr>
        <p:txBody>
          <a:bodyPr/>
          <a:lstStyle/>
          <a:p>
            <a:pPr/>
          </a:p>
        </p:txBody>
      </p:sp>
      <p:sp>
        <p:nvSpPr>
          <p:cNvPr id="607" name="Shape 607"/>
          <p:cNvSpPr/>
          <p:nvPr>
            <p:ph type="body" sz="quarter" idx="1"/>
          </p:nvPr>
        </p:nvSpPr>
        <p:spPr>
          <a:prstGeom prst="rect">
            <a:avLst/>
          </a:prstGeom>
        </p:spPr>
        <p:txBody>
          <a:bodyPr/>
          <a:lstStyle/>
          <a:p>
            <a:pPr/>
            <a:r>
              <a:t>For monitoring I installed kube-prometheus-stack, and the app's Helm chart adds a ServiceMonitor so Prometheus discovers the backend pods automatically.</a:t>
            </a:r>
          </a:p>
          <a:p>
            <a:pPr/>
          </a:p>
          <a:p>
            <a:pPr/>
            <a:r>
              <a:t>During the load test the HPA had scaled to 5 pods, and Prometheus showed all 5 targets UP. The backend exposes standard HTTP metrics through prometheus-fastapi-instrumentator, plus two custom metrics of my own: inventory changes per minute and the number of low-stock items.</a:t>
            </a:r>
          </a:p>
          <a:p>
            <a:pPr/>
          </a:p>
          <a:p>
            <a:pPr/>
            <a:r>
              <a:t>On the right is my Grafana dashboard, "StockSense - Application Overview", with live data from the load test: requests per second by endpoint peaking around 420, responses by status class, the latency percentiles p50, p95 and p99, backend CPU per pod against its request, and the HPA replicas going 2 to 5 and back to 2. Five alert rules are loaded through a PrometheusRule.</a:t>
            </a:r>
          </a:p>
          <a:p>
            <a:pPr/>
          </a:p>
          <a:p>
            <a:pPr/>
            <a:r>
              <a:t>That covers the rubric's observability module: /metrics, Prometheus scraping the app, Grafana installed, and a panel with live application metrics.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3" name="Shape 643"/>
          <p:cNvSpPr/>
          <p:nvPr>
            <p:ph type="sldImg"/>
          </p:nvPr>
        </p:nvSpPr>
        <p:spPr>
          <a:prstGeom prst="rect">
            <a:avLst/>
          </a:prstGeom>
        </p:spPr>
        <p:txBody>
          <a:bodyPr/>
          <a:lstStyle/>
          <a:p>
            <a:pPr/>
          </a:p>
        </p:txBody>
      </p:sp>
      <p:sp>
        <p:nvSpPr>
          <p:cNvPr id="644" name="Shape 644"/>
          <p:cNvSpPr/>
          <p:nvPr>
            <p:ph type="body" sz="quarter" idx="1"/>
          </p:nvPr>
        </p:nvSpPr>
        <p:spPr>
          <a:prstGeom prst="rect">
            <a:avLst/>
          </a:prstGeom>
        </p:spPr>
        <p:txBody>
          <a:bodyPr/>
          <a:lstStyle/>
          <a:p>
            <a:pPr/>
            <a:r>
              <a:t>GitOps flips the direction of deployment. Instead of the pipeline pushing changes into the cluster, Argo CD runs inside the cluster, watches the Git repo, and pulls the desired state - so Git is the single source of truth.</a:t>
            </a:r>
          </a:p>
          <a:p>
            <a:pPr/>
          </a:p>
          <a:p>
            <a:pPr/>
            <a:r>
              <a:t>My Argo CD Application points at the Helm chart in this repo with automated sync, prune - resources removed from Git get removed from the cluster - and self-heal.</a:t>
            </a:r>
          </a:p>
          <a:p>
            <a:pPr/>
          </a:p>
          <a:p>
            <a:pPr/>
            <a:r>
              <a:t>To prove self-heal, I scaled the Deployment to 5 replicas by hand with kubectl. Argo CD immediately saw the drift - the app went from Synced to OutOfSync - and about a second later it had put it back to the 2 replicas that Git says. That was the moment GitOps clicked for me.</a:t>
            </a:r>
          </a:p>
          <a:p>
            <a:pPr/>
          </a:p>
          <a:p>
            <a:pPr/>
            <a:r>
              <a:t>The screenshot is the real Argo CD application tree. For the live sync demo I pointed it at a Helm chart on GitHub, and the real StockSense Application in the gitops folder points at this repo's chart and syncs the same way. Promoting a new build is just changing the image tag in Git: pull request, merge, and Argo CD syncs.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0" name="Shape 690"/>
          <p:cNvSpPr/>
          <p:nvPr>
            <p:ph type="sldImg"/>
          </p:nvPr>
        </p:nvSpPr>
        <p:spPr>
          <a:prstGeom prst="rect">
            <a:avLst/>
          </a:prstGeom>
        </p:spPr>
        <p:txBody>
          <a:bodyPr/>
          <a:lstStyle/>
          <a:p>
            <a:pPr/>
          </a:p>
        </p:txBody>
      </p:sp>
      <p:sp>
        <p:nvSpPr>
          <p:cNvPr id="691" name="Shape 691"/>
          <p:cNvSpPr/>
          <p:nvPr>
            <p:ph type="body" sz="quarter" idx="1"/>
          </p:nvPr>
        </p:nvSpPr>
        <p:spPr>
          <a:prstGeom prst="rect">
            <a:avLst/>
          </a:prstGeom>
        </p:spPr>
        <p:txBody>
          <a:bodyPr/>
          <a:lstStyle/>
          <a:p>
            <a:pPr/>
            <a:r>
              <a:t>For the troubleshooting challenge I broke the deployed project on purpose, six times, and once it broke by itself. For each one I identified the symptom, investigated with kubectl, found the root cause, fixed it, and verified - all with before and after outputs in troubleshooting/README.md.</a:t>
            </a:r>
          </a:p>
          <a:p>
            <a:pPr/>
          </a:p>
          <a:p>
            <a:pPr/>
            <a:r>
              <a:t>1. A backend image tag that was never built: the new pods went into ImagePullBackOff, but because the Deployment uses maxUnavailable zero, the old pods kept serving. Fix: rollout undo and the right tag.</a:t>
            </a:r>
          </a:p>
          <a:p>
            <a:pPr/>
            <a:r>
              <a:t>2. A typo in the frontend Service selector: 503 on the homepage, because the Service had no endpoints. Fix the label.</a:t>
            </a:r>
          </a:p>
          <a:p>
            <a:pPr/>
            <a:r>
              <a:t>3. I changed the database password in the Secret: new pods got stuck in their init container with "password authentication failed", because the Secret no longer matched the password stored in Postgres. Restore the Secret and restart.</a:t>
            </a:r>
          </a:p>
          <a:p>
            <a:pPr/>
            <a:r>
              <a:t>4. A renamed ConfigMap key: CreateContainerConfigError, because a configMapKeyRef pointed at a key that didn't exist.</a:t>
            </a:r>
          </a:p>
          <a:p>
            <a:pPr/>
            <a:r>
              <a:t>5. The Ingress pointing /api at port 8080: 503 on /api, because the Service only exposes 8000 - this was actually a bug in the reference project.</a:t>
            </a:r>
          </a:p>
          <a:p>
            <a:pPr/>
            <a:r>
              <a:t>6. Removing the backend's resource requests: the HPA shows unknown and "missing request for cpu", because utilisation is a percentage of the request.</a:t>
            </a:r>
          </a:p>
          <a:p>
            <a:pPr/>
            <a:r>
              <a:t>7. And the real one: Grafana got stuck in a restart loop because its liveness probe was shorter than its real startup time, and later, without a CPU limit, it stalled the whole shared API server for about two minutes. Fixed with a longer probe delay and a CPU limit.</a:t>
            </a:r>
          </a:p>
          <a:p>
            <a:pPr/>
          </a:p>
          <a:p>
            <a:pPr/>
            <a:r>
              <a:t>The common thread: the symptom is never where the problem 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9" name="Shape 719"/>
          <p:cNvSpPr/>
          <p:nvPr>
            <p:ph type="sldImg"/>
          </p:nvPr>
        </p:nvSpPr>
        <p:spPr>
          <a:prstGeom prst="rect">
            <a:avLst/>
          </a:prstGeom>
        </p:spPr>
        <p:txBody>
          <a:bodyPr/>
          <a:lstStyle/>
          <a:p>
            <a:pPr/>
          </a:p>
        </p:txBody>
      </p:sp>
      <p:sp>
        <p:nvSpPr>
          <p:cNvPr id="720" name="Shape 720"/>
          <p:cNvSpPr/>
          <p:nvPr>
            <p:ph type="body" sz="quarter" idx="1"/>
          </p:nvPr>
        </p:nvSpPr>
        <p:spPr>
          <a:prstGeom prst="rect">
            <a:avLst/>
          </a:prstGeom>
        </p:spPr>
        <p:txBody>
          <a:bodyPr/>
          <a:lstStyle/>
          <a:p>
            <a:pPr/>
            <a:r>
              <a:t>Six things I'm taking away from this project.</a:t>
            </a:r>
          </a:p>
          <a:p>
            <a:pPr/>
          </a:p>
          <a:p>
            <a:pPr/>
            <a:r>
              <a:t>One: the symptom is never where the problem is. A 503 was a label typo. Unknown in the HPA was a missing resource request. A stuck rollout was a password. Events, endpoints and init-container logs found them, not the application logs.</a:t>
            </a:r>
          </a:p>
          <a:p>
            <a:pPr/>
          </a:p>
          <a:p>
            <a:pPr/>
            <a:r>
              <a:t>Two: liveness and readiness are different jobs. My readiness probe checks the database, my liveness probe doesn't - otherwise a single database blip would restart every backend pod for nothing.</a:t>
            </a:r>
          </a:p>
          <a:p>
            <a:pPr/>
          </a:p>
          <a:p>
            <a:pPr/>
            <a:r>
              <a:t>Three: maxUnavailable zero saved the app in three of the scenarios. The new pods were broken, but they never replaced the old working ones.</a:t>
            </a:r>
          </a:p>
          <a:p>
            <a:pPr/>
          </a:p>
          <a:p>
            <a:pPr/>
            <a:r>
              <a:t>Four: scanners find problems in code you didn't write. The high CVEs were inside pip and the nginx base image, not my own dependencies, and the best fix was removing what isn't needed at runtime.</a:t>
            </a:r>
          </a:p>
          <a:p>
            <a:pPr/>
          </a:p>
          <a:p>
            <a:pPr/>
            <a:r>
              <a:t>Five: limits protect your neighbours. One pod without a CPU limit stalled the API server for the whole cluster.</a:t>
            </a:r>
          </a:p>
          <a:p>
            <a:pPr/>
          </a:p>
          <a:p>
            <a:pPr/>
            <a:r>
              <a:t>Six: GitOps flips the direction. CI pushes images, the cluster pulls its config from Git, and self-heal reverting my manual change in a second made that click.</a:t>
            </a:r>
          </a:p>
          <a:p>
            <a:pPr/>
          </a:p>
          <a:p>
            <a:pPr/>
            <a:r>
              <a:t>And one more: reference code isn't automatically correct. The TaskBoard reference's Terraform didn't even parse, and its Ingress pointed at a Service that didn't exist. Running everything for real is the only way to know.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5" name="Shape 755"/>
          <p:cNvSpPr/>
          <p:nvPr>
            <p:ph type="sldImg"/>
          </p:nvPr>
        </p:nvSpPr>
        <p:spPr>
          <a:prstGeom prst="rect">
            <a:avLst/>
          </a:prstGeom>
        </p:spPr>
        <p:txBody>
          <a:bodyPr/>
          <a:lstStyle/>
          <a:p>
            <a:pPr/>
          </a:p>
        </p:txBody>
      </p:sp>
      <p:sp>
        <p:nvSpPr>
          <p:cNvPr id="756" name="Shape 756"/>
          <p:cNvSpPr/>
          <p:nvPr>
            <p:ph type="body" sz="quarter" idx="1"/>
          </p:nvPr>
        </p:nvSpPr>
        <p:spPr>
          <a:prstGeom prst="rect">
            <a:avLst/>
          </a:prstGeom>
        </p:spPr>
        <p:txBody>
          <a:bodyPr/>
          <a:lstStyle/>
          <a:p>
            <a:pPr/>
            <a:r>
              <a:t>Now the live demo - the rubric's "commit a change, watch the pipeline run, see the deployment update".</a:t>
            </a:r>
          </a:p>
          <a:p>
            <a:pPr/>
          </a:p>
          <a:p>
            <a:pPr/>
            <a:r>
              <a:t>Step one: I change a visible piece of text in the frontend, commit it, and push to main.</a:t>
            </a:r>
          </a:p>
          <a:p>
            <a:pPr/>
          </a:p>
          <a:p>
            <a:pPr/>
            <a:r>
              <a:t>Step two: in the GitHub Actions tab you'll see the run start. The build-and-test jobs run in parallel, then SAST, dependency scans, secret scan, image build, Trivy, and the security gate. This takes a few minutes, so I'll talk through the stages while it runs.</a:t>
            </a:r>
          </a:p>
          <a:p>
            <a:pPr/>
          </a:p>
          <a:p>
            <a:pPr/>
            <a:r>
              <a:t>Step three: when the gate passes, the pipeline pushes the new images to GHCR, tagged with the new commit SHA - I'll show the package page.</a:t>
            </a:r>
          </a:p>
          <a:p>
            <a:pPr/>
          </a:p>
          <a:p>
            <a:pPr/>
            <a:r>
              <a:t>Step four: the deployment updates. The pipeline's own deploy stage installs it into a kind cluster and runs helm test, and on my cluster I set the new SHA in Git, Argo CD syncs it, and when I refresh the browser the changed text appears.</a:t>
            </a:r>
          </a:p>
          <a:p>
            <a:pPr/>
          </a:p>
          <a:p>
            <a:pPr/>
            <a:r>
              <a:t>If the network is slow on the day, the README has the real output and screenshots of every one of these steps as a backup.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1" name="Shape 761"/>
          <p:cNvSpPr/>
          <p:nvPr>
            <p:ph type="sldImg"/>
          </p:nvPr>
        </p:nvSpPr>
        <p:spPr>
          <a:prstGeom prst="rect">
            <a:avLst/>
          </a:prstGeom>
        </p:spPr>
        <p:txBody>
          <a:bodyPr/>
          <a:lstStyle/>
          <a:p>
            <a:pPr/>
          </a:p>
        </p:txBody>
      </p:sp>
      <p:sp>
        <p:nvSpPr>
          <p:cNvPr id="762" name="Shape 762"/>
          <p:cNvSpPr/>
          <p:nvPr>
            <p:ph type="body" sz="quarter" idx="1"/>
          </p:nvPr>
        </p:nvSpPr>
        <p:spPr>
          <a:prstGeom prst="rect">
            <a:avLst/>
          </a:prstGeom>
        </p:spPr>
        <p:txBody>
          <a:bodyPr/>
          <a:lstStyle/>
          <a:p>
            <a:pPr/>
            <a:r>
              <a:t>That's StockSense: one small inventory app, tested, scanned, containerised, deployed with Helm, autoscaled, monitored, kept in sync with GitOps, and broken and fixed seven times along the way.</a:t>
            </a:r>
          </a:p>
          <a:p>
            <a:pPr/>
          </a:p>
          <a:p>
            <a:pPr/>
            <a:r>
              <a:t>Thank you for listening - I'm happy to take any questions. The code, the README and every output are in github.com/Ridaa10394/devops-project.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 Title">
    <p:bg>
      <p:bgPr>
        <a:solidFill>
          <a:srgbClr val="3B2A4F"/>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2191696" cy="6858000"/>
          </a:xfrm>
          <a:prstGeom prst="rect">
            <a:avLst/>
          </a:prstGeom>
          <a:ln w="12700">
            <a:miter lim="400000"/>
          </a:ln>
        </p:spPr>
      </p:pic>
      <p:sp>
        <p:nvSpPr>
          <p:cNvPr id="19" name="Body Level One…"/>
          <p:cNvSpPr txBox="1"/>
          <p:nvPr>
            <p:ph type="body" sz="quarter" idx="1" hasCustomPrompt="1"/>
          </p:nvPr>
        </p:nvSpPr>
        <p:spPr>
          <a:xfrm>
            <a:off x="731519" y="1417319"/>
            <a:ext cx="6217922" cy="457201"/>
          </a:xfrm>
          <a:prstGeom prst="rect">
            <a:avLst/>
          </a:prstGeom>
        </p:spPr>
        <p:txBody>
          <a:bodyPr>
            <a:normAutofit fontScale="100000" lnSpcReduction="0"/>
          </a:bodyPr>
          <a:lstStyle>
            <a:lvl1pPr marL="0" indent="0">
              <a:spcBef>
                <a:spcPts val="400"/>
              </a:spcBef>
              <a:buSzTx/>
              <a:buFontTx/>
              <a:buNone/>
              <a:defRPr b="1" sz="1800">
                <a:solidFill>
                  <a:schemeClr val="accent1"/>
                </a:solidFill>
              </a:defRPr>
            </a:lvl1pPr>
            <a:lvl2pPr marL="640896" indent="-183696">
              <a:spcBef>
                <a:spcPts val="400"/>
              </a:spcBef>
              <a:buFontTx/>
              <a:defRPr b="1" sz="1800">
                <a:solidFill>
                  <a:schemeClr val="accent1"/>
                </a:solidFill>
              </a:defRPr>
            </a:lvl2pPr>
            <a:lvl3pPr marL="1085850" indent="-171450">
              <a:spcBef>
                <a:spcPts val="400"/>
              </a:spcBef>
              <a:buFontTx/>
              <a:defRPr b="1" sz="1800">
                <a:solidFill>
                  <a:schemeClr val="accent1"/>
                </a:solidFill>
              </a:defRPr>
            </a:lvl3pPr>
            <a:lvl4pPr marL="1577339" indent="-205739">
              <a:spcBef>
                <a:spcPts val="400"/>
              </a:spcBef>
              <a:buFontTx/>
              <a:defRPr b="1" sz="1800">
                <a:solidFill>
                  <a:schemeClr val="accent1"/>
                </a:solidFill>
              </a:defRPr>
            </a:lvl4pPr>
            <a:lvl5pPr marL="2034539" indent="-205739">
              <a:spcBef>
                <a:spcPts val="400"/>
              </a:spcBef>
              <a:buFontTx/>
              <a:defRPr b="1" sz="1800">
                <a:solidFill>
                  <a:schemeClr val="accent1"/>
                </a:solidFill>
              </a:defRPr>
            </a:lvl5pPr>
          </a:lstStyle>
          <a:p>
            <a:pPr/>
            <a:r>
              <a:t>Click to add text</a:t>
            </a:r>
          </a:p>
          <a:p>
            <a:pPr lvl="1"/>
            <a:r>
              <a:t/>
            </a:r>
          </a:p>
          <a:p>
            <a:pPr lvl="2"/>
            <a:r>
              <a:t/>
            </a:r>
          </a:p>
          <a:p>
            <a:pPr lvl="3"/>
            <a:r>
              <a:t/>
            </a:r>
          </a:p>
          <a:p>
            <a:pPr lvl="4"/>
            <a:r>
              <a:t/>
            </a:r>
          </a:p>
        </p:txBody>
      </p:sp>
      <p:sp>
        <p:nvSpPr>
          <p:cNvPr id="20" name="Click to add title"/>
          <p:cNvSpPr txBox="1"/>
          <p:nvPr>
            <p:ph type="title" hasCustomPrompt="1"/>
          </p:nvPr>
        </p:nvSpPr>
        <p:spPr>
          <a:xfrm>
            <a:off x="731519" y="1920239"/>
            <a:ext cx="6583682" cy="1371601"/>
          </a:xfrm>
          <a:prstGeom prst="rect">
            <a:avLst/>
          </a:prstGeom>
        </p:spPr>
        <p:txBody>
          <a:bodyPr anchor="t">
            <a:normAutofit fontScale="100000" lnSpcReduction="0"/>
          </a:bodyPr>
          <a:lstStyle>
            <a:lvl1pPr algn="l">
              <a:defRPr b="1" sz="6600">
                <a:solidFill>
                  <a:srgbClr val="FFFFFF"/>
                </a:solidFill>
              </a:defRPr>
            </a:lvl1pPr>
          </a:lstStyle>
          <a:p>
            <a:pPr/>
            <a:r>
              <a:t>Click to add title</a:t>
            </a:r>
          </a:p>
        </p:txBody>
      </p:sp>
      <p:sp>
        <p:nvSpPr>
          <p:cNvPr id="21" name="Text 0"/>
          <p:cNvSpPr/>
          <p:nvPr>
            <p:ph type="body" sz="quarter" idx="21" hasCustomPrompt="1"/>
          </p:nvPr>
        </p:nvSpPr>
        <p:spPr>
          <a:xfrm>
            <a:off x="731519" y="3383279"/>
            <a:ext cx="6035042" cy="1097281"/>
          </a:xfrm>
          <a:prstGeom prst="rect">
            <a:avLst/>
          </a:prstGeom>
        </p:spPr>
        <p:txBody>
          <a:bodyPr>
            <a:normAutofit fontScale="100000" lnSpcReduction="0"/>
          </a:bodyPr>
          <a:lstStyle>
            <a:lvl1pPr marL="0" indent="0">
              <a:spcBef>
                <a:spcPts val="500"/>
              </a:spcBef>
              <a:buSzTx/>
              <a:buFontTx/>
              <a:buNone/>
              <a:defRPr sz="2200">
                <a:solidFill>
                  <a:schemeClr val="accent2"/>
                </a:solidFill>
              </a:defRPr>
            </a:lvl1pPr>
          </a:lstStyle>
          <a:p>
            <a:pPr/>
            <a:r>
              <a:t>Click to add text</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Divider">
    <p:bg>
      <p:bgPr>
        <a:solidFill>
          <a:srgbClr val="3B2A4F"/>
        </a:solidFill>
      </p:bgPr>
    </p:bg>
    <p:spTree>
      <p:nvGrpSpPr>
        <p:cNvPr id="1" name=""/>
        <p:cNvGrpSpPr/>
        <p:nvPr/>
      </p:nvGrpSpPr>
      <p:grpSpPr>
        <a:xfrm>
          <a:off x="0" y="0"/>
          <a:ext cx="0" cy="0"/>
          <a:chOff x="0" y="0"/>
          <a:chExt cx="0" cy="0"/>
        </a:xfrm>
      </p:grpSpPr>
      <p:pic>
        <p:nvPicPr>
          <p:cNvPr id="29" name="Image 0" descr="Image 0"/>
          <p:cNvPicPr>
            <a:picLocks noChangeAspect="1"/>
          </p:cNvPicPr>
          <p:nvPr/>
        </p:nvPicPr>
        <p:blipFill>
          <a:blip r:embed="rId2">
            <a:extLst/>
          </a:blip>
          <a:stretch>
            <a:fillRect/>
          </a:stretch>
        </p:blipFill>
        <p:spPr>
          <a:xfrm>
            <a:off x="0" y="0"/>
            <a:ext cx="12191696" cy="6858000"/>
          </a:xfrm>
          <a:prstGeom prst="rect">
            <a:avLst/>
          </a:prstGeom>
          <a:ln w="12700">
            <a:miter lim="400000"/>
          </a:ln>
        </p:spPr>
      </p:pic>
      <p:sp>
        <p:nvSpPr>
          <p:cNvPr id="30" name="Click to add title"/>
          <p:cNvSpPr txBox="1"/>
          <p:nvPr>
            <p:ph type="title" hasCustomPrompt="1"/>
          </p:nvPr>
        </p:nvSpPr>
        <p:spPr>
          <a:xfrm>
            <a:off x="731519" y="2788920"/>
            <a:ext cx="7680961" cy="1097281"/>
          </a:xfrm>
          <a:prstGeom prst="rect">
            <a:avLst/>
          </a:prstGeom>
        </p:spPr>
        <p:txBody>
          <a:bodyPr anchor="t">
            <a:normAutofit fontScale="100000" lnSpcReduction="0"/>
          </a:bodyPr>
          <a:lstStyle>
            <a:lvl1pPr algn="l">
              <a:defRPr b="1" sz="4800">
                <a:solidFill>
                  <a:srgbClr val="FFFFFF"/>
                </a:solidFill>
              </a:defRPr>
            </a:lvl1pPr>
          </a:lstStyle>
          <a:p>
            <a:pPr/>
            <a:r>
              <a:t>Click to add title</a:t>
            </a:r>
          </a:p>
        </p:txBody>
      </p:sp>
      <p:sp>
        <p:nvSpPr>
          <p:cNvPr id="31" name="Body Level One…"/>
          <p:cNvSpPr txBox="1"/>
          <p:nvPr>
            <p:ph type="body" sz="quarter" idx="1" hasCustomPrompt="1"/>
          </p:nvPr>
        </p:nvSpPr>
        <p:spPr>
          <a:xfrm>
            <a:off x="731519" y="3977640"/>
            <a:ext cx="7315201" cy="914401"/>
          </a:xfrm>
          <a:prstGeom prst="rect">
            <a:avLst/>
          </a:prstGeom>
        </p:spPr>
        <p:txBody>
          <a:bodyPr>
            <a:normAutofit fontScale="100000" lnSpcReduction="0"/>
          </a:bodyPr>
          <a:lstStyle>
            <a:lvl1pPr marL="0" indent="0">
              <a:spcBef>
                <a:spcPts val="400"/>
              </a:spcBef>
              <a:buSzTx/>
              <a:buFontTx/>
              <a:buNone/>
              <a:defRPr sz="2000">
                <a:solidFill>
                  <a:schemeClr val="accent2"/>
                </a:solidFill>
              </a:defRPr>
            </a:lvl1pPr>
            <a:lvl2pPr marL="661307" indent="-204107">
              <a:spcBef>
                <a:spcPts val="400"/>
              </a:spcBef>
              <a:buFontTx/>
              <a:defRPr sz="2000">
                <a:solidFill>
                  <a:schemeClr val="accent2"/>
                </a:solidFill>
              </a:defRPr>
            </a:lvl2pPr>
            <a:lvl3pPr marL="1104900" indent="-190500">
              <a:spcBef>
                <a:spcPts val="400"/>
              </a:spcBef>
              <a:buFontTx/>
              <a:defRPr sz="2000">
                <a:solidFill>
                  <a:schemeClr val="accent2"/>
                </a:solidFill>
              </a:defRPr>
            </a:lvl3pPr>
            <a:lvl4pPr marL="1600200" indent="-228600">
              <a:spcBef>
                <a:spcPts val="400"/>
              </a:spcBef>
              <a:buFontTx/>
              <a:defRPr sz="2000">
                <a:solidFill>
                  <a:schemeClr val="accent2"/>
                </a:solidFill>
              </a:defRPr>
            </a:lvl4pPr>
            <a:lvl5pPr marL="2057400" indent="-228600">
              <a:spcBef>
                <a:spcPts val="400"/>
              </a:spcBef>
              <a:buFontTx/>
              <a:defRPr sz="2000">
                <a:solidFill>
                  <a:schemeClr val="accent2"/>
                </a:solidFill>
              </a:defRPr>
            </a:lvl5pPr>
          </a:lstStyle>
          <a:p>
            <a:pPr/>
            <a:r>
              <a:t>Click to add text</a:t>
            </a:r>
          </a:p>
          <a:p>
            <a:pPr lvl="1"/>
            <a:r>
              <a:t/>
            </a:r>
          </a:p>
          <a:p>
            <a:pPr lvl="2"/>
            <a:r>
              <a:t/>
            </a:r>
          </a:p>
          <a:p>
            <a:pPr lvl="3"/>
            <a:r>
              <a:t/>
            </a:r>
          </a:p>
          <a:p>
            <a:pPr lvl="4"/>
            <a:r>
              <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pic>
        <p:nvPicPr>
          <p:cNvPr id="39" name="Image 0" descr="Image 0"/>
          <p:cNvPicPr>
            <a:picLocks noChangeAspect="1"/>
          </p:cNvPicPr>
          <p:nvPr/>
        </p:nvPicPr>
        <p:blipFill>
          <a:blip r:embed="rId2">
            <a:extLst/>
          </a:blip>
          <a:stretch>
            <a:fillRect/>
          </a:stretch>
        </p:blipFill>
        <p:spPr>
          <a:xfrm>
            <a:off x="9631374" y="0"/>
            <a:ext cx="2560321" cy="1371600"/>
          </a:xfrm>
          <a:prstGeom prst="rect">
            <a:avLst/>
          </a:prstGeom>
          <a:ln w="12700">
            <a:miter lim="400000"/>
          </a:ln>
        </p:spPr>
      </p:pic>
      <p:sp>
        <p:nvSpPr>
          <p:cNvPr id="40" name="Click to add title"/>
          <p:cNvSpPr txBox="1"/>
          <p:nvPr>
            <p:ph type="title" hasCustomPrompt="1"/>
          </p:nvPr>
        </p:nvSpPr>
        <p:spPr>
          <a:xfrm>
            <a:off x="548640" y="347472"/>
            <a:ext cx="9692641" cy="777241"/>
          </a:xfrm>
          <a:prstGeom prst="rect">
            <a:avLst/>
          </a:prstGeom>
        </p:spPr>
        <p:txBody>
          <a:bodyPr anchor="t">
            <a:normAutofit fontScale="100000" lnSpcReduction="0"/>
          </a:bodyPr>
          <a:lstStyle>
            <a:lvl1pPr algn="l">
              <a:defRPr b="1" sz="3400"/>
            </a:lvl1pPr>
          </a:lstStyle>
          <a:p>
            <a:pPr/>
            <a:r>
              <a:t>Click to add title</a:t>
            </a:r>
          </a:p>
        </p:txBody>
      </p:sp>
      <p:sp>
        <p:nvSpPr>
          <p:cNvPr id="41" name="Text 0"/>
          <p:cNvSpPr txBox="1"/>
          <p:nvPr/>
        </p:nvSpPr>
        <p:spPr>
          <a:xfrm>
            <a:off x="548640" y="6469424"/>
            <a:ext cx="54864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5B86"/>
                </a:solidFill>
              </a:defRPr>
            </a:lvl1pPr>
          </a:lstStyle>
          <a:p>
            <a:pPr/>
            <a:r>
              <a:t>StockSense  ·  Ridaa Mirza  ·  24BCS10394</a:t>
            </a:r>
          </a:p>
        </p:txBody>
      </p:sp>
      <p:sp>
        <p:nvSpPr>
          <p:cNvPr id="42" name="Slide Number"/>
          <p:cNvSpPr txBox="1"/>
          <p:nvPr>
            <p:ph type="sldNum" sz="quarter" idx="2"/>
          </p:nvPr>
        </p:nvSpPr>
        <p:spPr>
          <a:xfrm>
            <a:off x="11407435" y="640080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6B5B86"/>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chart" Target="../charts/chart1.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0.png"/><Relationship Id="rId5" Type="http://schemas.openxmlformats.org/officeDocument/2006/relationships/image" Target="../media/image6.png"/><Relationship Id="rId6" Type="http://schemas.openxmlformats.org/officeDocument/2006/relationships/image" Target="../media/image31.png"/><Relationship Id="rId7"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31.png"/><Relationship Id="rId6"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Text 0"/>
          <p:cNvSpPr txBox="1"/>
          <p:nvPr>
            <p:ph type="title"/>
          </p:nvPr>
        </p:nvSpPr>
        <p:spPr>
          <a:xfrm>
            <a:off x="731519" y="1920239"/>
            <a:ext cx="6583682" cy="1371601"/>
          </a:xfrm>
          <a:prstGeom prst="rect">
            <a:avLst/>
          </a:prstGeom>
        </p:spPr>
        <p:txBody>
          <a:bodyPr lIns="0" tIns="0" rIns="0" bIns="0" anchor="ctr"/>
          <a:lstStyle/>
          <a:p>
            <a:pPr/>
            <a:r>
              <a:t>StockSense</a:t>
            </a:r>
          </a:p>
        </p:txBody>
      </p:sp>
      <p:sp>
        <p:nvSpPr>
          <p:cNvPr id="52" name="Text 0"/>
          <p:cNvSpPr/>
          <p:nvPr>
            <p:ph type="body" idx="21"/>
          </p:nvPr>
        </p:nvSpPr>
        <p:spPr>
          <a:prstGeom prst="rect">
            <a:avLst/>
          </a:prstGeom>
          <a:extLst>
            <a:ext uri="{C572A759-6A51-4108-AA02-DFA0A04FC94B}">
              <ma14:wrappingTextBoxFlag xmlns:ma14="http://schemas.microsoft.com/office/mac/drawingml/2011/main" val="1"/>
            </a:ext>
          </a:extLst>
        </p:spPr>
        <p:txBody>
          <a:bodyPr lIns="0" tIns="0" rIns="0" bIns="0"/>
          <a:lstStyle/>
          <a:p>
            <a:pPr/>
            <a:r>
              <a:t>One little inventory app, taken all the way from my laptop to a monitored, self-healing Kubernetes cluster</a:t>
            </a:r>
          </a:p>
        </p:txBody>
      </p:sp>
      <p:sp>
        <p:nvSpPr>
          <p:cNvPr id="53" name="text-1"/>
          <p:cNvSpPr txBox="1"/>
          <p:nvPr/>
        </p:nvSpPr>
        <p:spPr>
          <a:xfrm>
            <a:off x="731519" y="5010983"/>
            <a:ext cx="5943601" cy="767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200"/>
              </a:spcBef>
              <a:defRPr b="1" sz="1600">
                <a:solidFill>
                  <a:srgbClr val="FFFFFF"/>
                </a:solidFill>
              </a:defRPr>
            </a:pPr>
            <a:r>
              <a:t>Ridaa Mirza</a:t>
            </a:r>
          </a:p>
          <a:p>
            <a:pPr>
              <a:spcBef>
                <a:spcPts val="200"/>
              </a:spcBef>
              <a:defRPr sz="1600">
                <a:solidFill>
                  <a:schemeClr val="accent2"/>
                </a:solidFill>
              </a:defRPr>
            </a:pPr>
            <a:r>
              <a:t>Roll</a:t>
            </a:r>
            <a:r>
              <a:t>No. 24BCS10394</a:t>
            </a:r>
          </a:p>
          <a:p>
            <a:pPr>
              <a:spcBef>
                <a:spcPts val="200"/>
              </a:spcBef>
              <a:defRPr sz="1600">
                <a:solidFill>
                  <a:schemeClr val="accent3"/>
                </a:solidFill>
              </a:defRPr>
            </a:pPr>
            <a:r>
              <a:t>github.com/Ridaa10394/devops-project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 name="Text 0"/>
          <p:cNvSpPr txBox="1"/>
          <p:nvPr>
            <p:ph type="title"/>
          </p:nvPr>
        </p:nvSpPr>
        <p:spPr>
          <a:xfrm>
            <a:off x="548639" y="347472"/>
            <a:ext cx="9692642" cy="777241"/>
          </a:xfrm>
          <a:prstGeom prst="rect">
            <a:avLst/>
          </a:prstGeom>
        </p:spPr>
        <p:txBody>
          <a:bodyPr lIns="0" tIns="0" rIns="0" bIns="0" anchor="ctr"/>
          <a:lstStyle/>
          <a:p>
            <a:pPr/>
            <a:r>
              <a:t>What I'll walk you through</a:t>
            </a:r>
          </a:p>
        </p:txBody>
      </p:sp>
      <p:sp>
        <p:nvSpPr>
          <p:cNvPr id="58" name="card-3"/>
          <p:cNvSpPr/>
          <p:nvPr/>
        </p:nvSpPr>
        <p:spPr>
          <a:xfrm>
            <a:off x="548640" y="1481327"/>
            <a:ext cx="3520441" cy="1207010"/>
          </a:xfrm>
          <a:prstGeom prst="roundRect">
            <a:avLst>
              <a:gd name="adj" fmla="val 13636"/>
            </a:avLst>
          </a:prstGeom>
          <a:solidFill>
            <a:srgbClr val="FFF4F8"/>
          </a:solidFill>
          <a:ln w="12700">
            <a:miter lim="400000"/>
          </a:ln>
        </p:spPr>
        <p:txBody>
          <a:bodyPr lIns="45719" rIns="45719"/>
          <a:lstStyle/>
          <a:p>
            <a:pPr/>
          </a:p>
        </p:txBody>
      </p:sp>
      <p:grpSp>
        <p:nvGrpSpPr>
          <p:cNvPr id="61" name="num-4"/>
          <p:cNvGrpSpPr/>
          <p:nvPr/>
        </p:nvGrpSpPr>
        <p:grpSpPr>
          <a:xfrm>
            <a:off x="804672" y="1728216"/>
            <a:ext cx="713233" cy="713233"/>
            <a:chOff x="0" y="0"/>
            <a:chExt cx="713231" cy="713231"/>
          </a:xfrm>
        </p:grpSpPr>
        <p:sp>
          <p:nvSpPr>
            <p:cNvPr id="59" name="Circle"/>
            <p:cNvSpPr/>
            <p:nvPr/>
          </p:nvSpPr>
          <p:spPr>
            <a:xfrm>
              <a:off x="0" y="0"/>
              <a:ext cx="713232" cy="71323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pPr>
            </a:p>
          </p:txBody>
        </p:sp>
        <p:sp>
          <p:nvSpPr>
            <p:cNvPr id="60" name="1"/>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1</a:t>
              </a:r>
            </a:p>
          </p:txBody>
        </p:sp>
      </p:grpSp>
      <p:sp>
        <p:nvSpPr>
          <p:cNvPr id="62" name="text-5"/>
          <p:cNvSpPr txBox="1"/>
          <p:nvPr/>
        </p:nvSpPr>
        <p:spPr>
          <a:xfrm>
            <a:off x="1700783" y="1964008"/>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The app &amp; its API</a:t>
            </a:r>
          </a:p>
        </p:txBody>
      </p:sp>
      <p:sp>
        <p:nvSpPr>
          <p:cNvPr id="63" name="card-6"/>
          <p:cNvSpPr/>
          <p:nvPr/>
        </p:nvSpPr>
        <p:spPr>
          <a:xfrm>
            <a:off x="4334255" y="1481327"/>
            <a:ext cx="3520442" cy="1207010"/>
          </a:xfrm>
          <a:prstGeom prst="roundRect">
            <a:avLst>
              <a:gd name="adj" fmla="val 13636"/>
            </a:avLst>
          </a:prstGeom>
          <a:solidFill>
            <a:srgbClr val="FFF4F8"/>
          </a:solidFill>
          <a:ln w="12700">
            <a:miter lim="400000"/>
          </a:ln>
        </p:spPr>
        <p:txBody>
          <a:bodyPr lIns="45719" rIns="45719"/>
          <a:lstStyle/>
          <a:p>
            <a:pPr/>
          </a:p>
        </p:txBody>
      </p:sp>
      <p:grpSp>
        <p:nvGrpSpPr>
          <p:cNvPr id="66" name="num-7"/>
          <p:cNvGrpSpPr/>
          <p:nvPr/>
        </p:nvGrpSpPr>
        <p:grpSpPr>
          <a:xfrm>
            <a:off x="4590288" y="1728216"/>
            <a:ext cx="713233" cy="713233"/>
            <a:chOff x="0" y="0"/>
            <a:chExt cx="713231" cy="713231"/>
          </a:xfrm>
        </p:grpSpPr>
        <p:sp>
          <p:nvSpPr>
            <p:cNvPr id="64" name="Circle"/>
            <p:cNvSpPr/>
            <p:nvPr/>
          </p:nvSpPr>
          <p:spPr>
            <a:xfrm>
              <a:off x="0" y="0"/>
              <a:ext cx="713232" cy="71323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400"/>
              </a:pPr>
            </a:p>
          </p:txBody>
        </p:sp>
        <p:sp>
          <p:nvSpPr>
            <p:cNvPr id="65" name="2"/>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2</a:t>
              </a:r>
            </a:p>
          </p:txBody>
        </p:sp>
      </p:grpSp>
      <p:sp>
        <p:nvSpPr>
          <p:cNvPr id="67" name="text-8"/>
          <p:cNvSpPr txBox="1"/>
          <p:nvPr/>
        </p:nvSpPr>
        <p:spPr>
          <a:xfrm>
            <a:off x="5486400" y="1964008"/>
            <a:ext cx="22402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Architecture &amp; toolbox</a:t>
            </a:r>
          </a:p>
        </p:txBody>
      </p:sp>
      <p:sp>
        <p:nvSpPr>
          <p:cNvPr id="68" name="card-9"/>
          <p:cNvSpPr/>
          <p:nvPr/>
        </p:nvSpPr>
        <p:spPr>
          <a:xfrm>
            <a:off x="8119871" y="1481327"/>
            <a:ext cx="3520441" cy="1207010"/>
          </a:xfrm>
          <a:prstGeom prst="roundRect">
            <a:avLst>
              <a:gd name="adj" fmla="val 13636"/>
            </a:avLst>
          </a:prstGeom>
          <a:solidFill>
            <a:srgbClr val="FFF4F8"/>
          </a:solidFill>
          <a:ln w="12700">
            <a:miter lim="400000"/>
          </a:ln>
        </p:spPr>
        <p:txBody>
          <a:bodyPr lIns="45719" rIns="45719"/>
          <a:lstStyle/>
          <a:p>
            <a:pPr/>
          </a:p>
        </p:txBody>
      </p:sp>
      <p:grpSp>
        <p:nvGrpSpPr>
          <p:cNvPr id="71" name="num-10"/>
          <p:cNvGrpSpPr/>
          <p:nvPr/>
        </p:nvGrpSpPr>
        <p:grpSpPr>
          <a:xfrm>
            <a:off x="8375904" y="1728216"/>
            <a:ext cx="713233" cy="713233"/>
            <a:chOff x="0" y="0"/>
            <a:chExt cx="713231" cy="713231"/>
          </a:xfrm>
        </p:grpSpPr>
        <p:sp>
          <p:nvSpPr>
            <p:cNvPr id="69" name="Circle"/>
            <p:cNvSpPr/>
            <p:nvPr/>
          </p:nvSpPr>
          <p:spPr>
            <a:xfrm>
              <a:off x="0" y="0"/>
              <a:ext cx="713232" cy="71323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400"/>
              </a:pPr>
            </a:p>
          </p:txBody>
        </p:sp>
        <p:sp>
          <p:nvSpPr>
            <p:cNvPr id="70" name="3"/>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3</a:t>
              </a:r>
            </a:p>
          </p:txBody>
        </p:sp>
      </p:grpSp>
      <p:sp>
        <p:nvSpPr>
          <p:cNvPr id="72" name="text-11"/>
          <p:cNvSpPr txBox="1"/>
          <p:nvPr/>
        </p:nvSpPr>
        <p:spPr>
          <a:xfrm>
            <a:off x="9272016" y="1964008"/>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Tests &amp; Docker images</a:t>
            </a:r>
          </a:p>
        </p:txBody>
      </p:sp>
      <p:sp>
        <p:nvSpPr>
          <p:cNvPr id="73" name="card-12"/>
          <p:cNvSpPr/>
          <p:nvPr/>
        </p:nvSpPr>
        <p:spPr>
          <a:xfrm>
            <a:off x="548640" y="2962655"/>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76" name="num-13"/>
          <p:cNvGrpSpPr/>
          <p:nvPr/>
        </p:nvGrpSpPr>
        <p:grpSpPr>
          <a:xfrm>
            <a:off x="804672" y="3209544"/>
            <a:ext cx="713233" cy="713233"/>
            <a:chOff x="0" y="0"/>
            <a:chExt cx="713231" cy="713231"/>
          </a:xfrm>
        </p:grpSpPr>
        <p:sp>
          <p:nvSpPr>
            <p:cNvPr id="74" name="Circle"/>
            <p:cNvSpPr/>
            <p:nvPr/>
          </p:nvSpPr>
          <p:spPr>
            <a:xfrm>
              <a:off x="0" y="0"/>
              <a:ext cx="713232" cy="71323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2400"/>
              </a:pPr>
            </a:p>
          </p:txBody>
        </p:sp>
        <p:sp>
          <p:nvSpPr>
            <p:cNvPr id="75" name="4"/>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4</a:t>
              </a:r>
            </a:p>
          </p:txBody>
        </p:sp>
      </p:grpSp>
      <p:sp>
        <p:nvSpPr>
          <p:cNvPr id="77" name="text-14"/>
          <p:cNvSpPr txBox="1"/>
          <p:nvPr/>
        </p:nvSpPr>
        <p:spPr>
          <a:xfrm>
            <a:off x="1700783" y="3445336"/>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CI/CD pipeline</a:t>
            </a:r>
          </a:p>
        </p:txBody>
      </p:sp>
      <p:sp>
        <p:nvSpPr>
          <p:cNvPr id="78" name="card-15"/>
          <p:cNvSpPr/>
          <p:nvPr/>
        </p:nvSpPr>
        <p:spPr>
          <a:xfrm>
            <a:off x="4334255" y="2962655"/>
            <a:ext cx="3520442" cy="1207009"/>
          </a:xfrm>
          <a:prstGeom prst="roundRect">
            <a:avLst>
              <a:gd name="adj" fmla="val 13636"/>
            </a:avLst>
          </a:prstGeom>
          <a:solidFill>
            <a:srgbClr val="FFF4F8"/>
          </a:solidFill>
          <a:ln w="12700">
            <a:miter lim="400000"/>
          </a:ln>
        </p:spPr>
        <p:txBody>
          <a:bodyPr lIns="45719" rIns="45719"/>
          <a:lstStyle/>
          <a:p>
            <a:pPr/>
          </a:p>
        </p:txBody>
      </p:sp>
      <p:grpSp>
        <p:nvGrpSpPr>
          <p:cNvPr id="81" name="num-16"/>
          <p:cNvGrpSpPr/>
          <p:nvPr/>
        </p:nvGrpSpPr>
        <p:grpSpPr>
          <a:xfrm>
            <a:off x="4590288" y="3209544"/>
            <a:ext cx="713233" cy="713233"/>
            <a:chOff x="0" y="0"/>
            <a:chExt cx="713231" cy="713231"/>
          </a:xfrm>
        </p:grpSpPr>
        <p:sp>
          <p:nvSpPr>
            <p:cNvPr id="79" name="Circle"/>
            <p:cNvSpPr/>
            <p:nvPr/>
          </p:nvSpPr>
          <p:spPr>
            <a:xfrm>
              <a:off x="0" y="0"/>
              <a:ext cx="713232" cy="71323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2400"/>
              </a:pPr>
            </a:p>
          </p:txBody>
        </p:sp>
        <p:sp>
          <p:nvSpPr>
            <p:cNvPr id="80" name="5"/>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5</a:t>
              </a:r>
            </a:p>
          </p:txBody>
        </p:sp>
      </p:grpSp>
      <p:sp>
        <p:nvSpPr>
          <p:cNvPr id="82" name="text-17"/>
          <p:cNvSpPr txBox="1"/>
          <p:nvPr/>
        </p:nvSpPr>
        <p:spPr>
          <a:xfrm>
            <a:off x="5486400" y="3299286"/>
            <a:ext cx="2240280"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DevSecOps security gate</a:t>
            </a:r>
          </a:p>
        </p:txBody>
      </p:sp>
      <p:sp>
        <p:nvSpPr>
          <p:cNvPr id="83" name="card-18"/>
          <p:cNvSpPr/>
          <p:nvPr/>
        </p:nvSpPr>
        <p:spPr>
          <a:xfrm>
            <a:off x="8119871" y="2962655"/>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86" name="num-19"/>
          <p:cNvGrpSpPr/>
          <p:nvPr/>
        </p:nvGrpSpPr>
        <p:grpSpPr>
          <a:xfrm>
            <a:off x="8375904" y="3209544"/>
            <a:ext cx="713233" cy="713233"/>
            <a:chOff x="0" y="0"/>
            <a:chExt cx="713231" cy="713231"/>
          </a:xfrm>
        </p:grpSpPr>
        <p:sp>
          <p:nvSpPr>
            <p:cNvPr id="84" name="Circle"/>
            <p:cNvSpPr/>
            <p:nvPr/>
          </p:nvSpPr>
          <p:spPr>
            <a:xfrm>
              <a:off x="0" y="0"/>
              <a:ext cx="713232" cy="71323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2400"/>
              </a:pPr>
            </a:p>
          </p:txBody>
        </p:sp>
        <p:sp>
          <p:nvSpPr>
            <p:cNvPr id="85" name="6"/>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6</a:t>
              </a:r>
            </a:p>
          </p:txBody>
        </p:sp>
      </p:grpSp>
      <p:sp>
        <p:nvSpPr>
          <p:cNvPr id="87" name="text-20"/>
          <p:cNvSpPr txBox="1"/>
          <p:nvPr/>
        </p:nvSpPr>
        <p:spPr>
          <a:xfrm>
            <a:off x="9272016" y="3299286"/>
            <a:ext cx="2240281"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Kubernetes, Helm &amp; HPA</a:t>
            </a:r>
          </a:p>
        </p:txBody>
      </p:sp>
      <p:sp>
        <p:nvSpPr>
          <p:cNvPr id="88" name="card-21"/>
          <p:cNvSpPr/>
          <p:nvPr/>
        </p:nvSpPr>
        <p:spPr>
          <a:xfrm>
            <a:off x="548640" y="4443984"/>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91" name="num-22"/>
          <p:cNvGrpSpPr/>
          <p:nvPr/>
        </p:nvGrpSpPr>
        <p:grpSpPr>
          <a:xfrm>
            <a:off x="804672" y="4690871"/>
            <a:ext cx="713233" cy="713233"/>
            <a:chOff x="0" y="0"/>
            <a:chExt cx="713231" cy="713231"/>
          </a:xfrm>
        </p:grpSpPr>
        <p:sp>
          <p:nvSpPr>
            <p:cNvPr id="89" name="Circle"/>
            <p:cNvSpPr/>
            <p:nvPr/>
          </p:nvSpPr>
          <p:spPr>
            <a:xfrm>
              <a:off x="0" y="0"/>
              <a:ext cx="713232" cy="71323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pPr>
            </a:p>
          </p:txBody>
        </p:sp>
        <p:sp>
          <p:nvSpPr>
            <p:cNvPr id="90" name="7"/>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7</a:t>
              </a:r>
            </a:p>
          </p:txBody>
        </p:sp>
      </p:grpSp>
      <p:sp>
        <p:nvSpPr>
          <p:cNvPr id="92" name="text-23"/>
          <p:cNvSpPr txBox="1"/>
          <p:nvPr/>
        </p:nvSpPr>
        <p:spPr>
          <a:xfrm>
            <a:off x="1700783" y="4926664"/>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Terraform on AWS</a:t>
            </a:r>
          </a:p>
        </p:txBody>
      </p:sp>
      <p:sp>
        <p:nvSpPr>
          <p:cNvPr id="93" name="card-24"/>
          <p:cNvSpPr/>
          <p:nvPr/>
        </p:nvSpPr>
        <p:spPr>
          <a:xfrm>
            <a:off x="4334255" y="4443984"/>
            <a:ext cx="3520442" cy="1207009"/>
          </a:xfrm>
          <a:prstGeom prst="roundRect">
            <a:avLst>
              <a:gd name="adj" fmla="val 13636"/>
            </a:avLst>
          </a:prstGeom>
          <a:solidFill>
            <a:srgbClr val="FFF4F8"/>
          </a:solidFill>
          <a:ln w="12700">
            <a:miter lim="400000"/>
          </a:ln>
        </p:spPr>
        <p:txBody>
          <a:bodyPr lIns="45719" rIns="45719"/>
          <a:lstStyle/>
          <a:p>
            <a:pPr/>
          </a:p>
        </p:txBody>
      </p:sp>
      <p:grpSp>
        <p:nvGrpSpPr>
          <p:cNvPr id="96" name="num-25"/>
          <p:cNvGrpSpPr/>
          <p:nvPr/>
        </p:nvGrpSpPr>
        <p:grpSpPr>
          <a:xfrm>
            <a:off x="4590288" y="4690871"/>
            <a:ext cx="713233" cy="713233"/>
            <a:chOff x="0" y="0"/>
            <a:chExt cx="713231" cy="713231"/>
          </a:xfrm>
        </p:grpSpPr>
        <p:sp>
          <p:nvSpPr>
            <p:cNvPr id="94" name="Circle"/>
            <p:cNvSpPr/>
            <p:nvPr/>
          </p:nvSpPr>
          <p:spPr>
            <a:xfrm>
              <a:off x="0" y="0"/>
              <a:ext cx="713232" cy="71323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400"/>
              </a:pPr>
            </a:p>
          </p:txBody>
        </p:sp>
        <p:sp>
          <p:nvSpPr>
            <p:cNvPr id="95" name="8"/>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8</a:t>
              </a:r>
            </a:p>
          </p:txBody>
        </p:sp>
      </p:grpSp>
      <p:sp>
        <p:nvSpPr>
          <p:cNvPr id="97" name="text-26"/>
          <p:cNvSpPr txBox="1"/>
          <p:nvPr/>
        </p:nvSpPr>
        <p:spPr>
          <a:xfrm>
            <a:off x="5486400" y="4926664"/>
            <a:ext cx="22402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Monitoring &amp; GitOps</a:t>
            </a:r>
          </a:p>
        </p:txBody>
      </p:sp>
      <p:sp>
        <p:nvSpPr>
          <p:cNvPr id="98" name="card-27"/>
          <p:cNvSpPr/>
          <p:nvPr/>
        </p:nvSpPr>
        <p:spPr>
          <a:xfrm>
            <a:off x="8119871" y="4443984"/>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101" name="num-28"/>
          <p:cNvGrpSpPr/>
          <p:nvPr/>
        </p:nvGrpSpPr>
        <p:grpSpPr>
          <a:xfrm>
            <a:off x="8375904" y="4690871"/>
            <a:ext cx="713233" cy="713233"/>
            <a:chOff x="0" y="0"/>
            <a:chExt cx="713231" cy="713231"/>
          </a:xfrm>
        </p:grpSpPr>
        <p:sp>
          <p:nvSpPr>
            <p:cNvPr id="99" name="Circle"/>
            <p:cNvSpPr/>
            <p:nvPr/>
          </p:nvSpPr>
          <p:spPr>
            <a:xfrm>
              <a:off x="0" y="0"/>
              <a:ext cx="713232" cy="71323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400"/>
              </a:pPr>
            </a:p>
          </p:txBody>
        </p:sp>
        <p:sp>
          <p:nvSpPr>
            <p:cNvPr id="100" name="9"/>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9</a:t>
              </a:r>
            </a:p>
          </p:txBody>
        </p:sp>
      </p:grpSp>
      <p:sp>
        <p:nvSpPr>
          <p:cNvPr id="102" name="text-29"/>
          <p:cNvSpPr txBox="1"/>
          <p:nvPr/>
        </p:nvSpPr>
        <p:spPr>
          <a:xfrm>
            <a:off x="9272016" y="4780614"/>
            <a:ext cx="2240281"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Troubleshooting, lessons &amp; demo</a:t>
            </a:r>
          </a:p>
        </p:txBody>
      </p:sp>
      <p:sp>
        <p:nvSpPr>
          <p:cNvPr id="103"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9" name="num-30"/>
          <p:cNvGrpSpPr/>
          <p:nvPr/>
        </p:nvGrpSpPr>
        <p:grpSpPr>
          <a:xfrm>
            <a:off x="731519" y="1325879"/>
            <a:ext cx="1234442" cy="1234442"/>
            <a:chOff x="0" y="0"/>
            <a:chExt cx="1234440" cy="1234440"/>
          </a:xfrm>
        </p:grpSpPr>
        <p:sp>
          <p:nvSpPr>
            <p:cNvPr id="107" name="Circle"/>
            <p:cNvSpPr/>
            <p:nvPr/>
          </p:nvSpPr>
          <p:spPr>
            <a:xfrm>
              <a:off x="-1" y="-1"/>
              <a:ext cx="1234442" cy="12344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4000"/>
              </a:pPr>
            </a:p>
          </p:txBody>
        </p:sp>
        <p:sp>
          <p:nvSpPr>
            <p:cNvPr id="108" name="01"/>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01</a:t>
              </a:r>
            </a:p>
          </p:txBody>
        </p:sp>
      </p:grpSp>
      <p:sp>
        <p:nvSpPr>
          <p:cNvPr id="110" name="Text 0"/>
          <p:cNvSpPr txBox="1"/>
          <p:nvPr>
            <p:ph type="title"/>
          </p:nvPr>
        </p:nvSpPr>
        <p:spPr>
          <a:xfrm>
            <a:off x="731520" y="2788920"/>
            <a:ext cx="7680960" cy="1097281"/>
          </a:xfrm>
          <a:prstGeom prst="rect">
            <a:avLst/>
          </a:prstGeom>
        </p:spPr>
        <p:txBody>
          <a:bodyPr lIns="0" tIns="0" rIns="0" bIns="0" anchor="ctr"/>
          <a:lstStyle/>
          <a:p>
            <a:pPr/>
            <a:r>
              <a:t>The app</a:t>
            </a:r>
          </a:p>
        </p:txBody>
      </p:sp>
      <p:sp>
        <p:nvSpPr>
          <p:cNvPr id="111" name="Text 0"/>
          <p:cNvSpPr txBox="1"/>
          <p:nvPr>
            <p:ph type="body" sz="quarter" idx="1"/>
          </p:nvPr>
        </p:nvSpPr>
        <p:spPr>
          <a:prstGeom prst="rect">
            <a:avLst/>
          </a:prstGeom>
        </p:spPr>
        <p:txBody>
          <a:bodyPr lIns="0" tIns="0" rIns="0" bIns="0"/>
          <a:lstStyle/>
          <a:p>
            <a:pPr/>
            <a:r>
              <a:t>What StockSense does, its API, and how all the pieces fit together</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 0"/>
          <p:cNvSpPr txBox="1"/>
          <p:nvPr>
            <p:ph type="title"/>
          </p:nvPr>
        </p:nvSpPr>
        <p:spPr>
          <a:xfrm>
            <a:off x="548639" y="347472"/>
            <a:ext cx="9692642" cy="777241"/>
          </a:xfrm>
          <a:prstGeom prst="rect">
            <a:avLst/>
          </a:prstGeom>
        </p:spPr>
        <p:txBody>
          <a:bodyPr lIns="0" tIns="0" rIns="0" bIns="0" anchor="ctr"/>
          <a:lstStyle/>
          <a:p>
            <a:pPr/>
            <a:r>
              <a:t>Meet StockSense</a:t>
            </a:r>
          </a:p>
        </p:txBody>
      </p:sp>
      <p:sp>
        <p:nvSpPr>
          <p:cNvPr id="116" name="bubble-32"/>
          <p:cNvSpPr/>
          <p:nvPr/>
        </p:nvSpPr>
        <p:spPr>
          <a:xfrm>
            <a:off x="548640" y="1463039"/>
            <a:ext cx="658369" cy="658369"/>
          </a:xfrm>
          <a:prstGeom prst="ellipse">
            <a:avLst/>
          </a:prstGeom>
          <a:solidFill>
            <a:schemeClr val="accent1"/>
          </a:solidFill>
          <a:ln w="12700">
            <a:miter lim="400000"/>
          </a:ln>
        </p:spPr>
        <p:txBody>
          <a:bodyPr lIns="45719" rIns="45719"/>
          <a:lstStyle/>
          <a:p>
            <a:pPr/>
          </a:p>
        </p:txBody>
      </p:sp>
      <p:pic>
        <p:nvPicPr>
          <p:cNvPr id="117" name="icon-33" descr="icon-33"/>
          <p:cNvPicPr>
            <a:picLocks noChangeAspect="1"/>
          </p:cNvPicPr>
          <p:nvPr/>
        </p:nvPicPr>
        <p:blipFill>
          <a:blip r:embed="rId3">
            <a:extLst/>
          </a:blip>
          <a:stretch>
            <a:fillRect/>
          </a:stretch>
        </p:blipFill>
        <p:spPr>
          <a:xfrm>
            <a:off x="693481" y="1607881"/>
            <a:ext cx="368687" cy="368687"/>
          </a:xfrm>
          <a:prstGeom prst="rect">
            <a:avLst/>
          </a:prstGeom>
          <a:ln w="12700">
            <a:miter lim="400000"/>
          </a:ln>
        </p:spPr>
      </p:pic>
      <p:sp>
        <p:nvSpPr>
          <p:cNvPr id="118" name="text-34"/>
          <p:cNvSpPr txBox="1"/>
          <p:nvPr/>
        </p:nvSpPr>
        <p:spPr>
          <a:xfrm>
            <a:off x="1371600" y="1459038"/>
            <a:ext cx="4069080"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Live KPI cards</a:t>
            </a:r>
            <a:endParaRPr sz="1400"/>
          </a:p>
          <a:p>
            <a:pPr>
              <a:defRPr sz="1400">
                <a:solidFill>
                  <a:srgbClr val="6B5B86"/>
                </a:solidFill>
              </a:defRPr>
            </a:pPr>
            <a:r>
              <a:t>products, units on hand, low stock, out of stock, inventory value</a:t>
            </a:r>
          </a:p>
        </p:txBody>
      </p:sp>
      <p:sp>
        <p:nvSpPr>
          <p:cNvPr id="119" name="bubble-35"/>
          <p:cNvSpPr/>
          <p:nvPr/>
        </p:nvSpPr>
        <p:spPr>
          <a:xfrm>
            <a:off x="548640" y="2359151"/>
            <a:ext cx="658369" cy="658369"/>
          </a:xfrm>
          <a:prstGeom prst="ellipse">
            <a:avLst/>
          </a:prstGeom>
          <a:solidFill>
            <a:schemeClr val="accent2"/>
          </a:solidFill>
          <a:ln w="12700">
            <a:miter lim="400000"/>
          </a:ln>
        </p:spPr>
        <p:txBody>
          <a:bodyPr lIns="45719" rIns="45719"/>
          <a:lstStyle/>
          <a:p>
            <a:pPr/>
          </a:p>
        </p:txBody>
      </p:sp>
      <p:pic>
        <p:nvPicPr>
          <p:cNvPr id="120" name="icon-36" descr="icon-36"/>
          <p:cNvPicPr>
            <a:picLocks noChangeAspect="1"/>
          </p:cNvPicPr>
          <p:nvPr/>
        </p:nvPicPr>
        <p:blipFill>
          <a:blip r:embed="rId4">
            <a:extLst/>
          </a:blip>
          <a:stretch>
            <a:fillRect/>
          </a:stretch>
        </p:blipFill>
        <p:spPr>
          <a:xfrm>
            <a:off x="693481" y="2503993"/>
            <a:ext cx="368687" cy="368687"/>
          </a:xfrm>
          <a:prstGeom prst="rect">
            <a:avLst/>
          </a:prstGeom>
          <a:ln w="12700">
            <a:miter lim="400000"/>
          </a:ln>
        </p:spPr>
      </p:pic>
      <p:sp>
        <p:nvSpPr>
          <p:cNvPr id="121" name="text-37"/>
          <p:cNvSpPr txBox="1"/>
          <p:nvPr/>
        </p:nvSpPr>
        <p:spPr>
          <a:xfrm>
            <a:off x="1371600" y="2469450"/>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Search &amp; filter</a:t>
            </a:r>
            <a:endParaRPr sz="1400"/>
          </a:p>
          <a:p>
            <a:pPr>
              <a:defRPr sz="1400">
                <a:solidFill>
                  <a:srgbClr val="6B5B86"/>
                </a:solidFill>
              </a:defRPr>
            </a:pPr>
            <a:r>
              <a:t>by SKU, name, category or supplier</a:t>
            </a:r>
          </a:p>
        </p:txBody>
      </p:sp>
      <p:sp>
        <p:nvSpPr>
          <p:cNvPr id="122" name="bubble-38"/>
          <p:cNvSpPr/>
          <p:nvPr/>
        </p:nvSpPr>
        <p:spPr>
          <a:xfrm>
            <a:off x="548640" y="3255264"/>
            <a:ext cx="658369" cy="658369"/>
          </a:xfrm>
          <a:prstGeom prst="ellipse">
            <a:avLst/>
          </a:prstGeom>
          <a:solidFill>
            <a:schemeClr val="accent3"/>
          </a:solidFill>
          <a:ln w="12700">
            <a:miter lim="400000"/>
          </a:ln>
        </p:spPr>
        <p:txBody>
          <a:bodyPr lIns="45719" rIns="45719"/>
          <a:lstStyle/>
          <a:p>
            <a:pPr/>
          </a:p>
        </p:txBody>
      </p:sp>
      <p:pic>
        <p:nvPicPr>
          <p:cNvPr id="123" name="icon-39" descr="icon-39"/>
          <p:cNvPicPr>
            <a:picLocks noChangeAspect="1"/>
          </p:cNvPicPr>
          <p:nvPr/>
        </p:nvPicPr>
        <p:blipFill>
          <a:blip r:embed="rId5">
            <a:extLst/>
          </a:blip>
          <a:stretch>
            <a:fillRect/>
          </a:stretch>
        </p:blipFill>
        <p:spPr>
          <a:xfrm>
            <a:off x="693481" y="3400104"/>
            <a:ext cx="368687" cy="368687"/>
          </a:xfrm>
          <a:prstGeom prst="rect">
            <a:avLst/>
          </a:prstGeom>
          <a:ln w="12700">
            <a:miter lim="400000"/>
          </a:ln>
        </p:spPr>
      </p:pic>
      <p:sp>
        <p:nvSpPr>
          <p:cNvPr id="124" name="text-40"/>
          <p:cNvSpPr txBox="1"/>
          <p:nvPr/>
        </p:nvSpPr>
        <p:spPr>
          <a:xfrm>
            <a:off x="1371600" y="3365562"/>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Add, edit, delete</a:t>
            </a:r>
            <a:endParaRPr sz="1400"/>
          </a:p>
          <a:p>
            <a:pPr>
              <a:defRPr sz="1400">
                <a:solidFill>
                  <a:srgbClr val="6B5B86"/>
                </a:solidFill>
              </a:defRPr>
            </a:pPr>
            <a:r>
              <a:t>plus one-click - ship and + restock buttons</a:t>
            </a:r>
          </a:p>
        </p:txBody>
      </p:sp>
      <p:sp>
        <p:nvSpPr>
          <p:cNvPr id="125" name="bubble-41"/>
          <p:cNvSpPr/>
          <p:nvPr/>
        </p:nvSpPr>
        <p:spPr>
          <a:xfrm>
            <a:off x="548640" y="4151376"/>
            <a:ext cx="658369" cy="658369"/>
          </a:xfrm>
          <a:prstGeom prst="ellipse">
            <a:avLst/>
          </a:prstGeom>
          <a:solidFill>
            <a:schemeClr val="accent4"/>
          </a:solidFill>
          <a:ln w="12700">
            <a:miter lim="400000"/>
          </a:ln>
        </p:spPr>
        <p:txBody>
          <a:bodyPr lIns="45719" rIns="45719"/>
          <a:lstStyle/>
          <a:p>
            <a:pPr/>
          </a:p>
        </p:txBody>
      </p:sp>
      <p:pic>
        <p:nvPicPr>
          <p:cNvPr id="126" name="icon-42" descr="icon-42"/>
          <p:cNvPicPr>
            <a:picLocks noChangeAspect="1"/>
          </p:cNvPicPr>
          <p:nvPr/>
        </p:nvPicPr>
        <p:blipFill>
          <a:blip r:embed="rId6">
            <a:extLst/>
          </a:blip>
          <a:stretch>
            <a:fillRect/>
          </a:stretch>
        </p:blipFill>
        <p:spPr>
          <a:xfrm>
            <a:off x="693481" y="4296216"/>
            <a:ext cx="368687" cy="368687"/>
          </a:xfrm>
          <a:prstGeom prst="rect">
            <a:avLst/>
          </a:prstGeom>
          <a:ln w="12700">
            <a:miter lim="400000"/>
          </a:ln>
        </p:spPr>
      </p:pic>
      <p:sp>
        <p:nvSpPr>
          <p:cNvPr id="127" name="text-43"/>
          <p:cNvSpPr txBox="1"/>
          <p:nvPr/>
        </p:nvSpPr>
        <p:spPr>
          <a:xfrm>
            <a:off x="1371600" y="4261674"/>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Reorder soon</a:t>
            </a:r>
            <a:endParaRPr sz="1400"/>
          </a:p>
          <a:p>
            <a:pPr>
              <a:defRPr sz="1400">
                <a:solidFill>
                  <a:srgbClr val="6B5B86"/>
                </a:solidFill>
              </a:defRPr>
            </a:pPr>
            <a:r>
              <a:t>a panel of items at their reorder level</a:t>
            </a:r>
          </a:p>
        </p:txBody>
      </p:sp>
      <p:sp>
        <p:nvSpPr>
          <p:cNvPr id="128" name="bubble-44"/>
          <p:cNvSpPr/>
          <p:nvPr/>
        </p:nvSpPr>
        <p:spPr>
          <a:xfrm>
            <a:off x="548640" y="5047488"/>
            <a:ext cx="658369" cy="658369"/>
          </a:xfrm>
          <a:prstGeom prst="ellipse">
            <a:avLst/>
          </a:prstGeom>
          <a:solidFill>
            <a:schemeClr val="accent5"/>
          </a:solidFill>
          <a:ln w="12700">
            <a:miter lim="400000"/>
          </a:ln>
        </p:spPr>
        <p:txBody>
          <a:bodyPr lIns="45719" rIns="45719"/>
          <a:lstStyle/>
          <a:p>
            <a:pPr/>
          </a:p>
        </p:txBody>
      </p:sp>
      <p:pic>
        <p:nvPicPr>
          <p:cNvPr id="129" name="icon-45" descr="icon-45"/>
          <p:cNvPicPr>
            <a:picLocks noChangeAspect="1"/>
          </p:cNvPicPr>
          <p:nvPr/>
        </p:nvPicPr>
        <p:blipFill>
          <a:blip r:embed="rId7">
            <a:extLst/>
          </a:blip>
          <a:stretch>
            <a:fillRect/>
          </a:stretch>
        </p:blipFill>
        <p:spPr>
          <a:xfrm>
            <a:off x="693481" y="5192329"/>
            <a:ext cx="368687" cy="368687"/>
          </a:xfrm>
          <a:prstGeom prst="rect">
            <a:avLst/>
          </a:prstGeom>
          <a:ln w="12700">
            <a:miter lim="400000"/>
          </a:ln>
        </p:spPr>
      </p:pic>
      <p:sp>
        <p:nvSpPr>
          <p:cNvPr id="130" name="text-46"/>
          <p:cNvSpPr txBox="1"/>
          <p:nvPr/>
        </p:nvSpPr>
        <p:spPr>
          <a:xfrm>
            <a:off x="1371600" y="5157786"/>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Smart status</a:t>
            </a:r>
            <a:endParaRPr sz="1400"/>
          </a:p>
          <a:p>
            <a:pPr>
              <a:defRPr sz="1400">
                <a:solidFill>
                  <a:srgbClr val="6B5B86"/>
                </a:solidFill>
              </a:defRPr>
            </a:pPr>
            <a:r>
              <a:t>IN_STOCK · LOW_STOCK · OUT_OF_STOCK</a:t>
            </a:r>
          </a:p>
        </p:txBody>
      </p:sp>
      <p:sp>
        <p:nvSpPr>
          <p:cNvPr id="131" name="frame-47"/>
          <p:cNvSpPr/>
          <p:nvPr/>
        </p:nvSpPr>
        <p:spPr>
          <a:xfrm>
            <a:off x="5715000" y="1527175"/>
            <a:ext cx="5989321" cy="4215130"/>
          </a:xfrm>
          <a:prstGeom prst="roundRect">
            <a:avLst>
              <a:gd name="adj" fmla="val 3037"/>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132" name="shot-48" descr="shot-48"/>
          <p:cNvPicPr>
            <a:picLocks noChangeAspect="1"/>
          </p:cNvPicPr>
          <p:nvPr/>
        </p:nvPicPr>
        <p:blipFill>
          <a:blip r:embed="rId8">
            <a:extLst/>
          </a:blip>
          <a:stretch>
            <a:fillRect/>
          </a:stretch>
        </p:blipFill>
        <p:spPr>
          <a:xfrm>
            <a:off x="5806440" y="1618614"/>
            <a:ext cx="5806441" cy="4032251"/>
          </a:xfrm>
          <a:prstGeom prst="rect">
            <a:avLst/>
          </a:prstGeom>
          <a:ln w="12700">
            <a:miter lim="400000"/>
          </a:ln>
        </p:spPr>
      </p:pic>
      <p:sp>
        <p:nvSpPr>
          <p:cNvPr id="133" name="text-49"/>
          <p:cNvSpPr txBox="1"/>
          <p:nvPr/>
        </p:nvSpPr>
        <p:spPr>
          <a:xfrm>
            <a:off x="5806440" y="6013625"/>
            <a:ext cx="58064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The real app running under Docker Compose</a:t>
            </a:r>
          </a:p>
        </p:txBody>
      </p:sp>
      <p:sp>
        <p:nvSpPr>
          <p:cNvPr id="134"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ph type="title"/>
          </p:nvPr>
        </p:nvSpPr>
        <p:spPr>
          <a:xfrm>
            <a:off x="548639" y="347472"/>
            <a:ext cx="9692642" cy="777241"/>
          </a:xfrm>
          <a:prstGeom prst="rect">
            <a:avLst/>
          </a:prstGeom>
        </p:spPr>
        <p:txBody>
          <a:bodyPr lIns="0" tIns="0" rIns="0" bIns="0" anchor="ctr"/>
          <a:lstStyle/>
          <a:p>
            <a:pPr/>
            <a:r>
              <a:t>10 REST endpoints, documented by Swagger</a:t>
            </a:r>
          </a:p>
        </p:txBody>
      </p:sp>
      <p:grpSp>
        <p:nvGrpSpPr>
          <p:cNvPr id="141" name="chip-50"/>
          <p:cNvGrpSpPr/>
          <p:nvPr/>
        </p:nvGrpSpPr>
        <p:grpSpPr>
          <a:xfrm>
            <a:off x="548640" y="1481327"/>
            <a:ext cx="960120" cy="329185"/>
            <a:chOff x="0" y="0"/>
            <a:chExt cx="960119" cy="329184"/>
          </a:xfrm>
        </p:grpSpPr>
        <p:sp>
          <p:nvSpPr>
            <p:cNvPr id="13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4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42" name="text-51"/>
          <p:cNvSpPr txBox="1"/>
          <p:nvPr/>
        </p:nvSpPr>
        <p:spPr>
          <a:xfrm>
            <a:off x="1691639" y="1544320"/>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/health</a:t>
            </a:r>
          </a:p>
        </p:txBody>
      </p:sp>
      <p:sp>
        <p:nvSpPr>
          <p:cNvPr id="143" name="text-52"/>
          <p:cNvSpPr txBox="1"/>
          <p:nvPr/>
        </p:nvSpPr>
        <p:spPr>
          <a:xfrm>
            <a:off x="4206240" y="15512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liveness, no DB call</a:t>
            </a:r>
          </a:p>
        </p:txBody>
      </p:sp>
      <p:grpSp>
        <p:nvGrpSpPr>
          <p:cNvPr id="146" name="chip-53"/>
          <p:cNvGrpSpPr/>
          <p:nvPr/>
        </p:nvGrpSpPr>
        <p:grpSpPr>
          <a:xfrm>
            <a:off x="548640" y="1929383"/>
            <a:ext cx="960120" cy="329185"/>
            <a:chOff x="0" y="0"/>
            <a:chExt cx="960119" cy="329184"/>
          </a:xfrm>
        </p:grpSpPr>
        <p:sp>
          <p:nvSpPr>
            <p:cNvPr id="14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4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47" name="text-54"/>
          <p:cNvSpPr txBox="1"/>
          <p:nvPr/>
        </p:nvSpPr>
        <p:spPr>
          <a:xfrm>
            <a:off x="1691639" y="1992375"/>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/ready</a:t>
            </a:r>
          </a:p>
        </p:txBody>
      </p:sp>
      <p:sp>
        <p:nvSpPr>
          <p:cNvPr id="148" name="text-55"/>
          <p:cNvSpPr txBox="1"/>
          <p:nvPr/>
        </p:nvSpPr>
        <p:spPr>
          <a:xfrm>
            <a:off x="4206240" y="1999296"/>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readiness: SELECT 1</a:t>
            </a:r>
          </a:p>
        </p:txBody>
      </p:sp>
      <p:grpSp>
        <p:nvGrpSpPr>
          <p:cNvPr id="151" name="chip-56"/>
          <p:cNvGrpSpPr/>
          <p:nvPr/>
        </p:nvGrpSpPr>
        <p:grpSpPr>
          <a:xfrm>
            <a:off x="548640" y="2377439"/>
            <a:ext cx="960120" cy="329185"/>
            <a:chOff x="0" y="0"/>
            <a:chExt cx="960119" cy="329184"/>
          </a:xfrm>
        </p:grpSpPr>
        <p:sp>
          <p:nvSpPr>
            <p:cNvPr id="14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5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52" name="text-57"/>
          <p:cNvSpPr txBox="1"/>
          <p:nvPr/>
        </p:nvSpPr>
        <p:spPr>
          <a:xfrm>
            <a:off x="1691639" y="2440432"/>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/metrics</a:t>
            </a:r>
          </a:p>
        </p:txBody>
      </p:sp>
      <p:sp>
        <p:nvSpPr>
          <p:cNvPr id="153" name="text-58"/>
          <p:cNvSpPr txBox="1"/>
          <p:nvPr/>
        </p:nvSpPr>
        <p:spPr>
          <a:xfrm>
            <a:off x="4206240" y="2447352"/>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Prometheus metrics</a:t>
            </a:r>
          </a:p>
        </p:txBody>
      </p:sp>
      <p:grpSp>
        <p:nvGrpSpPr>
          <p:cNvPr id="156" name="chip-59"/>
          <p:cNvGrpSpPr/>
          <p:nvPr/>
        </p:nvGrpSpPr>
        <p:grpSpPr>
          <a:xfrm>
            <a:off x="548640" y="2825495"/>
            <a:ext cx="960120" cy="329185"/>
            <a:chOff x="0" y="0"/>
            <a:chExt cx="960119" cy="329184"/>
          </a:xfrm>
        </p:grpSpPr>
        <p:sp>
          <p:nvSpPr>
            <p:cNvPr id="15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5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57" name="text-60"/>
          <p:cNvSpPr txBox="1"/>
          <p:nvPr/>
        </p:nvSpPr>
        <p:spPr>
          <a:xfrm>
            <a:off x="1691639" y="2888488"/>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a:t>
            </a:r>
          </a:p>
        </p:txBody>
      </p:sp>
      <p:sp>
        <p:nvSpPr>
          <p:cNvPr id="158" name="text-61"/>
          <p:cNvSpPr txBox="1"/>
          <p:nvPr/>
        </p:nvSpPr>
        <p:spPr>
          <a:xfrm>
            <a:off x="4206240" y="2895408"/>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list, search, filter</a:t>
            </a:r>
          </a:p>
        </p:txBody>
      </p:sp>
      <p:grpSp>
        <p:nvGrpSpPr>
          <p:cNvPr id="161" name="chip-62"/>
          <p:cNvGrpSpPr/>
          <p:nvPr/>
        </p:nvGrpSpPr>
        <p:grpSpPr>
          <a:xfrm>
            <a:off x="548640" y="3273552"/>
            <a:ext cx="960120" cy="329185"/>
            <a:chOff x="0" y="0"/>
            <a:chExt cx="960119" cy="329184"/>
          </a:xfrm>
        </p:grpSpPr>
        <p:sp>
          <p:nvSpPr>
            <p:cNvPr id="15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6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62" name="text-63"/>
          <p:cNvSpPr txBox="1"/>
          <p:nvPr/>
        </p:nvSpPr>
        <p:spPr>
          <a:xfrm>
            <a:off x="1691639" y="3336544"/>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63" name="text-64"/>
          <p:cNvSpPr txBox="1"/>
          <p:nvPr/>
        </p:nvSpPr>
        <p:spPr>
          <a:xfrm>
            <a:off x="4206240" y="3343464"/>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one item (404)</a:t>
            </a:r>
          </a:p>
        </p:txBody>
      </p:sp>
      <p:grpSp>
        <p:nvGrpSpPr>
          <p:cNvPr id="166" name="chip-65"/>
          <p:cNvGrpSpPr/>
          <p:nvPr/>
        </p:nvGrpSpPr>
        <p:grpSpPr>
          <a:xfrm>
            <a:off x="548640" y="3721608"/>
            <a:ext cx="960120" cy="329185"/>
            <a:chOff x="0" y="0"/>
            <a:chExt cx="960119" cy="329184"/>
          </a:xfrm>
        </p:grpSpPr>
        <p:sp>
          <p:nvSpPr>
            <p:cNvPr id="164" name="Rounded Rectangle"/>
            <p:cNvSpPr/>
            <p:nvPr/>
          </p:nvSpPr>
          <p:spPr>
            <a:xfrm>
              <a:off x="0" y="0"/>
              <a:ext cx="960120" cy="329185"/>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200"/>
              </a:pPr>
            </a:p>
          </p:txBody>
        </p:sp>
        <p:sp>
          <p:nvSpPr>
            <p:cNvPr id="165" name="POS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POST</a:t>
              </a:r>
            </a:p>
          </p:txBody>
        </p:sp>
      </p:grpSp>
      <p:sp>
        <p:nvSpPr>
          <p:cNvPr id="167" name="text-66"/>
          <p:cNvSpPr txBox="1"/>
          <p:nvPr/>
        </p:nvSpPr>
        <p:spPr>
          <a:xfrm>
            <a:off x="1691639" y="3784600"/>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a:t>
            </a:r>
          </a:p>
        </p:txBody>
      </p:sp>
      <p:sp>
        <p:nvSpPr>
          <p:cNvPr id="168" name="text-67"/>
          <p:cNvSpPr txBox="1"/>
          <p:nvPr/>
        </p:nvSpPr>
        <p:spPr>
          <a:xfrm>
            <a:off x="4206240" y="379152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create (409 dup SKU)</a:t>
            </a:r>
          </a:p>
        </p:txBody>
      </p:sp>
      <p:grpSp>
        <p:nvGrpSpPr>
          <p:cNvPr id="171" name="chip-68"/>
          <p:cNvGrpSpPr/>
          <p:nvPr/>
        </p:nvGrpSpPr>
        <p:grpSpPr>
          <a:xfrm>
            <a:off x="548640" y="4169664"/>
            <a:ext cx="960120" cy="329185"/>
            <a:chOff x="0" y="0"/>
            <a:chExt cx="960119" cy="329184"/>
          </a:xfrm>
        </p:grpSpPr>
        <p:sp>
          <p:nvSpPr>
            <p:cNvPr id="169" name="Rounded Rectangle"/>
            <p:cNvSpPr/>
            <p:nvPr/>
          </p:nvSpPr>
          <p:spPr>
            <a:xfrm>
              <a:off x="0" y="0"/>
              <a:ext cx="960120" cy="329185"/>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200"/>
              </a:pPr>
            </a:p>
          </p:txBody>
        </p:sp>
        <p:sp>
          <p:nvSpPr>
            <p:cNvPr id="170" name="PU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PUT</a:t>
              </a:r>
            </a:p>
          </p:txBody>
        </p:sp>
      </p:grpSp>
      <p:sp>
        <p:nvSpPr>
          <p:cNvPr id="172" name="text-69"/>
          <p:cNvSpPr txBox="1"/>
          <p:nvPr/>
        </p:nvSpPr>
        <p:spPr>
          <a:xfrm>
            <a:off x="1691639" y="4232655"/>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73" name="text-70"/>
          <p:cNvSpPr txBox="1"/>
          <p:nvPr/>
        </p:nvSpPr>
        <p:spPr>
          <a:xfrm>
            <a:off x="4206240" y="4239576"/>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partial update</a:t>
            </a:r>
          </a:p>
        </p:txBody>
      </p:sp>
      <p:grpSp>
        <p:nvGrpSpPr>
          <p:cNvPr id="176" name="chip-71"/>
          <p:cNvGrpSpPr/>
          <p:nvPr/>
        </p:nvGrpSpPr>
        <p:grpSpPr>
          <a:xfrm>
            <a:off x="548640" y="4617720"/>
            <a:ext cx="960120" cy="329185"/>
            <a:chOff x="0" y="0"/>
            <a:chExt cx="960119" cy="329184"/>
          </a:xfrm>
        </p:grpSpPr>
        <p:sp>
          <p:nvSpPr>
            <p:cNvPr id="174" name="Rounded Rectangle"/>
            <p:cNvSpPr/>
            <p:nvPr/>
          </p:nvSpPr>
          <p:spPr>
            <a:xfrm>
              <a:off x="0" y="0"/>
              <a:ext cx="960120" cy="329185"/>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200"/>
              </a:pPr>
            </a:p>
          </p:txBody>
        </p:sp>
        <p:sp>
          <p:nvSpPr>
            <p:cNvPr id="175" name="POS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POST</a:t>
              </a:r>
            </a:p>
          </p:txBody>
        </p:sp>
      </p:grpSp>
      <p:sp>
        <p:nvSpPr>
          <p:cNvPr id="177" name="text-72"/>
          <p:cNvSpPr txBox="1"/>
          <p:nvPr/>
        </p:nvSpPr>
        <p:spPr>
          <a:xfrm>
            <a:off x="1691639" y="4680711"/>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/api/items/{id}/adjust</a:t>
            </a:r>
          </a:p>
        </p:txBody>
      </p:sp>
      <p:sp>
        <p:nvSpPr>
          <p:cNvPr id="178" name="text-73"/>
          <p:cNvSpPr txBox="1"/>
          <p:nvPr/>
        </p:nvSpPr>
        <p:spPr>
          <a:xfrm>
            <a:off x="4206240" y="4687632"/>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ship / restock</a:t>
            </a:r>
          </a:p>
        </p:txBody>
      </p:sp>
      <p:grpSp>
        <p:nvGrpSpPr>
          <p:cNvPr id="181" name="chip-74"/>
          <p:cNvGrpSpPr/>
          <p:nvPr/>
        </p:nvGrpSpPr>
        <p:grpSpPr>
          <a:xfrm>
            <a:off x="548640" y="5065776"/>
            <a:ext cx="960120" cy="329185"/>
            <a:chOff x="0" y="0"/>
            <a:chExt cx="960119" cy="329184"/>
          </a:xfrm>
        </p:grpSpPr>
        <p:sp>
          <p:nvSpPr>
            <p:cNvPr id="179" name="Rounded Rectangle"/>
            <p:cNvSpPr/>
            <p:nvPr/>
          </p:nvSpPr>
          <p:spPr>
            <a:xfrm>
              <a:off x="0" y="0"/>
              <a:ext cx="960120" cy="329185"/>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80" name="DELETE"/>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DELETE</a:t>
              </a:r>
            </a:p>
          </p:txBody>
        </p:sp>
      </p:grpSp>
      <p:sp>
        <p:nvSpPr>
          <p:cNvPr id="182" name="text-75"/>
          <p:cNvSpPr txBox="1"/>
          <p:nvPr/>
        </p:nvSpPr>
        <p:spPr>
          <a:xfrm>
            <a:off x="1691639" y="5128767"/>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83" name="text-76"/>
          <p:cNvSpPr txBox="1"/>
          <p:nvPr/>
        </p:nvSpPr>
        <p:spPr>
          <a:xfrm>
            <a:off x="4206240" y="5135688"/>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delete (204)</a:t>
            </a:r>
          </a:p>
        </p:txBody>
      </p:sp>
      <p:grpSp>
        <p:nvGrpSpPr>
          <p:cNvPr id="186" name="chip-77"/>
          <p:cNvGrpSpPr/>
          <p:nvPr/>
        </p:nvGrpSpPr>
        <p:grpSpPr>
          <a:xfrm>
            <a:off x="548640" y="5513832"/>
            <a:ext cx="960120" cy="329185"/>
            <a:chOff x="0" y="0"/>
            <a:chExt cx="960119" cy="329184"/>
          </a:xfrm>
        </p:grpSpPr>
        <p:sp>
          <p:nvSpPr>
            <p:cNvPr id="18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8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87" name="text-78"/>
          <p:cNvSpPr txBox="1"/>
          <p:nvPr/>
        </p:nvSpPr>
        <p:spPr>
          <a:xfrm>
            <a:off x="1691639" y="5576823"/>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/api/items/stats</a:t>
            </a:r>
          </a:p>
        </p:txBody>
      </p:sp>
      <p:sp>
        <p:nvSpPr>
          <p:cNvPr id="188" name="text-79"/>
          <p:cNvSpPr txBox="1"/>
          <p:nvPr/>
        </p:nvSpPr>
        <p:spPr>
          <a:xfrm>
            <a:off x="4206240" y="5583744"/>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KPI numbers</a:t>
            </a:r>
          </a:p>
        </p:txBody>
      </p:sp>
      <p:sp>
        <p:nvSpPr>
          <p:cNvPr id="189" name="frame-80"/>
          <p:cNvSpPr/>
          <p:nvPr/>
        </p:nvSpPr>
        <p:spPr>
          <a:xfrm>
            <a:off x="6537959" y="1688068"/>
            <a:ext cx="5166361" cy="4076225"/>
          </a:xfrm>
          <a:prstGeom prst="roundRect">
            <a:avLst>
              <a:gd name="adj" fmla="val 3141"/>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190" name="shot-81" descr="shot-81"/>
          <p:cNvPicPr>
            <a:picLocks noChangeAspect="1"/>
          </p:cNvPicPr>
          <p:nvPr/>
        </p:nvPicPr>
        <p:blipFill>
          <a:blip r:embed="rId3">
            <a:extLst/>
          </a:blip>
          <a:stretch>
            <a:fillRect/>
          </a:stretch>
        </p:blipFill>
        <p:spPr>
          <a:xfrm>
            <a:off x="6629400" y="1779508"/>
            <a:ext cx="4983480" cy="3893345"/>
          </a:xfrm>
          <a:prstGeom prst="rect">
            <a:avLst/>
          </a:prstGeom>
          <a:ln w="12700">
            <a:miter lim="400000"/>
          </a:ln>
        </p:spPr>
      </p:pic>
      <p:sp>
        <p:nvSpPr>
          <p:cNvPr id="191"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0"/>
          <p:cNvSpPr txBox="1"/>
          <p:nvPr>
            <p:ph type="title"/>
          </p:nvPr>
        </p:nvSpPr>
        <p:spPr>
          <a:xfrm>
            <a:off x="548639" y="347472"/>
            <a:ext cx="9692642" cy="777241"/>
          </a:xfrm>
          <a:prstGeom prst="rect">
            <a:avLst/>
          </a:prstGeom>
        </p:spPr>
        <p:txBody>
          <a:bodyPr lIns="0" tIns="0" rIns="0" bIns="0" anchor="ctr"/>
          <a:lstStyle/>
          <a:p>
            <a:pPr/>
            <a:r>
              <a:t>How the pieces fit together</a:t>
            </a:r>
          </a:p>
        </p:txBody>
      </p:sp>
      <p:grpSp>
        <p:nvGrpSpPr>
          <p:cNvPr id="198" name="node-82"/>
          <p:cNvGrpSpPr/>
          <p:nvPr/>
        </p:nvGrpSpPr>
        <p:grpSpPr>
          <a:xfrm>
            <a:off x="548640" y="1463039"/>
            <a:ext cx="1600201" cy="777241"/>
            <a:chOff x="0" y="0"/>
            <a:chExt cx="1600200" cy="777240"/>
          </a:xfrm>
        </p:grpSpPr>
        <p:sp>
          <p:nvSpPr>
            <p:cNvPr id="196" name="Rounded Rectangle"/>
            <p:cNvSpPr/>
            <p:nvPr/>
          </p:nvSpPr>
          <p:spPr>
            <a:xfrm>
              <a:off x="0" y="0"/>
              <a:ext cx="1600200" cy="777241"/>
            </a:xfrm>
            <a:prstGeom prst="roundRect">
              <a:avLst>
                <a:gd name="adj" fmla="val 16471"/>
              </a:avLst>
            </a:prstGeom>
            <a:solidFill>
              <a:srgbClr val="FFF4F8"/>
            </a:solidFill>
            <a:ln w="12700" cap="flat">
              <a:noFill/>
              <a:miter lim="400000"/>
            </a:ln>
            <a:effectLst/>
          </p:spPr>
          <p:txBody>
            <a:bodyPr wrap="square" lIns="45719" tIns="45719" rIns="45719" bIns="45719" numCol="1" anchor="ctr">
              <a:noAutofit/>
            </a:bodyPr>
            <a:lstStyle/>
            <a:p>
              <a:pPr algn="ctr">
                <a:defRPr sz="1300"/>
              </a:pPr>
            </a:p>
          </p:txBody>
        </p:sp>
        <p:sp>
          <p:nvSpPr>
            <p:cNvPr id="197" name="My laptop"/>
            <p:cNvSpPr txBox="1"/>
            <p:nvPr/>
          </p:nvSpPr>
          <p:spPr>
            <a:xfrm>
              <a:off x="37495" y="279839"/>
              <a:ext cx="152521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My laptop</a:t>
              </a:r>
            </a:p>
          </p:txBody>
        </p:sp>
      </p:grpSp>
      <p:grpSp>
        <p:nvGrpSpPr>
          <p:cNvPr id="201" name="node-83"/>
          <p:cNvGrpSpPr/>
          <p:nvPr/>
        </p:nvGrpSpPr>
        <p:grpSpPr>
          <a:xfrm>
            <a:off x="2606039" y="1463039"/>
            <a:ext cx="1600201" cy="777241"/>
            <a:chOff x="0" y="0"/>
            <a:chExt cx="1600200" cy="777240"/>
          </a:xfrm>
        </p:grpSpPr>
        <p:sp>
          <p:nvSpPr>
            <p:cNvPr id="199" name="Rounded Rectangle"/>
            <p:cNvSpPr/>
            <p:nvPr/>
          </p:nvSpPr>
          <p:spPr>
            <a:xfrm>
              <a:off x="0" y="0"/>
              <a:ext cx="1600200" cy="777241"/>
            </a:xfrm>
            <a:prstGeom prst="roundRect">
              <a:avLst>
                <a:gd name="adj" fmla="val 16471"/>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200" name="GitHub repo"/>
            <p:cNvSpPr txBox="1"/>
            <p:nvPr/>
          </p:nvSpPr>
          <p:spPr>
            <a:xfrm>
              <a:off x="37495" y="279839"/>
              <a:ext cx="152521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GitHub repo</a:t>
              </a:r>
            </a:p>
          </p:txBody>
        </p:sp>
      </p:grpSp>
      <p:grpSp>
        <p:nvGrpSpPr>
          <p:cNvPr id="204" name="node-84"/>
          <p:cNvGrpSpPr/>
          <p:nvPr/>
        </p:nvGrpSpPr>
        <p:grpSpPr>
          <a:xfrm>
            <a:off x="4663440" y="1463039"/>
            <a:ext cx="2331721" cy="777241"/>
            <a:chOff x="0" y="0"/>
            <a:chExt cx="2331720" cy="777240"/>
          </a:xfrm>
        </p:grpSpPr>
        <p:sp>
          <p:nvSpPr>
            <p:cNvPr id="202" name="Rounded Rectangle"/>
            <p:cNvSpPr/>
            <p:nvPr/>
          </p:nvSpPr>
          <p:spPr>
            <a:xfrm>
              <a:off x="0" y="0"/>
              <a:ext cx="2331721" cy="777241"/>
            </a:xfrm>
            <a:prstGeom prst="roundRect">
              <a:avLst>
                <a:gd name="adj" fmla="val 16471"/>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203" name="GitHub Actions…"/>
            <p:cNvSpPr txBox="1"/>
            <p:nvPr/>
          </p:nvSpPr>
          <p:spPr>
            <a:xfrm>
              <a:off x="37496" y="178239"/>
              <a:ext cx="22567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GitHub Actions</a:t>
              </a:r>
            </a:p>
            <a:p>
              <a:pPr algn="ctr">
                <a:defRPr b="1" sz="1300"/>
              </a:pPr>
              <a:r>
                <a:t>9-stage pipeline</a:t>
              </a:r>
            </a:p>
          </p:txBody>
        </p:sp>
      </p:grpSp>
      <p:grpSp>
        <p:nvGrpSpPr>
          <p:cNvPr id="207" name="node-85"/>
          <p:cNvGrpSpPr/>
          <p:nvPr/>
        </p:nvGrpSpPr>
        <p:grpSpPr>
          <a:xfrm>
            <a:off x="7452359" y="1463039"/>
            <a:ext cx="1783081" cy="777241"/>
            <a:chOff x="0" y="0"/>
            <a:chExt cx="1783079" cy="777240"/>
          </a:xfrm>
        </p:grpSpPr>
        <p:sp>
          <p:nvSpPr>
            <p:cNvPr id="205" name="Rounded Rectangle"/>
            <p:cNvSpPr/>
            <p:nvPr/>
          </p:nvSpPr>
          <p:spPr>
            <a:xfrm>
              <a:off x="0" y="0"/>
              <a:ext cx="1783080" cy="777241"/>
            </a:xfrm>
            <a:prstGeom prst="roundRect">
              <a:avLst>
                <a:gd name="adj" fmla="val 16471"/>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206" name="GHCR images…"/>
            <p:cNvSpPr txBox="1"/>
            <p:nvPr/>
          </p:nvSpPr>
          <p:spPr>
            <a:xfrm>
              <a:off x="37495" y="178239"/>
              <a:ext cx="1708089"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GHCR images</a:t>
              </a:r>
            </a:p>
            <a:p>
              <a:pPr algn="ctr">
                <a:defRPr b="1" sz="1300"/>
              </a:pPr>
              <a:r>
                <a:t>:git-sha</a:t>
              </a:r>
            </a:p>
          </p:txBody>
        </p:sp>
      </p:grpSp>
      <p:sp>
        <p:nvSpPr>
          <p:cNvPr id="208" name="arrow-86"/>
          <p:cNvSpPr/>
          <p:nvPr/>
        </p:nvSpPr>
        <p:spPr>
          <a:xfrm>
            <a:off x="2148840" y="1851660"/>
            <a:ext cx="457201" cy="914"/>
          </a:xfrm>
          <a:prstGeom prst="line">
            <a:avLst/>
          </a:prstGeom>
          <a:ln w="25400">
            <a:solidFill>
              <a:srgbClr val="6B5B86"/>
            </a:solidFill>
            <a:tailEnd type="triangle"/>
          </a:ln>
        </p:spPr>
        <p:txBody>
          <a:bodyPr lIns="45719" rIns="45719"/>
          <a:lstStyle/>
          <a:p>
            <a:pPr/>
          </a:p>
        </p:txBody>
      </p:sp>
      <p:sp>
        <p:nvSpPr>
          <p:cNvPr id="209" name="arrow-87"/>
          <p:cNvSpPr/>
          <p:nvPr/>
        </p:nvSpPr>
        <p:spPr>
          <a:xfrm>
            <a:off x="4206240" y="1851660"/>
            <a:ext cx="457201" cy="914"/>
          </a:xfrm>
          <a:prstGeom prst="line">
            <a:avLst/>
          </a:prstGeom>
          <a:ln w="25400">
            <a:solidFill>
              <a:srgbClr val="6B5B86"/>
            </a:solidFill>
            <a:tailEnd type="triangle"/>
          </a:ln>
        </p:spPr>
        <p:txBody>
          <a:bodyPr lIns="45719" rIns="45719"/>
          <a:lstStyle/>
          <a:p>
            <a:pPr/>
          </a:p>
        </p:txBody>
      </p:sp>
      <p:sp>
        <p:nvSpPr>
          <p:cNvPr id="210" name="arrow-88"/>
          <p:cNvSpPr/>
          <p:nvPr/>
        </p:nvSpPr>
        <p:spPr>
          <a:xfrm>
            <a:off x="6995159" y="1851660"/>
            <a:ext cx="457201" cy="914"/>
          </a:xfrm>
          <a:prstGeom prst="line">
            <a:avLst/>
          </a:prstGeom>
          <a:ln w="25400">
            <a:solidFill>
              <a:srgbClr val="6B5B86"/>
            </a:solidFill>
            <a:tailEnd type="triangle"/>
          </a:ln>
        </p:spPr>
        <p:txBody>
          <a:bodyPr lIns="45719" rIns="45719"/>
          <a:lstStyle/>
          <a:p>
            <a:pPr/>
          </a:p>
        </p:txBody>
      </p:sp>
      <p:sp>
        <p:nvSpPr>
          <p:cNvPr id="211" name="text-89"/>
          <p:cNvSpPr txBox="1"/>
          <p:nvPr/>
        </p:nvSpPr>
        <p:spPr>
          <a:xfrm>
            <a:off x="2011679" y="1240458"/>
            <a:ext cx="8229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git push</a:t>
            </a:r>
          </a:p>
        </p:txBody>
      </p:sp>
      <p:sp>
        <p:nvSpPr>
          <p:cNvPr id="212" name="cluster"/>
          <p:cNvSpPr/>
          <p:nvPr/>
        </p:nvSpPr>
        <p:spPr>
          <a:xfrm>
            <a:off x="548640" y="2788920"/>
            <a:ext cx="8686801" cy="3337560"/>
          </a:xfrm>
          <a:prstGeom prst="roundRect">
            <a:avLst>
              <a:gd name="adj" fmla="val 5479"/>
            </a:avLst>
          </a:prstGeom>
          <a:solidFill>
            <a:schemeClr val="accent2">
              <a:alpha val="18000"/>
            </a:schemeClr>
          </a:solidFill>
          <a:ln w="19050">
            <a:solidFill>
              <a:schemeClr val="accent2"/>
            </a:solidFill>
            <a:prstDash val="dash"/>
          </a:ln>
        </p:spPr>
        <p:txBody>
          <a:bodyPr lIns="45719" rIns="45719"/>
          <a:lstStyle/>
          <a:p>
            <a:pPr/>
          </a:p>
        </p:txBody>
      </p:sp>
      <p:sp>
        <p:nvSpPr>
          <p:cNvPr id="213" name="text-90"/>
          <p:cNvSpPr txBox="1"/>
          <p:nvPr/>
        </p:nvSpPr>
        <p:spPr>
          <a:xfrm>
            <a:off x="777240" y="2956999"/>
            <a:ext cx="5486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6B5B86"/>
                </a:solidFill>
              </a:defRPr>
            </a:lvl1pPr>
          </a:lstStyle>
          <a:p>
            <a:pPr/>
            <a:r>
              <a:t>Kubernetes  ·  minikube today, EKS in production</a:t>
            </a:r>
          </a:p>
        </p:txBody>
      </p:sp>
      <p:grpSp>
        <p:nvGrpSpPr>
          <p:cNvPr id="216" name="node-91"/>
          <p:cNvGrpSpPr/>
          <p:nvPr/>
        </p:nvGrpSpPr>
        <p:grpSpPr>
          <a:xfrm>
            <a:off x="822960" y="3977640"/>
            <a:ext cx="1600201" cy="822961"/>
            <a:chOff x="0" y="0"/>
            <a:chExt cx="1600200" cy="822960"/>
          </a:xfrm>
        </p:grpSpPr>
        <p:sp>
          <p:nvSpPr>
            <p:cNvPr id="214" name="Rounded Rectangle"/>
            <p:cNvSpPr/>
            <p:nvPr/>
          </p:nvSpPr>
          <p:spPr>
            <a:xfrm>
              <a:off x="0" y="0"/>
              <a:ext cx="1600200" cy="822961"/>
            </a:xfrm>
            <a:prstGeom prst="roundRect">
              <a:avLst>
                <a:gd name="adj" fmla="val 15556"/>
              </a:avLst>
            </a:prstGeom>
            <a:solidFill>
              <a:srgbClr val="FFFFFF"/>
            </a:solidFill>
            <a:ln w="12700" cap="flat">
              <a:noFill/>
              <a:miter lim="400000"/>
            </a:ln>
            <a:effectLst/>
          </p:spPr>
          <p:txBody>
            <a:bodyPr wrap="square" lIns="45719" tIns="45719" rIns="45719" bIns="45719" numCol="1" anchor="ctr">
              <a:noAutofit/>
            </a:bodyPr>
            <a:lstStyle/>
            <a:p>
              <a:pPr algn="ctr">
                <a:defRPr sz="1300"/>
              </a:pPr>
            </a:p>
          </p:txBody>
        </p:sp>
        <p:sp>
          <p:nvSpPr>
            <p:cNvPr id="215" name="Ingress…"/>
            <p:cNvSpPr txBox="1"/>
            <p:nvPr/>
          </p:nvSpPr>
          <p:spPr>
            <a:xfrm>
              <a:off x="37495" y="201099"/>
              <a:ext cx="152521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Ingress</a:t>
              </a:r>
            </a:p>
            <a:p>
              <a:pPr algn="ctr">
                <a:defRPr b="1" sz="1300"/>
              </a:pPr>
              <a:r>
                <a:t>nginx</a:t>
              </a:r>
            </a:p>
          </p:txBody>
        </p:sp>
      </p:grpSp>
      <p:grpSp>
        <p:nvGrpSpPr>
          <p:cNvPr id="219" name="node-92"/>
          <p:cNvGrpSpPr/>
          <p:nvPr/>
        </p:nvGrpSpPr>
        <p:grpSpPr>
          <a:xfrm>
            <a:off x="2971800" y="3337559"/>
            <a:ext cx="1874521" cy="777241"/>
            <a:chOff x="0" y="0"/>
            <a:chExt cx="1874520" cy="777240"/>
          </a:xfrm>
        </p:grpSpPr>
        <p:sp>
          <p:nvSpPr>
            <p:cNvPr id="217" name="Rounded Rectangle"/>
            <p:cNvSpPr/>
            <p:nvPr/>
          </p:nvSpPr>
          <p:spPr>
            <a:xfrm>
              <a:off x="0" y="0"/>
              <a:ext cx="1874521" cy="777241"/>
            </a:xfrm>
            <a:prstGeom prst="roundRect">
              <a:avLst>
                <a:gd name="adj" fmla="val 16471"/>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218" name="frontend x2…"/>
            <p:cNvSpPr txBox="1"/>
            <p:nvPr/>
          </p:nvSpPr>
          <p:spPr>
            <a:xfrm>
              <a:off x="37496" y="178239"/>
              <a:ext cx="17995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frontend x2</a:t>
              </a:r>
            </a:p>
            <a:p>
              <a:pPr algn="ctr">
                <a:defRPr b="1" sz="1300"/>
              </a:pPr>
              <a:r>
                <a:t>React + nginx</a:t>
              </a:r>
            </a:p>
          </p:txBody>
        </p:sp>
      </p:grpSp>
      <p:grpSp>
        <p:nvGrpSpPr>
          <p:cNvPr id="222" name="node-93"/>
          <p:cNvGrpSpPr/>
          <p:nvPr/>
        </p:nvGrpSpPr>
        <p:grpSpPr>
          <a:xfrm>
            <a:off x="2971800" y="4709159"/>
            <a:ext cx="1874521" cy="777241"/>
            <a:chOff x="0" y="0"/>
            <a:chExt cx="1874520" cy="777240"/>
          </a:xfrm>
        </p:grpSpPr>
        <p:sp>
          <p:nvSpPr>
            <p:cNvPr id="220" name="Rounded Rectangle"/>
            <p:cNvSpPr/>
            <p:nvPr/>
          </p:nvSpPr>
          <p:spPr>
            <a:xfrm>
              <a:off x="0" y="0"/>
              <a:ext cx="1874521" cy="777241"/>
            </a:xfrm>
            <a:prstGeom prst="roundRect">
              <a:avLst>
                <a:gd name="adj" fmla="val 16471"/>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221" name="backend x2-5…"/>
            <p:cNvSpPr txBox="1"/>
            <p:nvPr/>
          </p:nvSpPr>
          <p:spPr>
            <a:xfrm>
              <a:off x="37496" y="178239"/>
              <a:ext cx="17995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backend x2-5</a:t>
              </a:r>
            </a:p>
            <a:p>
              <a:pPr algn="ctr">
                <a:defRPr b="1" sz="1300"/>
              </a:pPr>
              <a:r>
                <a:t>FastAPI + HPA</a:t>
              </a:r>
            </a:p>
          </p:txBody>
        </p:sp>
      </p:grpSp>
      <p:grpSp>
        <p:nvGrpSpPr>
          <p:cNvPr id="225" name="node-94"/>
          <p:cNvGrpSpPr/>
          <p:nvPr/>
        </p:nvGrpSpPr>
        <p:grpSpPr>
          <a:xfrm>
            <a:off x="5349240" y="4709159"/>
            <a:ext cx="1691641" cy="777241"/>
            <a:chOff x="0" y="0"/>
            <a:chExt cx="1691639" cy="777240"/>
          </a:xfrm>
        </p:grpSpPr>
        <p:sp>
          <p:nvSpPr>
            <p:cNvPr id="223" name="Rounded Rectangle"/>
            <p:cNvSpPr/>
            <p:nvPr/>
          </p:nvSpPr>
          <p:spPr>
            <a:xfrm>
              <a:off x="0" y="0"/>
              <a:ext cx="1691640" cy="777241"/>
            </a:xfrm>
            <a:prstGeom prst="roundRect">
              <a:avLst>
                <a:gd name="adj" fmla="val 16471"/>
              </a:avLst>
            </a:prstGeom>
            <a:solidFill>
              <a:schemeClr val="accent6"/>
            </a:solidFill>
            <a:ln w="12700" cap="flat">
              <a:noFill/>
              <a:miter lim="400000"/>
            </a:ln>
            <a:effectLst/>
          </p:spPr>
          <p:txBody>
            <a:bodyPr wrap="square" lIns="45719" tIns="45719" rIns="45719" bIns="45719" numCol="1" anchor="ctr">
              <a:noAutofit/>
            </a:bodyPr>
            <a:lstStyle/>
            <a:p>
              <a:pPr algn="ctr">
                <a:defRPr sz="1200"/>
              </a:pPr>
            </a:p>
          </p:txBody>
        </p:sp>
        <p:sp>
          <p:nvSpPr>
            <p:cNvPr id="224" name="PostgreSQL…"/>
            <p:cNvSpPr txBox="1"/>
            <p:nvPr/>
          </p:nvSpPr>
          <p:spPr>
            <a:xfrm>
              <a:off x="37495" y="189537"/>
              <a:ext cx="1616650" cy="3981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200"/>
              </a:pPr>
              <a:r>
                <a:t>PostgreSQL</a:t>
              </a:r>
            </a:p>
            <a:p>
              <a:pPr algn="ctr">
                <a:defRPr b="1" sz="1200"/>
              </a:pPr>
              <a:r>
                <a:t>StatefulSet + PVC</a:t>
              </a:r>
            </a:p>
          </p:txBody>
        </p:sp>
      </p:grpSp>
      <p:grpSp>
        <p:nvGrpSpPr>
          <p:cNvPr id="228" name="node-95"/>
          <p:cNvGrpSpPr/>
          <p:nvPr/>
        </p:nvGrpSpPr>
        <p:grpSpPr>
          <a:xfrm>
            <a:off x="7452359" y="3337559"/>
            <a:ext cx="1554481" cy="777241"/>
            <a:chOff x="0" y="0"/>
            <a:chExt cx="1554480" cy="777240"/>
          </a:xfrm>
        </p:grpSpPr>
        <p:sp>
          <p:nvSpPr>
            <p:cNvPr id="226" name="Rounded Rectangle"/>
            <p:cNvSpPr/>
            <p:nvPr/>
          </p:nvSpPr>
          <p:spPr>
            <a:xfrm>
              <a:off x="0" y="0"/>
              <a:ext cx="1554481" cy="777241"/>
            </a:xfrm>
            <a:prstGeom prst="roundRect">
              <a:avLst>
                <a:gd name="adj" fmla="val 16471"/>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227" name="Prometheus"/>
            <p:cNvSpPr txBox="1"/>
            <p:nvPr/>
          </p:nvSpPr>
          <p:spPr>
            <a:xfrm>
              <a:off x="37496" y="279839"/>
              <a:ext cx="1479488"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Prometheus</a:t>
              </a:r>
            </a:p>
          </p:txBody>
        </p:sp>
      </p:grpSp>
      <p:grpSp>
        <p:nvGrpSpPr>
          <p:cNvPr id="231" name="node-96"/>
          <p:cNvGrpSpPr/>
          <p:nvPr/>
        </p:nvGrpSpPr>
        <p:grpSpPr>
          <a:xfrm>
            <a:off x="7452359" y="4709159"/>
            <a:ext cx="1554481" cy="777241"/>
            <a:chOff x="0" y="0"/>
            <a:chExt cx="1554480" cy="777240"/>
          </a:xfrm>
        </p:grpSpPr>
        <p:sp>
          <p:nvSpPr>
            <p:cNvPr id="229" name="Rounded Rectangle"/>
            <p:cNvSpPr/>
            <p:nvPr/>
          </p:nvSpPr>
          <p:spPr>
            <a:xfrm>
              <a:off x="0" y="0"/>
              <a:ext cx="1554481" cy="777241"/>
            </a:xfrm>
            <a:prstGeom prst="roundRect">
              <a:avLst>
                <a:gd name="adj" fmla="val 16471"/>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230" name="Grafana"/>
            <p:cNvSpPr txBox="1"/>
            <p:nvPr/>
          </p:nvSpPr>
          <p:spPr>
            <a:xfrm>
              <a:off x="37496" y="279839"/>
              <a:ext cx="1479488"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Grafana</a:t>
              </a:r>
            </a:p>
          </p:txBody>
        </p:sp>
      </p:grpSp>
      <p:sp>
        <p:nvSpPr>
          <p:cNvPr id="232" name="arrow-97"/>
          <p:cNvSpPr/>
          <p:nvPr/>
        </p:nvSpPr>
        <p:spPr>
          <a:xfrm flipV="1">
            <a:off x="2423160" y="3721607"/>
            <a:ext cx="548641" cy="484633"/>
          </a:xfrm>
          <a:prstGeom prst="line">
            <a:avLst/>
          </a:prstGeom>
          <a:ln w="25400">
            <a:solidFill>
              <a:srgbClr val="6B5B86"/>
            </a:solidFill>
            <a:tailEnd type="triangle"/>
          </a:ln>
        </p:spPr>
        <p:txBody>
          <a:bodyPr lIns="45719" rIns="45719"/>
          <a:lstStyle/>
          <a:p>
            <a:pPr/>
          </a:p>
        </p:txBody>
      </p:sp>
      <p:sp>
        <p:nvSpPr>
          <p:cNvPr id="233" name="arrow-98"/>
          <p:cNvSpPr/>
          <p:nvPr/>
        </p:nvSpPr>
        <p:spPr>
          <a:xfrm>
            <a:off x="2423159" y="4571999"/>
            <a:ext cx="548642" cy="521209"/>
          </a:xfrm>
          <a:prstGeom prst="line">
            <a:avLst/>
          </a:prstGeom>
          <a:ln w="25400">
            <a:solidFill>
              <a:srgbClr val="6B5B86"/>
            </a:solidFill>
            <a:tailEnd type="triangle"/>
          </a:ln>
        </p:spPr>
        <p:txBody>
          <a:bodyPr lIns="45719" rIns="45719"/>
          <a:lstStyle/>
          <a:p>
            <a:pPr/>
          </a:p>
        </p:txBody>
      </p:sp>
      <p:sp>
        <p:nvSpPr>
          <p:cNvPr id="234" name="text-99"/>
          <p:cNvSpPr txBox="1"/>
          <p:nvPr/>
        </p:nvSpPr>
        <p:spPr>
          <a:xfrm>
            <a:off x="2487167" y="3698039"/>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6B5B86"/>
                </a:solidFill>
              </a:defRPr>
            </a:lvl1pPr>
          </a:lstStyle>
          <a:p>
            <a:pPr/>
            <a:r>
              <a:t>/</a:t>
            </a:r>
          </a:p>
        </p:txBody>
      </p:sp>
      <p:sp>
        <p:nvSpPr>
          <p:cNvPr id="235" name="text-100"/>
          <p:cNvSpPr txBox="1"/>
          <p:nvPr/>
        </p:nvSpPr>
        <p:spPr>
          <a:xfrm>
            <a:off x="2395727" y="5014775"/>
            <a:ext cx="5486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6B5B86"/>
                </a:solidFill>
              </a:defRPr>
            </a:lvl1pPr>
          </a:lstStyle>
          <a:p>
            <a:pPr/>
            <a:r>
              <a:t>/api</a:t>
            </a:r>
          </a:p>
        </p:txBody>
      </p:sp>
      <p:sp>
        <p:nvSpPr>
          <p:cNvPr id="236" name="arrow-101"/>
          <p:cNvSpPr/>
          <p:nvPr/>
        </p:nvSpPr>
        <p:spPr>
          <a:xfrm>
            <a:off x="4846320" y="5097779"/>
            <a:ext cx="502920" cy="915"/>
          </a:xfrm>
          <a:prstGeom prst="line">
            <a:avLst/>
          </a:prstGeom>
          <a:ln w="25400">
            <a:solidFill>
              <a:srgbClr val="6B5B86"/>
            </a:solidFill>
            <a:tailEnd type="triangle"/>
          </a:ln>
        </p:spPr>
        <p:txBody>
          <a:bodyPr lIns="45719" rIns="45719"/>
          <a:lstStyle/>
          <a:p>
            <a:pPr/>
          </a:p>
        </p:txBody>
      </p:sp>
      <p:sp>
        <p:nvSpPr>
          <p:cNvPr id="237" name="arrow-102"/>
          <p:cNvSpPr/>
          <p:nvPr/>
        </p:nvSpPr>
        <p:spPr>
          <a:xfrm flipH="1">
            <a:off x="4846319" y="3931920"/>
            <a:ext cx="2606041" cy="914401"/>
          </a:xfrm>
          <a:prstGeom prst="line">
            <a:avLst/>
          </a:prstGeom>
          <a:ln w="25400">
            <a:solidFill>
              <a:srgbClr val="6B5B86"/>
            </a:solidFill>
            <a:prstDash val="dash"/>
            <a:tailEnd type="triangle"/>
          </a:ln>
        </p:spPr>
        <p:txBody>
          <a:bodyPr lIns="45719" rIns="45719"/>
          <a:lstStyle/>
          <a:p>
            <a:pPr/>
          </a:p>
        </p:txBody>
      </p:sp>
      <p:sp>
        <p:nvSpPr>
          <p:cNvPr id="238" name="text-103"/>
          <p:cNvSpPr txBox="1"/>
          <p:nvPr/>
        </p:nvSpPr>
        <p:spPr>
          <a:xfrm>
            <a:off x="5486400" y="4047666"/>
            <a:ext cx="17373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B5B86"/>
                </a:solidFill>
              </a:defRPr>
            </a:lvl1pPr>
          </a:lstStyle>
          <a:p>
            <a:pPr/>
            <a:r>
              <a:t>scrapes /metrics</a:t>
            </a:r>
          </a:p>
        </p:txBody>
      </p:sp>
      <p:sp>
        <p:nvSpPr>
          <p:cNvPr id="239" name="arrow-104"/>
          <p:cNvSpPr/>
          <p:nvPr/>
        </p:nvSpPr>
        <p:spPr>
          <a:xfrm flipV="1">
            <a:off x="8229600" y="4114799"/>
            <a:ext cx="915" cy="594361"/>
          </a:xfrm>
          <a:prstGeom prst="line">
            <a:avLst/>
          </a:prstGeom>
          <a:ln w="25400">
            <a:solidFill>
              <a:srgbClr val="6B5B86"/>
            </a:solidFill>
            <a:tailEnd type="triangle"/>
          </a:ln>
        </p:spPr>
        <p:txBody>
          <a:bodyPr lIns="45719" rIns="45719"/>
          <a:lstStyle/>
          <a:p>
            <a:pPr/>
          </a:p>
        </p:txBody>
      </p:sp>
      <p:sp>
        <p:nvSpPr>
          <p:cNvPr id="240" name="arrow-105"/>
          <p:cNvSpPr/>
          <p:nvPr/>
        </p:nvSpPr>
        <p:spPr>
          <a:xfrm>
            <a:off x="8343900" y="2240279"/>
            <a:ext cx="915" cy="548642"/>
          </a:xfrm>
          <a:prstGeom prst="line">
            <a:avLst/>
          </a:prstGeom>
          <a:ln w="25400">
            <a:solidFill>
              <a:srgbClr val="6B5B86"/>
            </a:solidFill>
            <a:tailEnd type="triangle"/>
          </a:ln>
        </p:spPr>
        <p:txBody>
          <a:bodyPr lIns="45719" rIns="45719"/>
          <a:lstStyle/>
          <a:p>
            <a:pPr/>
          </a:p>
        </p:txBody>
      </p:sp>
      <p:grpSp>
        <p:nvGrpSpPr>
          <p:cNvPr id="243" name="node-106"/>
          <p:cNvGrpSpPr/>
          <p:nvPr/>
        </p:nvGrpSpPr>
        <p:grpSpPr>
          <a:xfrm>
            <a:off x="9692640" y="1463039"/>
            <a:ext cx="1920241" cy="777241"/>
            <a:chOff x="0" y="0"/>
            <a:chExt cx="1920239" cy="777240"/>
          </a:xfrm>
        </p:grpSpPr>
        <p:sp>
          <p:nvSpPr>
            <p:cNvPr id="241" name="Rounded Rectangle"/>
            <p:cNvSpPr/>
            <p:nvPr/>
          </p:nvSpPr>
          <p:spPr>
            <a:xfrm>
              <a:off x="0" y="0"/>
              <a:ext cx="1920240" cy="777241"/>
            </a:xfrm>
            <a:prstGeom prst="roundRect">
              <a:avLst>
                <a:gd name="adj" fmla="val 16471"/>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242" name="Terraform"/>
            <p:cNvSpPr txBox="1"/>
            <p:nvPr/>
          </p:nvSpPr>
          <p:spPr>
            <a:xfrm>
              <a:off x="37495" y="279839"/>
              <a:ext cx="184525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Terraform</a:t>
              </a:r>
            </a:p>
          </p:txBody>
        </p:sp>
      </p:grpSp>
      <p:grpSp>
        <p:nvGrpSpPr>
          <p:cNvPr id="246" name="node-107"/>
          <p:cNvGrpSpPr/>
          <p:nvPr/>
        </p:nvGrpSpPr>
        <p:grpSpPr>
          <a:xfrm>
            <a:off x="9692640" y="2697479"/>
            <a:ext cx="1920241" cy="868681"/>
            <a:chOff x="0" y="0"/>
            <a:chExt cx="1920239" cy="868680"/>
          </a:xfrm>
        </p:grpSpPr>
        <p:sp>
          <p:nvSpPr>
            <p:cNvPr id="244" name="Rounded Rectangle"/>
            <p:cNvSpPr/>
            <p:nvPr/>
          </p:nvSpPr>
          <p:spPr>
            <a:xfrm>
              <a:off x="0" y="0"/>
              <a:ext cx="1920240" cy="868681"/>
            </a:xfrm>
            <a:prstGeom prst="roundRect">
              <a:avLst>
                <a:gd name="adj" fmla="val 14737"/>
              </a:avLst>
            </a:prstGeom>
            <a:solidFill>
              <a:srgbClr val="FFF4F8"/>
            </a:solidFill>
            <a:ln w="12700" cap="flat">
              <a:noFill/>
              <a:miter lim="400000"/>
            </a:ln>
            <a:effectLst/>
          </p:spPr>
          <p:txBody>
            <a:bodyPr wrap="square" lIns="45719" tIns="45719" rIns="45719" bIns="45719" numCol="1" anchor="ctr">
              <a:noAutofit/>
            </a:bodyPr>
            <a:lstStyle/>
            <a:p>
              <a:pPr algn="ctr">
                <a:defRPr sz="1300"/>
              </a:pPr>
            </a:p>
          </p:txBody>
        </p:sp>
        <p:sp>
          <p:nvSpPr>
            <p:cNvPr id="245" name="AWS…"/>
            <p:cNvSpPr txBox="1"/>
            <p:nvPr/>
          </p:nvSpPr>
          <p:spPr>
            <a:xfrm>
              <a:off x="37495" y="223959"/>
              <a:ext cx="184525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AWS</a:t>
              </a:r>
            </a:p>
            <a:p>
              <a:pPr algn="ctr">
                <a:defRPr b="1" sz="1300"/>
              </a:pPr>
              <a:r>
                <a:t>VPC + EKS</a:t>
              </a:r>
            </a:p>
          </p:txBody>
        </p:sp>
      </p:grpSp>
      <p:sp>
        <p:nvSpPr>
          <p:cNvPr id="247" name="arrow-108"/>
          <p:cNvSpPr/>
          <p:nvPr/>
        </p:nvSpPr>
        <p:spPr>
          <a:xfrm>
            <a:off x="10652759" y="2240279"/>
            <a:ext cx="915" cy="457201"/>
          </a:xfrm>
          <a:prstGeom prst="line">
            <a:avLst/>
          </a:prstGeom>
          <a:ln w="25400">
            <a:solidFill>
              <a:srgbClr val="6B5B86"/>
            </a:solidFill>
            <a:tailEnd type="triangle"/>
          </a:ln>
        </p:spPr>
        <p:txBody>
          <a:bodyPr lIns="45719" rIns="45719"/>
          <a:lstStyle/>
          <a:p>
            <a:pPr/>
          </a:p>
        </p:txBody>
      </p:sp>
      <p:grpSp>
        <p:nvGrpSpPr>
          <p:cNvPr id="250" name="node-109"/>
          <p:cNvGrpSpPr/>
          <p:nvPr/>
        </p:nvGrpSpPr>
        <p:grpSpPr>
          <a:xfrm>
            <a:off x="9692640" y="4160520"/>
            <a:ext cx="1920241" cy="868681"/>
            <a:chOff x="0" y="0"/>
            <a:chExt cx="1920239" cy="868680"/>
          </a:xfrm>
        </p:grpSpPr>
        <p:sp>
          <p:nvSpPr>
            <p:cNvPr id="248" name="Rounded Rectangle"/>
            <p:cNvSpPr/>
            <p:nvPr/>
          </p:nvSpPr>
          <p:spPr>
            <a:xfrm>
              <a:off x="0" y="0"/>
              <a:ext cx="1920240" cy="868681"/>
            </a:xfrm>
            <a:prstGeom prst="roundRect">
              <a:avLst>
                <a:gd name="adj" fmla="val 14737"/>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249" name="Argo CD…"/>
            <p:cNvSpPr txBox="1"/>
            <p:nvPr/>
          </p:nvSpPr>
          <p:spPr>
            <a:xfrm>
              <a:off x="37495" y="223959"/>
              <a:ext cx="184525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Argo CD</a:t>
              </a:r>
            </a:p>
            <a:p>
              <a:pPr algn="ctr">
                <a:defRPr b="1" sz="1300"/>
              </a:pPr>
              <a:r>
                <a:t>GitOps</a:t>
              </a:r>
            </a:p>
          </p:txBody>
        </p:sp>
      </p:grpSp>
      <p:sp>
        <p:nvSpPr>
          <p:cNvPr id="251" name="arrow-110"/>
          <p:cNvSpPr/>
          <p:nvPr/>
        </p:nvSpPr>
        <p:spPr>
          <a:xfrm flipH="1">
            <a:off x="9235439" y="4594859"/>
            <a:ext cx="457201" cy="915"/>
          </a:xfrm>
          <a:prstGeom prst="line">
            <a:avLst/>
          </a:prstGeom>
          <a:ln w="25400">
            <a:solidFill>
              <a:srgbClr val="6B5B86"/>
            </a:solidFill>
            <a:tailEnd type="triangle"/>
          </a:ln>
        </p:spPr>
        <p:txBody>
          <a:bodyPr lIns="45719" rIns="45719"/>
          <a:lstStyle/>
          <a:p>
            <a:pPr/>
          </a:p>
        </p:txBody>
      </p:sp>
      <p:sp>
        <p:nvSpPr>
          <p:cNvPr id="252" name="text-111"/>
          <p:cNvSpPr txBox="1"/>
          <p:nvPr/>
        </p:nvSpPr>
        <p:spPr>
          <a:xfrm>
            <a:off x="9692640" y="5428156"/>
            <a:ext cx="19202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B5B86"/>
                </a:solidFill>
              </a:defRPr>
            </a:lvl1pPr>
          </a:lstStyle>
          <a:p>
            <a:pPr/>
            <a:r>
              <a:t>pulls the Helm chart from GitHub and keeps the cluster in sync</a:t>
            </a:r>
          </a:p>
        </p:txBody>
      </p:sp>
      <p:sp>
        <p:nvSpPr>
          <p:cNvPr id="253"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Text 0"/>
          <p:cNvSpPr txBox="1"/>
          <p:nvPr>
            <p:ph type="title"/>
          </p:nvPr>
        </p:nvSpPr>
        <p:spPr>
          <a:xfrm>
            <a:off x="548639" y="347472"/>
            <a:ext cx="9692642" cy="777241"/>
          </a:xfrm>
          <a:prstGeom prst="rect">
            <a:avLst/>
          </a:prstGeom>
        </p:spPr>
        <p:txBody>
          <a:bodyPr lIns="0" tIns="0" rIns="0" bIns="0" anchor="ctr"/>
          <a:lstStyle/>
          <a:p>
            <a:pPr/>
            <a:r>
              <a:t>My toolbox</a:t>
            </a:r>
          </a:p>
        </p:txBody>
      </p:sp>
      <p:sp>
        <p:nvSpPr>
          <p:cNvPr id="258" name="card-112"/>
          <p:cNvSpPr/>
          <p:nvPr/>
        </p:nvSpPr>
        <p:spPr>
          <a:xfrm>
            <a:off x="548640"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59" name="bubble-113"/>
          <p:cNvSpPr/>
          <p:nvPr/>
        </p:nvSpPr>
        <p:spPr>
          <a:xfrm>
            <a:off x="777240" y="1764792"/>
            <a:ext cx="777241" cy="777241"/>
          </a:xfrm>
          <a:prstGeom prst="ellipse">
            <a:avLst/>
          </a:prstGeom>
          <a:solidFill>
            <a:schemeClr val="accent5"/>
          </a:solidFill>
          <a:ln w="12700">
            <a:miter lim="400000"/>
          </a:ln>
        </p:spPr>
        <p:txBody>
          <a:bodyPr lIns="45719" rIns="45719"/>
          <a:lstStyle/>
          <a:p>
            <a:pPr/>
          </a:p>
        </p:txBody>
      </p:sp>
      <p:pic>
        <p:nvPicPr>
          <p:cNvPr id="260" name="icon-114" descr="icon-114"/>
          <p:cNvPicPr>
            <a:picLocks noChangeAspect="1"/>
          </p:cNvPicPr>
          <p:nvPr/>
        </p:nvPicPr>
        <p:blipFill>
          <a:blip r:embed="rId3">
            <a:extLst/>
          </a:blip>
          <a:stretch>
            <a:fillRect/>
          </a:stretch>
        </p:blipFill>
        <p:spPr>
          <a:xfrm>
            <a:off x="963777" y="1951329"/>
            <a:ext cx="404167" cy="404166"/>
          </a:xfrm>
          <a:prstGeom prst="rect">
            <a:avLst/>
          </a:prstGeom>
          <a:ln w="12700">
            <a:miter lim="400000"/>
          </a:ln>
        </p:spPr>
      </p:pic>
      <p:sp>
        <p:nvSpPr>
          <p:cNvPr id="261" name="text-115"/>
          <p:cNvSpPr txBox="1"/>
          <p:nvPr/>
        </p:nvSpPr>
        <p:spPr>
          <a:xfrm>
            <a:off x="1664207" y="196067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React + Vite</a:t>
            </a:r>
            <a:endParaRPr sz="1400"/>
          </a:p>
          <a:p>
            <a:pPr>
              <a:defRPr sz="1200">
                <a:solidFill>
                  <a:srgbClr val="6B5B86"/>
                </a:solidFill>
              </a:defRPr>
            </a:pPr>
            <a:r>
              <a:t>frontend</a:t>
            </a:r>
          </a:p>
        </p:txBody>
      </p:sp>
      <p:sp>
        <p:nvSpPr>
          <p:cNvPr id="262" name="card-116"/>
          <p:cNvSpPr/>
          <p:nvPr/>
        </p:nvSpPr>
        <p:spPr>
          <a:xfrm>
            <a:off x="3379622"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63" name="bubble-117"/>
          <p:cNvSpPr/>
          <p:nvPr/>
        </p:nvSpPr>
        <p:spPr>
          <a:xfrm>
            <a:off x="3608222" y="1764792"/>
            <a:ext cx="777241" cy="777241"/>
          </a:xfrm>
          <a:prstGeom prst="ellipse">
            <a:avLst/>
          </a:prstGeom>
          <a:solidFill>
            <a:schemeClr val="accent3"/>
          </a:solidFill>
          <a:ln w="12700">
            <a:miter lim="400000"/>
          </a:ln>
        </p:spPr>
        <p:txBody>
          <a:bodyPr lIns="45719" rIns="45719"/>
          <a:lstStyle/>
          <a:p>
            <a:pPr/>
          </a:p>
        </p:txBody>
      </p:sp>
      <p:pic>
        <p:nvPicPr>
          <p:cNvPr id="264" name="icon-118" descr="icon-118"/>
          <p:cNvPicPr>
            <a:picLocks noChangeAspect="1"/>
          </p:cNvPicPr>
          <p:nvPr/>
        </p:nvPicPr>
        <p:blipFill>
          <a:blip r:embed="rId4">
            <a:extLst/>
          </a:blip>
          <a:stretch>
            <a:fillRect/>
          </a:stretch>
        </p:blipFill>
        <p:spPr>
          <a:xfrm>
            <a:off x="3794759" y="1951329"/>
            <a:ext cx="404166" cy="404166"/>
          </a:xfrm>
          <a:prstGeom prst="rect">
            <a:avLst/>
          </a:prstGeom>
          <a:ln w="12700">
            <a:miter lim="400000"/>
          </a:ln>
        </p:spPr>
      </p:pic>
      <p:sp>
        <p:nvSpPr>
          <p:cNvPr id="265" name="text-119"/>
          <p:cNvSpPr txBox="1"/>
          <p:nvPr/>
        </p:nvSpPr>
        <p:spPr>
          <a:xfrm>
            <a:off x="4495189" y="196067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FastAPI</a:t>
            </a:r>
            <a:endParaRPr sz="1400"/>
          </a:p>
          <a:p>
            <a:pPr>
              <a:defRPr sz="1200">
                <a:solidFill>
                  <a:srgbClr val="6B5B86"/>
                </a:solidFill>
              </a:defRPr>
            </a:pPr>
            <a:r>
              <a:t>backend API</a:t>
            </a:r>
          </a:p>
        </p:txBody>
      </p:sp>
      <p:sp>
        <p:nvSpPr>
          <p:cNvPr id="266" name="card-120"/>
          <p:cNvSpPr/>
          <p:nvPr/>
        </p:nvSpPr>
        <p:spPr>
          <a:xfrm>
            <a:off x="6210605"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67" name="bubble-121"/>
          <p:cNvSpPr/>
          <p:nvPr/>
        </p:nvSpPr>
        <p:spPr>
          <a:xfrm>
            <a:off x="6439205" y="1764792"/>
            <a:ext cx="777241" cy="777241"/>
          </a:xfrm>
          <a:prstGeom prst="ellipse">
            <a:avLst/>
          </a:prstGeom>
          <a:solidFill>
            <a:schemeClr val="accent2"/>
          </a:solidFill>
          <a:ln w="12700">
            <a:miter lim="400000"/>
          </a:ln>
        </p:spPr>
        <p:txBody>
          <a:bodyPr lIns="45719" rIns="45719"/>
          <a:lstStyle/>
          <a:p>
            <a:pPr/>
          </a:p>
        </p:txBody>
      </p:sp>
      <p:pic>
        <p:nvPicPr>
          <p:cNvPr id="268" name="icon-122" descr="icon-122"/>
          <p:cNvPicPr>
            <a:picLocks noChangeAspect="1"/>
          </p:cNvPicPr>
          <p:nvPr/>
        </p:nvPicPr>
        <p:blipFill>
          <a:blip r:embed="rId5">
            <a:extLst/>
          </a:blip>
          <a:stretch>
            <a:fillRect/>
          </a:stretch>
        </p:blipFill>
        <p:spPr>
          <a:xfrm>
            <a:off x="6625742" y="1951329"/>
            <a:ext cx="404166" cy="404166"/>
          </a:xfrm>
          <a:prstGeom prst="rect">
            <a:avLst/>
          </a:prstGeom>
          <a:ln w="12700">
            <a:miter lim="400000"/>
          </a:ln>
        </p:spPr>
      </p:pic>
      <p:sp>
        <p:nvSpPr>
          <p:cNvPr id="269" name="text-123"/>
          <p:cNvSpPr txBox="1"/>
          <p:nvPr/>
        </p:nvSpPr>
        <p:spPr>
          <a:xfrm>
            <a:off x="7326172" y="1960679"/>
            <a:ext cx="1389890"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PostgreSQL 16</a:t>
            </a:r>
            <a:endParaRPr sz="1400"/>
          </a:p>
          <a:p>
            <a:pPr>
              <a:defRPr sz="1200">
                <a:solidFill>
                  <a:srgbClr val="6B5B86"/>
                </a:solidFill>
              </a:defRPr>
            </a:pPr>
            <a:r>
              <a:t>database + Alembic</a:t>
            </a:r>
          </a:p>
        </p:txBody>
      </p:sp>
      <p:sp>
        <p:nvSpPr>
          <p:cNvPr id="270" name="card-124"/>
          <p:cNvSpPr/>
          <p:nvPr/>
        </p:nvSpPr>
        <p:spPr>
          <a:xfrm>
            <a:off x="9041586" y="1444752"/>
            <a:ext cx="2596897" cy="1417321"/>
          </a:xfrm>
          <a:prstGeom prst="roundRect">
            <a:avLst>
              <a:gd name="adj" fmla="val 11613"/>
            </a:avLst>
          </a:prstGeom>
          <a:solidFill>
            <a:srgbClr val="FFF4F8"/>
          </a:solidFill>
          <a:ln w="12700">
            <a:miter lim="400000"/>
          </a:ln>
        </p:spPr>
        <p:txBody>
          <a:bodyPr lIns="45719" rIns="45719"/>
          <a:lstStyle/>
          <a:p>
            <a:pPr/>
          </a:p>
        </p:txBody>
      </p:sp>
      <p:sp>
        <p:nvSpPr>
          <p:cNvPr id="271" name="bubble-125"/>
          <p:cNvSpPr/>
          <p:nvPr/>
        </p:nvSpPr>
        <p:spPr>
          <a:xfrm>
            <a:off x="9270186" y="1764792"/>
            <a:ext cx="777241" cy="777241"/>
          </a:xfrm>
          <a:prstGeom prst="ellipse">
            <a:avLst/>
          </a:prstGeom>
          <a:solidFill>
            <a:schemeClr val="accent4"/>
          </a:solidFill>
          <a:ln w="12700">
            <a:miter lim="400000"/>
          </a:ln>
        </p:spPr>
        <p:txBody>
          <a:bodyPr lIns="45719" rIns="45719"/>
          <a:lstStyle/>
          <a:p>
            <a:pPr/>
          </a:p>
        </p:txBody>
      </p:sp>
      <p:pic>
        <p:nvPicPr>
          <p:cNvPr id="272" name="icon-126" descr="icon-126"/>
          <p:cNvPicPr>
            <a:picLocks noChangeAspect="1"/>
          </p:cNvPicPr>
          <p:nvPr/>
        </p:nvPicPr>
        <p:blipFill>
          <a:blip r:embed="rId6">
            <a:extLst/>
          </a:blip>
          <a:stretch>
            <a:fillRect/>
          </a:stretch>
        </p:blipFill>
        <p:spPr>
          <a:xfrm>
            <a:off x="9456725" y="1951329"/>
            <a:ext cx="404166" cy="404166"/>
          </a:xfrm>
          <a:prstGeom prst="rect">
            <a:avLst/>
          </a:prstGeom>
          <a:ln w="12700">
            <a:miter lim="400000"/>
          </a:ln>
        </p:spPr>
      </p:pic>
      <p:sp>
        <p:nvSpPr>
          <p:cNvPr id="273" name="text-127"/>
          <p:cNvSpPr txBox="1"/>
          <p:nvPr/>
        </p:nvSpPr>
        <p:spPr>
          <a:xfrm>
            <a:off x="10157155" y="1865429"/>
            <a:ext cx="1389889"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pytest + ruff</a:t>
            </a:r>
            <a:endParaRPr sz="1400"/>
          </a:p>
          <a:p>
            <a:pPr>
              <a:defRPr sz="1200">
                <a:solidFill>
                  <a:srgbClr val="6B5B86"/>
                </a:solidFill>
              </a:defRPr>
            </a:pPr>
            <a:r>
              <a:t>tests, 80% coverage gate</a:t>
            </a:r>
          </a:p>
        </p:txBody>
      </p:sp>
      <p:sp>
        <p:nvSpPr>
          <p:cNvPr id="274" name="card-128"/>
          <p:cNvSpPr/>
          <p:nvPr/>
        </p:nvSpPr>
        <p:spPr>
          <a:xfrm>
            <a:off x="548640"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75" name="bubble-129"/>
          <p:cNvSpPr/>
          <p:nvPr/>
        </p:nvSpPr>
        <p:spPr>
          <a:xfrm>
            <a:off x="777240" y="3410711"/>
            <a:ext cx="777241" cy="777241"/>
          </a:xfrm>
          <a:prstGeom prst="ellipse">
            <a:avLst/>
          </a:prstGeom>
          <a:solidFill>
            <a:schemeClr val="accent5"/>
          </a:solidFill>
          <a:ln w="12700">
            <a:miter lim="400000"/>
          </a:ln>
        </p:spPr>
        <p:txBody>
          <a:bodyPr lIns="45719" rIns="45719"/>
          <a:lstStyle/>
          <a:p>
            <a:pPr/>
          </a:p>
        </p:txBody>
      </p:sp>
      <p:pic>
        <p:nvPicPr>
          <p:cNvPr id="276" name="icon-130" descr="icon-130"/>
          <p:cNvPicPr>
            <a:picLocks noChangeAspect="1"/>
          </p:cNvPicPr>
          <p:nvPr/>
        </p:nvPicPr>
        <p:blipFill>
          <a:blip r:embed="rId7">
            <a:extLst/>
          </a:blip>
          <a:stretch>
            <a:fillRect/>
          </a:stretch>
        </p:blipFill>
        <p:spPr>
          <a:xfrm>
            <a:off x="963777" y="3597249"/>
            <a:ext cx="404167" cy="404166"/>
          </a:xfrm>
          <a:prstGeom prst="rect">
            <a:avLst/>
          </a:prstGeom>
          <a:ln w="12700">
            <a:miter lim="400000"/>
          </a:ln>
        </p:spPr>
      </p:pic>
      <p:sp>
        <p:nvSpPr>
          <p:cNvPr id="277" name="text-131"/>
          <p:cNvSpPr txBox="1"/>
          <p:nvPr/>
        </p:nvSpPr>
        <p:spPr>
          <a:xfrm>
            <a:off x="1664207"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Docker</a:t>
            </a:r>
            <a:endParaRPr sz="1400"/>
          </a:p>
          <a:p>
            <a:pPr>
              <a:defRPr sz="1200">
                <a:solidFill>
                  <a:srgbClr val="6B5B86"/>
                </a:solidFill>
              </a:defRPr>
            </a:pPr>
            <a:r>
              <a:t>multi-stage, non-root</a:t>
            </a:r>
          </a:p>
        </p:txBody>
      </p:sp>
      <p:sp>
        <p:nvSpPr>
          <p:cNvPr id="278" name="card-132"/>
          <p:cNvSpPr/>
          <p:nvPr/>
        </p:nvSpPr>
        <p:spPr>
          <a:xfrm>
            <a:off x="3379622"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79" name="bubble-133"/>
          <p:cNvSpPr/>
          <p:nvPr/>
        </p:nvSpPr>
        <p:spPr>
          <a:xfrm>
            <a:off x="3608222" y="3410711"/>
            <a:ext cx="777241" cy="777241"/>
          </a:xfrm>
          <a:prstGeom prst="ellipse">
            <a:avLst/>
          </a:prstGeom>
          <a:solidFill>
            <a:schemeClr val="accent1"/>
          </a:solidFill>
          <a:ln w="12700">
            <a:miter lim="400000"/>
          </a:ln>
        </p:spPr>
        <p:txBody>
          <a:bodyPr lIns="45719" rIns="45719"/>
          <a:lstStyle/>
          <a:p>
            <a:pPr/>
          </a:p>
        </p:txBody>
      </p:sp>
      <p:pic>
        <p:nvPicPr>
          <p:cNvPr id="280" name="icon-134" descr="icon-134"/>
          <p:cNvPicPr>
            <a:picLocks noChangeAspect="1"/>
          </p:cNvPicPr>
          <p:nvPr/>
        </p:nvPicPr>
        <p:blipFill>
          <a:blip r:embed="rId8">
            <a:extLst/>
          </a:blip>
          <a:stretch>
            <a:fillRect/>
          </a:stretch>
        </p:blipFill>
        <p:spPr>
          <a:xfrm>
            <a:off x="3794759" y="3597249"/>
            <a:ext cx="404166" cy="404166"/>
          </a:xfrm>
          <a:prstGeom prst="rect">
            <a:avLst/>
          </a:prstGeom>
          <a:ln w="12700">
            <a:miter lim="400000"/>
          </a:ln>
        </p:spPr>
      </p:pic>
      <p:sp>
        <p:nvSpPr>
          <p:cNvPr id="281" name="text-135"/>
          <p:cNvSpPr txBox="1"/>
          <p:nvPr/>
        </p:nvSpPr>
        <p:spPr>
          <a:xfrm>
            <a:off x="4495189"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GitHub Actions</a:t>
            </a:r>
            <a:endParaRPr sz="1400"/>
          </a:p>
          <a:p>
            <a:pPr>
              <a:defRPr sz="1200">
                <a:solidFill>
                  <a:srgbClr val="6B5B86"/>
                </a:solidFill>
              </a:defRPr>
            </a:pPr>
            <a:r>
              <a:t>CI/CD, GHCR</a:t>
            </a:r>
          </a:p>
        </p:txBody>
      </p:sp>
      <p:sp>
        <p:nvSpPr>
          <p:cNvPr id="282" name="card-136"/>
          <p:cNvSpPr/>
          <p:nvPr/>
        </p:nvSpPr>
        <p:spPr>
          <a:xfrm>
            <a:off x="6210605"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83" name="bubble-137"/>
          <p:cNvSpPr/>
          <p:nvPr/>
        </p:nvSpPr>
        <p:spPr>
          <a:xfrm>
            <a:off x="6439205" y="3410711"/>
            <a:ext cx="777241" cy="777241"/>
          </a:xfrm>
          <a:prstGeom prst="ellipse">
            <a:avLst/>
          </a:prstGeom>
          <a:solidFill>
            <a:schemeClr val="accent6"/>
          </a:solidFill>
          <a:ln w="12700">
            <a:miter lim="400000"/>
          </a:ln>
        </p:spPr>
        <p:txBody>
          <a:bodyPr lIns="45719" rIns="45719"/>
          <a:lstStyle/>
          <a:p>
            <a:pPr/>
          </a:p>
        </p:txBody>
      </p:sp>
      <p:pic>
        <p:nvPicPr>
          <p:cNvPr id="284" name="icon-138" descr="icon-138"/>
          <p:cNvPicPr>
            <a:picLocks noChangeAspect="1"/>
          </p:cNvPicPr>
          <p:nvPr/>
        </p:nvPicPr>
        <p:blipFill>
          <a:blip r:embed="rId9">
            <a:extLst/>
          </a:blip>
          <a:stretch>
            <a:fillRect/>
          </a:stretch>
        </p:blipFill>
        <p:spPr>
          <a:xfrm>
            <a:off x="6625742" y="3597249"/>
            <a:ext cx="404166" cy="404166"/>
          </a:xfrm>
          <a:prstGeom prst="rect">
            <a:avLst/>
          </a:prstGeom>
          <a:ln w="12700">
            <a:miter lim="400000"/>
          </a:ln>
        </p:spPr>
      </p:pic>
      <p:sp>
        <p:nvSpPr>
          <p:cNvPr id="285" name="text-139"/>
          <p:cNvSpPr txBox="1"/>
          <p:nvPr/>
        </p:nvSpPr>
        <p:spPr>
          <a:xfrm>
            <a:off x="7326172" y="3511349"/>
            <a:ext cx="1389890"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Trivy + friends</a:t>
            </a:r>
            <a:endParaRPr sz="1400"/>
          </a:p>
          <a:p>
            <a:pPr>
              <a:defRPr sz="1200">
                <a:solidFill>
                  <a:srgbClr val="6B5B86"/>
                </a:solidFill>
              </a:defRPr>
            </a:pPr>
            <a:r>
              <a:t>bandit, pip-audit, gitleaks</a:t>
            </a:r>
          </a:p>
        </p:txBody>
      </p:sp>
      <p:sp>
        <p:nvSpPr>
          <p:cNvPr id="286" name="card-140"/>
          <p:cNvSpPr/>
          <p:nvPr/>
        </p:nvSpPr>
        <p:spPr>
          <a:xfrm>
            <a:off x="9041586" y="3090672"/>
            <a:ext cx="2596897" cy="1417320"/>
          </a:xfrm>
          <a:prstGeom prst="roundRect">
            <a:avLst>
              <a:gd name="adj" fmla="val 11613"/>
            </a:avLst>
          </a:prstGeom>
          <a:solidFill>
            <a:srgbClr val="FFF4F8"/>
          </a:solidFill>
          <a:ln w="12700">
            <a:miter lim="400000"/>
          </a:ln>
        </p:spPr>
        <p:txBody>
          <a:bodyPr lIns="45719" rIns="45719"/>
          <a:lstStyle/>
          <a:p>
            <a:pPr/>
          </a:p>
        </p:txBody>
      </p:sp>
      <p:sp>
        <p:nvSpPr>
          <p:cNvPr id="287" name="bubble-141"/>
          <p:cNvSpPr/>
          <p:nvPr/>
        </p:nvSpPr>
        <p:spPr>
          <a:xfrm>
            <a:off x="9270186" y="3410711"/>
            <a:ext cx="777241" cy="777241"/>
          </a:xfrm>
          <a:prstGeom prst="ellipse">
            <a:avLst/>
          </a:prstGeom>
          <a:solidFill>
            <a:schemeClr val="accent2"/>
          </a:solidFill>
          <a:ln w="12700">
            <a:miter lim="400000"/>
          </a:ln>
        </p:spPr>
        <p:txBody>
          <a:bodyPr lIns="45719" rIns="45719"/>
          <a:lstStyle/>
          <a:p>
            <a:pPr/>
          </a:p>
        </p:txBody>
      </p:sp>
      <p:pic>
        <p:nvPicPr>
          <p:cNvPr id="288" name="icon-142" descr="icon-142"/>
          <p:cNvPicPr>
            <a:picLocks noChangeAspect="1"/>
          </p:cNvPicPr>
          <p:nvPr/>
        </p:nvPicPr>
        <p:blipFill>
          <a:blip r:embed="rId10">
            <a:extLst/>
          </a:blip>
          <a:stretch>
            <a:fillRect/>
          </a:stretch>
        </p:blipFill>
        <p:spPr>
          <a:xfrm>
            <a:off x="9456725" y="3597249"/>
            <a:ext cx="404166" cy="404166"/>
          </a:xfrm>
          <a:prstGeom prst="rect">
            <a:avLst/>
          </a:prstGeom>
          <a:ln w="12700">
            <a:miter lim="400000"/>
          </a:ln>
        </p:spPr>
      </p:pic>
      <p:sp>
        <p:nvSpPr>
          <p:cNvPr id="289" name="text-143"/>
          <p:cNvSpPr txBox="1"/>
          <p:nvPr/>
        </p:nvSpPr>
        <p:spPr>
          <a:xfrm>
            <a:off x="10157155"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Kubernetes</a:t>
            </a:r>
            <a:endParaRPr sz="1400"/>
          </a:p>
          <a:p>
            <a:pPr>
              <a:defRPr sz="1200">
                <a:solidFill>
                  <a:srgbClr val="6B5B86"/>
                </a:solidFill>
              </a:defRPr>
            </a:pPr>
            <a:r>
              <a:t>minikube / EKS</a:t>
            </a:r>
          </a:p>
        </p:txBody>
      </p:sp>
      <p:sp>
        <p:nvSpPr>
          <p:cNvPr id="290" name="card-144"/>
          <p:cNvSpPr/>
          <p:nvPr/>
        </p:nvSpPr>
        <p:spPr>
          <a:xfrm>
            <a:off x="548640"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1" name="bubble-145"/>
          <p:cNvSpPr/>
          <p:nvPr/>
        </p:nvSpPr>
        <p:spPr>
          <a:xfrm>
            <a:off x="777240" y="5056632"/>
            <a:ext cx="777241" cy="777241"/>
          </a:xfrm>
          <a:prstGeom prst="ellipse">
            <a:avLst/>
          </a:prstGeom>
          <a:solidFill>
            <a:schemeClr val="accent3"/>
          </a:solidFill>
          <a:ln w="12700">
            <a:miter lim="400000"/>
          </a:ln>
        </p:spPr>
        <p:txBody>
          <a:bodyPr lIns="45719" rIns="45719"/>
          <a:lstStyle/>
          <a:p>
            <a:pPr/>
          </a:p>
        </p:txBody>
      </p:sp>
      <p:pic>
        <p:nvPicPr>
          <p:cNvPr id="292" name="icon-146" descr="icon-146"/>
          <p:cNvPicPr>
            <a:picLocks noChangeAspect="1"/>
          </p:cNvPicPr>
          <p:nvPr/>
        </p:nvPicPr>
        <p:blipFill>
          <a:blip r:embed="rId11">
            <a:extLst/>
          </a:blip>
          <a:stretch>
            <a:fillRect/>
          </a:stretch>
        </p:blipFill>
        <p:spPr>
          <a:xfrm>
            <a:off x="963777" y="5243169"/>
            <a:ext cx="404167" cy="404166"/>
          </a:xfrm>
          <a:prstGeom prst="rect">
            <a:avLst/>
          </a:prstGeom>
          <a:ln w="12700">
            <a:miter lim="400000"/>
          </a:ln>
        </p:spPr>
      </p:pic>
      <p:sp>
        <p:nvSpPr>
          <p:cNvPr id="293" name="text-147"/>
          <p:cNvSpPr txBox="1"/>
          <p:nvPr/>
        </p:nvSpPr>
        <p:spPr>
          <a:xfrm>
            <a:off x="1664207"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Helm</a:t>
            </a:r>
            <a:endParaRPr sz="1400"/>
          </a:p>
          <a:p>
            <a:pPr>
              <a:defRPr sz="1200">
                <a:solidFill>
                  <a:srgbClr val="6B5B86"/>
                </a:solidFill>
              </a:defRPr>
            </a:pPr>
            <a:r>
              <a:t>one chart, dev + prod</a:t>
            </a:r>
          </a:p>
        </p:txBody>
      </p:sp>
      <p:sp>
        <p:nvSpPr>
          <p:cNvPr id="294" name="card-148"/>
          <p:cNvSpPr/>
          <p:nvPr/>
        </p:nvSpPr>
        <p:spPr>
          <a:xfrm>
            <a:off x="3379622"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5" name="bubble-149"/>
          <p:cNvSpPr/>
          <p:nvPr/>
        </p:nvSpPr>
        <p:spPr>
          <a:xfrm>
            <a:off x="3608222" y="5056632"/>
            <a:ext cx="777241" cy="777241"/>
          </a:xfrm>
          <a:prstGeom prst="ellipse">
            <a:avLst/>
          </a:prstGeom>
          <a:solidFill>
            <a:schemeClr val="accent2"/>
          </a:solidFill>
          <a:ln w="12700">
            <a:miter lim="400000"/>
          </a:ln>
        </p:spPr>
        <p:txBody>
          <a:bodyPr lIns="45719" rIns="45719"/>
          <a:lstStyle/>
          <a:p>
            <a:pPr/>
          </a:p>
        </p:txBody>
      </p:sp>
      <p:pic>
        <p:nvPicPr>
          <p:cNvPr id="296" name="icon-150" descr="icon-150"/>
          <p:cNvPicPr>
            <a:picLocks noChangeAspect="1"/>
          </p:cNvPicPr>
          <p:nvPr/>
        </p:nvPicPr>
        <p:blipFill>
          <a:blip r:embed="rId12">
            <a:extLst/>
          </a:blip>
          <a:stretch>
            <a:fillRect/>
          </a:stretch>
        </p:blipFill>
        <p:spPr>
          <a:xfrm>
            <a:off x="3794759" y="5243169"/>
            <a:ext cx="404166" cy="404166"/>
          </a:xfrm>
          <a:prstGeom prst="rect">
            <a:avLst/>
          </a:prstGeom>
          <a:ln w="12700">
            <a:miter lim="400000"/>
          </a:ln>
        </p:spPr>
      </p:pic>
      <p:sp>
        <p:nvSpPr>
          <p:cNvPr id="297" name="text-151"/>
          <p:cNvSpPr txBox="1"/>
          <p:nvPr/>
        </p:nvSpPr>
        <p:spPr>
          <a:xfrm>
            <a:off x="4495189"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Terraform</a:t>
            </a:r>
            <a:endParaRPr sz="1400"/>
          </a:p>
          <a:p>
            <a:pPr>
              <a:defRPr sz="1200">
                <a:solidFill>
                  <a:srgbClr val="6B5B86"/>
                </a:solidFill>
              </a:defRPr>
            </a:pPr>
            <a:r>
              <a:t>AWS VPC + EKS</a:t>
            </a:r>
          </a:p>
        </p:txBody>
      </p:sp>
      <p:sp>
        <p:nvSpPr>
          <p:cNvPr id="298" name="card-152"/>
          <p:cNvSpPr/>
          <p:nvPr/>
        </p:nvSpPr>
        <p:spPr>
          <a:xfrm>
            <a:off x="6210605"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9" name="bubble-153"/>
          <p:cNvSpPr/>
          <p:nvPr/>
        </p:nvSpPr>
        <p:spPr>
          <a:xfrm>
            <a:off x="6439205" y="5056632"/>
            <a:ext cx="777241" cy="777241"/>
          </a:xfrm>
          <a:prstGeom prst="ellipse">
            <a:avLst/>
          </a:prstGeom>
          <a:solidFill>
            <a:schemeClr val="accent6"/>
          </a:solidFill>
          <a:ln w="12700">
            <a:miter lim="400000"/>
          </a:ln>
        </p:spPr>
        <p:txBody>
          <a:bodyPr lIns="45719" rIns="45719"/>
          <a:lstStyle/>
          <a:p>
            <a:pPr/>
          </a:p>
        </p:txBody>
      </p:sp>
      <p:pic>
        <p:nvPicPr>
          <p:cNvPr id="300" name="icon-154" descr="icon-154"/>
          <p:cNvPicPr>
            <a:picLocks noChangeAspect="1"/>
          </p:cNvPicPr>
          <p:nvPr/>
        </p:nvPicPr>
        <p:blipFill>
          <a:blip r:embed="rId13">
            <a:extLst/>
          </a:blip>
          <a:stretch>
            <a:fillRect/>
          </a:stretch>
        </p:blipFill>
        <p:spPr>
          <a:xfrm>
            <a:off x="6625742" y="5243169"/>
            <a:ext cx="404166" cy="404166"/>
          </a:xfrm>
          <a:prstGeom prst="rect">
            <a:avLst/>
          </a:prstGeom>
          <a:ln w="12700">
            <a:miter lim="400000"/>
          </a:ln>
        </p:spPr>
      </p:pic>
      <p:sp>
        <p:nvSpPr>
          <p:cNvPr id="301" name="text-155"/>
          <p:cNvSpPr txBox="1"/>
          <p:nvPr/>
        </p:nvSpPr>
        <p:spPr>
          <a:xfrm>
            <a:off x="7326172" y="5138219"/>
            <a:ext cx="1389890" cy="6140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Prometheus + Grafana</a:t>
            </a:r>
            <a:endParaRPr sz="1400"/>
          </a:p>
          <a:p>
            <a:pPr>
              <a:defRPr sz="1200">
                <a:solidFill>
                  <a:srgbClr val="6B5B86"/>
                </a:solidFill>
              </a:defRPr>
            </a:pPr>
            <a:r>
              <a:t>metrics + dashboard</a:t>
            </a:r>
          </a:p>
        </p:txBody>
      </p:sp>
      <p:sp>
        <p:nvSpPr>
          <p:cNvPr id="302" name="card-156"/>
          <p:cNvSpPr/>
          <p:nvPr/>
        </p:nvSpPr>
        <p:spPr>
          <a:xfrm>
            <a:off x="9041586" y="4736591"/>
            <a:ext cx="2596897" cy="1417321"/>
          </a:xfrm>
          <a:prstGeom prst="roundRect">
            <a:avLst>
              <a:gd name="adj" fmla="val 11613"/>
            </a:avLst>
          </a:prstGeom>
          <a:solidFill>
            <a:srgbClr val="FFF4F8"/>
          </a:solidFill>
          <a:ln w="12700">
            <a:miter lim="400000"/>
          </a:ln>
        </p:spPr>
        <p:txBody>
          <a:bodyPr lIns="45719" rIns="45719"/>
          <a:lstStyle/>
          <a:p>
            <a:pPr/>
          </a:p>
        </p:txBody>
      </p:sp>
      <p:sp>
        <p:nvSpPr>
          <p:cNvPr id="303" name="bubble-157"/>
          <p:cNvSpPr/>
          <p:nvPr/>
        </p:nvSpPr>
        <p:spPr>
          <a:xfrm>
            <a:off x="9270186" y="5056632"/>
            <a:ext cx="777241" cy="777241"/>
          </a:xfrm>
          <a:prstGeom prst="ellipse">
            <a:avLst/>
          </a:prstGeom>
          <a:solidFill>
            <a:schemeClr val="accent1"/>
          </a:solidFill>
          <a:ln w="12700">
            <a:miter lim="400000"/>
          </a:ln>
        </p:spPr>
        <p:txBody>
          <a:bodyPr lIns="45719" rIns="45719"/>
          <a:lstStyle/>
          <a:p>
            <a:pPr/>
          </a:p>
        </p:txBody>
      </p:sp>
      <p:pic>
        <p:nvPicPr>
          <p:cNvPr id="304" name="icon-158" descr="icon-158"/>
          <p:cNvPicPr>
            <a:picLocks noChangeAspect="1"/>
          </p:cNvPicPr>
          <p:nvPr/>
        </p:nvPicPr>
        <p:blipFill>
          <a:blip r:embed="rId14">
            <a:extLst/>
          </a:blip>
          <a:stretch>
            <a:fillRect/>
          </a:stretch>
        </p:blipFill>
        <p:spPr>
          <a:xfrm>
            <a:off x="9456725" y="5243169"/>
            <a:ext cx="404166" cy="404166"/>
          </a:xfrm>
          <a:prstGeom prst="rect">
            <a:avLst/>
          </a:prstGeom>
          <a:ln w="12700">
            <a:miter lim="400000"/>
          </a:ln>
        </p:spPr>
      </p:pic>
      <p:sp>
        <p:nvSpPr>
          <p:cNvPr id="305" name="text-159"/>
          <p:cNvSpPr txBox="1"/>
          <p:nvPr/>
        </p:nvSpPr>
        <p:spPr>
          <a:xfrm>
            <a:off x="10157155"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Argo CD</a:t>
            </a:r>
            <a:endParaRPr sz="1400"/>
          </a:p>
          <a:p>
            <a:pPr>
              <a:defRPr sz="1200">
                <a:solidFill>
                  <a:srgbClr val="6B5B86"/>
                </a:solidFill>
              </a:defRPr>
            </a:pPr>
            <a:r>
              <a:t>GitOps, self-heal</a:t>
            </a:r>
          </a:p>
        </p:txBody>
      </p:sp>
      <p:sp>
        <p:nvSpPr>
          <p:cNvPr id="306"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12" name="num-160"/>
          <p:cNvGrpSpPr/>
          <p:nvPr/>
        </p:nvGrpSpPr>
        <p:grpSpPr>
          <a:xfrm>
            <a:off x="731519" y="1325879"/>
            <a:ext cx="1234442" cy="1234442"/>
            <a:chOff x="0" y="0"/>
            <a:chExt cx="1234440" cy="1234440"/>
          </a:xfrm>
        </p:grpSpPr>
        <p:sp>
          <p:nvSpPr>
            <p:cNvPr id="310" name="Circle"/>
            <p:cNvSpPr/>
            <p:nvPr/>
          </p:nvSpPr>
          <p:spPr>
            <a:xfrm>
              <a:off x="-1" y="-1"/>
              <a:ext cx="1234442" cy="12344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4000"/>
              </a:pPr>
            </a:p>
          </p:txBody>
        </p:sp>
        <p:sp>
          <p:nvSpPr>
            <p:cNvPr id="311" name="02"/>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02</a:t>
              </a:r>
            </a:p>
          </p:txBody>
        </p:sp>
      </p:grpSp>
      <p:sp>
        <p:nvSpPr>
          <p:cNvPr id="313" name="Text 0"/>
          <p:cNvSpPr txBox="1"/>
          <p:nvPr>
            <p:ph type="title"/>
          </p:nvPr>
        </p:nvSpPr>
        <p:spPr>
          <a:xfrm>
            <a:off x="731520" y="2788920"/>
            <a:ext cx="7680960" cy="1097281"/>
          </a:xfrm>
          <a:prstGeom prst="rect">
            <a:avLst/>
          </a:prstGeom>
        </p:spPr>
        <p:txBody>
          <a:bodyPr lIns="0" tIns="0" rIns="0" bIns="0" anchor="ctr"/>
          <a:lstStyle/>
          <a:p>
            <a:pPr/>
            <a:r>
              <a:t>Build, test &amp; ship</a:t>
            </a:r>
          </a:p>
        </p:txBody>
      </p:sp>
      <p:sp>
        <p:nvSpPr>
          <p:cNvPr id="314" name="Text 0"/>
          <p:cNvSpPr txBox="1"/>
          <p:nvPr>
            <p:ph type="body" sz="quarter" idx="1"/>
          </p:nvPr>
        </p:nvSpPr>
        <p:spPr>
          <a:prstGeom prst="rect">
            <a:avLst/>
          </a:prstGeom>
        </p:spPr>
        <p:txBody>
          <a:bodyPr lIns="0" tIns="0" rIns="0" bIns="0"/>
          <a:lstStyle/>
          <a:p>
            <a:pPr/>
            <a:r>
              <a:t>Tests, Docker images, the CI/CD pipeline and its security gate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Text 0"/>
          <p:cNvSpPr txBox="1"/>
          <p:nvPr>
            <p:ph type="title"/>
          </p:nvPr>
        </p:nvSpPr>
        <p:spPr>
          <a:xfrm>
            <a:off x="548639" y="347472"/>
            <a:ext cx="9692642" cy="777241"/>
          </a:xfrm>
          <a:prstGeom prst="rect">
            <a:avLst/>
          </a:prstGeom>
        </p:spPr>
        <p:txBody>
          <a:bodyPr lIns="0" tIns="0" rIns="0" bIns="0" anchor="ctr"/>
          <a:lstStyle/>
          <a:p>
            <a:pPr/>
            <a:r>
              <a:t>Tested before it ships</a:t>
            </a:r>
          </a:p>
        </p:txBody>
      </p:sp>
      <p:sp>
        <p:nvSpPr>
          <p:cNvPr id="319" name="card-162"/>
          <p:cNvSpPr/>
          <p:nvPr/>
        </p:nvSpPr>
        <p:spPr>
          <a:xfrm>
            <a:off x="548640" y="1463039"/>
            <a:ext cx="5120641" cy="1024129"/>
          </a:xfrm>
          <a:prstGeom prst="roundRect">
            <a:avLst>
              <a:gd name="adj" fmla="val 16071"/>
            </a:avLst>
          </a:prstGeom>
          <a:solidFill>
            <a:srgbClr val="FFF4F8"/>
          </a:solidFill>
          <a:ln w="12700">
            <a:miter lim="400000"/>
          </a:ln>
        </p:spPr>
        <p:txBody>
          <a:bodyPr lIns="45719" rIns="45719"/>
          <a:lstStyle/>
          <a:p>
            <a:pPr/>
          </a:p>
        </p:txBody>
      </p:sp>
      <p:sp>
        <p:nvSpPr>
          <p:cNvPr id="320" name="dot-163"/>
          <p:cNvSpPr/>
          <p:nvPr/>
        </p:nvSpPr>
        <p:spPr>
          <a:xfrm>
            <a:off x="777240" y="1746504"/>
            <a:ext cx="457201" cy="457201"/>
          </a:xfrm>
          <a:prstGeom prst="ellipse">
            <a:avLst/>
          </a:prstGeom>
          <a:solidFill>
            <a:schemeClr val="accent3"/>
          </a:solidFill>
          <a:ln w="12700">
            <a:miter lim="400000"/>
          </a:ln>
        </p:spPr>
        <p:txBody>
          <a:bodyPr lIns="45719" rIns="45719"/>
          <a:lstStyle/>
          <a:p>
            <a:pPr/>
          </a:p>
        </p:txBody>
      </p:sp>
      <p:sp>
        <p:nvSpPr>
          <p:cNvPr id="321" name="text-164"/>
          <p:cNvSpPr txBox="1"/>
          <p:nvPr/>
        </p:nvSpPr>
        <p:spPr>
          <a:xfrm>
            <a:off x="1417319" y="1720012"/>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19</a:t>
            </a:r>
          </a:p>
        </p:txBody>
      </p:sp>
      <p:sp>
        <p:nvSpPr>
          <p:cNvPr id="322" name="text-165"/>
          <p:cNvSpPr txBox="1"/>
          <p:nvPr/>
        </p:nvSpPr>
        <p:spPr>
          <a:xfrm>
            <a:off x="3337559" y="1881826"/>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tests passed</a:t>
            </a:r>
          </a:p>
        </p:txBody>
      </p:sp>
      <p:sp>
        <p:nvSpPr>
          <p:cNvPr id="323" name="card-166"/>
          <p:cNvSpPr/>
          <p:nvPr/>
        </p:nvSpPr>
        <p:spPr>
          <a:xfrm>
            <a:off x="548640" y="2670048"/>
            <a:ext cx="5120641" cy="1024129"/>
          </a:xfrm>
          <a:prstGeom prst="roundRect">
            <a:avLst>
              <a:gd name="adj" fmla="val 16071"/>
            </a:avLst>
          </a:prstGeom>
          <a:solidFill>
            <a:srgbClr val="FFF4F8"/>
          </a:solidFill>
          <a:ln w="12700">
            <a:miter lim="400000"/>
          </a:ln>
        </p:spPr>
        <p:txBody>
          <a:bodyPr lIns="45719" rIns="45719"/>
          <a:lstStyle/>
          <a:p>
            <a:pPr/>
          </a:p>
        </p:txBody>
      </p:sp>
      <p:sp>
        <p:nvSpPr>
          <p:cNvPr id="324" name="dot-167"/>
          <p:cNvSpPr/>
          <p:nvPr/>
        </p:nvSpPr>
        <p:spPr>
          <a:xfrm>
            <a:off x="777240" y="2953511"/>
            <a:ext cx="457201" cy="457201"/>
          </a:xfrm>
          <a:prstGeom prst="ellipse">
            <a:avLst/>
          </a:prstGeom>
          <a:solidFill>
            <a:schemeClr val="accent1"/>
          </a:solidFill>
          <a:ln w="12700">
            <a:miter lim="400000"/>
          </a:ln>
        </p:spPr>
        <p:txBody>
          <a:bodyPr lIns="45719" rIns="45719"/>
          <a:lstStyle/>
          <a:p>
            <a:pPr/>
          </a:p>
        </p:txBody>
      </p:sp>
      <p:sp>
        <p:nvSpPr>
          <p:cNvPr id="325" name="text-168"/>
          <p:cNvSpPr txBox="1"/>
          <p:nvPr/>
        </p:nvSpPr>
        <p:spPr>
          <a:xfrm>
            <a:off x="1417319" y="2927020"/>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97.7%</a:t>
            </a:r>
          </a:p>
        </p:txBody>
      </p:sp>
      <p:sp>
        <p:nvSpPr>
          <p:cNvPr id="326" name="text-169"/>
          <p:cNvSpPr txBox="1"/>
          <p:nvPr/>
        </p:nvSpPr>
        <p:spPr>
          <a:xfrm>
            <a:off x="3337559" y="3088834"/>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code coverage (gate: 80%)</a:t>
            </a:r>
          </a:p>
        </p:txBody>
      </p:sp>
      <p:sp>
        <p:nvSpPr>
          <p:cNvPr id="327" name="card-170"/>
          <p:cNvSpPr/>
          <p:nvPr/>
        </p:nvSpPr>
        <p:spPr>
          <a:xfrm>
            <a:off x="548640" y="3877055"/>
            <a:ext cx="5120641" cy="1024129"/>
          </a:xfrm>
          <a:prstGeom prst="roundRect">
            <a:avLst>
              <a:gd name="adj" fmla="val 16071"/>
            </a:avLst>
          </a:prstGeom>
          <a:solidFill>
            <a:srgbClr val="FFF4F8"/>
          </a:solidFill>
          <a:ln w="12700">
            <a:miter lim="400000"/>
          </a:ln>
        </p:spPr>
        <p:txBody>
          <a:bodyPr lIns="45719" rIns="45719"/>
          <a:lstStyle/>
          <a:p>
            <a:pPr/>
          </a:p>
        </p:txBody>
      </p:sp>
      <p:sp>
        <p:nvSpPr>
          <p:cNvPr id="328" name="dot-171"/>
          <p:cNvSpPr/>
          <p:nvPr/>
        </p:nvSpPr>
        <p:spPr>
          <a:xfrm>
            <a:off x="777240" y="4160520"/>
            <a:ext cx="457201" cy="457201"/>
          </a:xfrm>
          <a:prstGeom prst="ellipse">
            <a:avLst/>
          </a:prstGeom>
          <a:solidFill>
            <a:schemeClr val="accent4"/>
          </a:solidFill>
          <a:ln w="12700">
            <a:miter lim="400000"/>
          </a:ln>
        </p:spPr>
        <p:txBody>
          <a:bodyPr lIns="45719" rIns="45719"/>
          <a:lstStyle/>
          <a:p>
            <a:pPr/>
          </a:p>
        </p:txBody>
      </p:sp>
      <p:sp>
        <p:nvSpPr>
          <p:cNvPr id="329" name="text-172"/>
          <p:cNvSpPr txBox="1"/>
          <p:nvPr/>
        </p:nvSpPr>
        <p:spPr>
          <a:xfrm>
            <a:off x="1417319" y="4134028"/>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0</a:t>
            </a:r>
          </a:p>
        </p:txBody>
      </p:sp>
      <p:sp>
        <p:nvSpPr>
          <p:cNvPr id="330" name="text-173"/>
          <p:cNvSpPr txBox="1"/>
          <p:nvPr/>
        </p:nvSpPr>
        <p:spPr>
          <a:xfrm>
            <a:off x="3337559" y="4295842"/>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ruff lint issues</a:t>
            </a:r>
          </a:p>
        </p:txBody>
      </p:sp>
      <p:sp>
        <p:nvSpPr>
          <p:cNvPr id="331" name="text-174"/>
          <p:cNvSpPr txBox="1"/>
          <p:nvPr/>
        </p:nvSpPr>
        <p:spPr>
          <a:xfrm>
            <a:off x="548639" y="5120640"/>
            <a:ext cx="5120642"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400"/>
            </a:pPr>
            <a:r>
              <a:t>Tests run against SQLite and against a throwaway PostgreSQL container</a:t>
            </a:r>
          </a:p>
          <a:p>
            <a:pPr marL="342900" indent="-342900">
              <a:spcBef>
                <a:spcPts val="600"/>
              </a:spcBef>
              <a:buSzPct val="100000"/>
              <a:buChar char="•"/>
              <a:defRPr sz="1400"/>
            </a:pPr>
            <a:r>
              <a:t>2 Alembic migrations: create the items table, seed demo data</a:t>
            </a:r>
          </a:p>
        </p:txBody>
      </p:sp>
      <p:sp>
        <p:nvSpPr>
          <p:cNvPr id="332" name="frame-175"/>
          <p:cNvSpPr/>
          <p:nvPr/>
        </p:nvSpPr>
        <p:spPr>
          <a:xfrm>
            <a:off x="6684509" y="1325880"/>
            <a:ext cx="4416061" cy="4892041"/>
          </a:xfrm>
          <a:prstGeom prst="roundRect">
            <a:avLst>
              <a:gd name="adj" fmla="val 2899"/>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333" name="shot-176" descr="shot-176"/>
          <p:cNvPicPr>
            <a:picLocks noChangeAspect="1"/>
          </p:cNvPicPr>
          <p:nvPr/>
        </p:nvPicPr>
        <p:blipFill>
          <a:blip r:embed="rId3">
            <a:extLst/>
          </a:blip>
          <a:stretch>
            <a:fillRect/>
          </a:stretch>
        </p:blipFill>
        <p:spPr>
          <a:xfrm>
            <a:off x="6775949" y="1417319"/>
            <a:ext cx="4233181" cy="4709161"/>
          </a:xfrm>
          <a:prstGeom prst="rect">
            <a:avLst/>
          </a:prstGeom>
          <a:ln w="12700">
            <a:miter lim="400000"/>
          </a:ln>
        </p:spPr>
      </p:pic>
      <p:sp>
        <p:nvSpPr>
          <p:cNvPr id="334"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Text 0"/>
          <p:cNvSpPr txBox="1"/>
          <p:nvPr>
            <p:ph type="title"/>
          </p:nvPr>
        </p:nvSpPr>
        <p:spPr>
          <a:xfrm>
            <a:off x="548639" y="347472"/>
            <a:ext cx="9692642" cy="777241"/>
          </a:xfrm>
          <a:prstGeom prst="rect">
            <a:avLst/>
          </a:prstGeom>
        </p:spPr>
        <p:txBody>
          <a:bodyPr lIns="0" tIns="0" rIns="0" bIns="0" anchor="ctr"/>
          <a:lstStyle/>
          <a:p>
            <a:pPr/>
            <a:r>
              <a:t>Two small, non-root Docker images</a:t>
            </a:r>
          </a:p>
        </p:txBody>
      </p:sp>
      <p:sp>
        <p:nvSpPr>
          <p:cNvPr id="339" name="card-177"/>
          <p:cNvSpPr/>
          <p:nvPr/>
        </p:nvSpPr>
        <p:spPr>
          <a:xfrm>
            <a:off x="548640" y="1463039"/>
            <a:ext cx="5394960" cy="3383281"/>
          </a:xfrm>
          <a:prstGeom prst="roundRect">
            <a:avLst>
              <a:gd name="adj" fmla="val 4865"/>
            </a:avLst>
          </a:prstGeom>
          <a:solidFill>
            <a:srgbClr val="FFF4F8"/>
          </a:solidFill>
          <a:ln w="12700">
            <a:miter lim="400000"/>
          </a:ln>
        </p:spPr>
        <p:txBody>
          <a:bodyPr lIns="45719" rIns="45719"/>
          <a:lstStyle/>
          <a:p>
            <a:pPr/>
          </a:p>
        </p:txBody>
      </p:sp>
      <p:sp>
        <p:nvSpPr>
          <p:cNvPr id="340" name="bubble-178"/>
          <p:cNvSpPr/>
          <p:nvPr/>
        </p:nvSpPr>
        <p:spPr>
          <a:xfrm>
            <a:off x="868680" y="1737360"/>
            <a:ext cx="868681" cy="868681"/>
          </a:xfrm>
          <a:prstGeom prst="ellipse">
            <a:avLst/>
          </a:prstGeom>
          <a:solidFill>
            <a:schemeClr val="accent3"/>
          </a:solidFill>
          <a:ln w="12700">
            <a:miter lim="400000"/>
          </a:ln>
        </p:spPr>
        <p:txBody>
          <a:bodyPr lIns="45719" rIns="45719"/>
          <a:lstStyle/>
          <a:p>
            <a:pPr/>
          </a:p>
        </p:txBody>
      </p:sp>
      <p:pic>
        <p:nvPicPr>
          <p:cNvPr id="341" name="icon-179" descr="icon-179"/>
          <p:cNvPicPr>
            <a:picLocks noChangeAspect="1"/>
          </p:cNvPicPr>
          <p:nvPr/>
        </p:nvPicPr>
        <p:blipFill>
          <a:blip r:embed="rId3">
            <a:extLst/>
          </a:blip>
          <a:stretch>
            <a:fillRect/>
          </a:stretch>
        </p:blipFill>
        <p:spPr>
          <a:xfrm>
            <a:off x="1077163" y="1945843"/>
            <a:ext cx="451715" cy="451715"/>
          </a:xfrm>
          <a:prstGeom prst="rect">
            <a:avLst/>
          </a:prstGeom>
          <a:ln w="12700">
            <a:miter lim="400000"/>
          </a:ln>
        </p:spPr>
      </p:pic>
      <p:sp>
        <p:nvSpPr>
          <p:cNvPr id="342" name="text-180"/>
          <p:cNvSpPr txBox="1"/>
          <p:nvPr/>
        </p:nvSpPr>
        <p:spPr>
          <a:xfrm>
            <a:off x="1920239" y="1818992"/>
            <a:ext cx="384048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lvl1pPr>
          </a:lstStyle>
          <a:p>
            <a:pPr/>
            <a:r>
              <a:t>Backend</a:t>
            </a:r>
          </a:p>
        </p:txBody>
      </p:sp>
      <p:sp>
        <p:nvSpPr>
          <p:cNvPr id="343" name="text-181"/>
          <p:cNvSpPr txBox="1"/>
          <p:nvPr/>
        </p:nvSpPr>
        <p:spPr>
          <a:xfrm>
            <a:off x="1920239" y="2307021"/>
            <a:ext cx="384048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python:3.12-slim  ·  runs as UID 10001</a:t>
            </a:r>
          </a:p>
        </p:txBody>
      </p:sp>
      <p:sp>
        <p:nvSpPr>
          <p:cNvPr id="344" name="text-182"/>
          <p:cNvSpPr txBox="1"/>
          <p:nvPr/>
        </p:nvSpPr>
        <p:spPr>
          <a:xfrm>
            <a:off x="914400" y="2788920"/>
            <a:ext cx="4754880" cy="846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500"/>
            </a:pPr>
            <a:r>
              <a:t>2 stages: build a venv, copy it into a clean image</a:t>
            </a:r>
          </a:p>
          <a:p>
            <a:pPr marL="342900" indent="-342900">
              <a:spcBef>
                <a:spcPts val="800"/>
              </a:spcBef>
              <a:buSzPct val="100000"/>
              <a:buChar char="•"/>
              <a:defRPr sz="1500"/>
            </a:pPr>
            <a:r>
              <a:t>pip removed from the runtime (Trivy found CVEs in it)</a:t>
            </a:r>
          </a:p>
          <a:p>
            <a:pPr marL="342900" indent="-342900">
              <a:spcBef>
                <a:spcPts val="800"/>
              </a:spcBef>
              <a:buSzPct val="100000"/>
              <a:buChar char="•"/>
              <a:defRPr sz="1500"/>
            </a:pPr>
            <a:r>
              <a:t>Waits for the DB, runs migrations, then starts uvicorn</a:t>
            </a:r>
          </a:p>
        </p:txBody>
      </p:sp>
      <p:sp>
        <p:nvSpPr>
          <p:cNvPr id="345" name="card-183"/>
          <p:cNvSpPr/>
          <p:nvPr/>
        </p:nvSpPr>
        <p:spPr>
          <a:xfrm>
            <a:off x="6245352" y="1463039"/>
            <a:ext cx="5394960" cy="3383281"/>
          </a:xfrm>
          <a:prstGeom prst="roundRect">
            <a:avLst>
              <a:gd name="adj" fmla="val 4865"/>
            </a:avLst>
          </a:prstGeom>
          <a:solidFill>
            <a:srgbClr val="FFF4F8"/>
          </a:solidFill>
          <a:ln w="12700">
            <a:miter lim="400000"/>
          </a:ln>
        </p:spPr>
        <p:txBody>
          <a:bodyPr lIns="45719" rIns="45719"/>
          <a:lstStyle/>
          <a:p>
            <a:pPr/>
          </a:p>
        </p:txBody>
      </p:sp>
      <p:sp>
        <p:nvSpPr>
          <p:cNvPr id="346" name="bubble-184"/>
          <p:cNvSpPr/>
          <p:nvPr/>
        </p:nvSpPr>
        <p:spPr>
          <a:xfrm>
            <a:off x="6565392" y="1737360"/>
            <a:ext cx="868681" cy="868681"/>
          </a:xfrm>
          <a:prstGeom prst="ellipse">
            <a:avLst/>
          </a:prstGeom>
          <a:solidFill>
            <a:schemeClr val="accent1"/>
          </a:solidFill>
          <a:ln w="12700">
            <a:miter lim="400000"/>
          </a:ln>
        </p:spPr>
        <p:txBody>
          <a:bodyPr lIns="45719" rIns="45719"/>
          <a:lstStyle/>
          <a:p>
            <a:pPr/>
          </a:p>
        </p:txBody>
      </p:sp>
      <p:pic>
        <p:nvPicPr>
          <p:cNvPr id="347" name="icon-185" descr="icon-185"/>
          <p:cNvPicPr>
            <a:picLocks noChangeAspect="1"/>
          </p:cNvPicPr>
          <p:nvPr/>
        </p:nvPicPr>
        <p:blipFill>
          <a:blip r:embed="rId4">
            <a:extLst/>
          </a:blip>
          <a:stretch>
            <a:fillRect/>
          </a:stretch>
        </p:blipFill>
        <p:spPr>
          <a:xfrm>
            <a:off x="6773874" y="1945843"/>
            <a:ext cx="451715" cy="451715"/>
          </a:xfrm>
          <a:prstGeom prst="rect">
            <a:avLst/>
          </a:prstGeom>
          <a:ln w="12700">
            <a:miter lim="400000"/>
          </a:ln>
        </p:spPr>
      </p:pic>
      <p:sp>
        <p:nvSpPr>
          <p:cNvPr id="348" name="text-186"/>
          <p:cNvSpPr txBox="1"/>
          <p:nvPr/>
        </p:nvSpPr>
        <p:spPr>
          <a:xfrm>
            <a:off x="7616952" y="1818992"/>
            <a:ext cx="384048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lvl1pPr>
          </a:lstStyle>
          <a:p>
            <a:pPr/>
            <a:r>
              <a:t>Frontend</a:t>
            </a:r>
          </a:p>
        </p:txBody>
      </p:sp>
      <p:sp>
        <p:nvSpPr>
          <p:cNvPr id="349" name="text-187"/>
          <p:cNvSpPr txBox="1"/>
          <p:nvPr/>
        </p:nvSpPr>
        <p:spPr>
          <a:xfrm>
            <a:off x="7616952" y="2307021"/>
            <a:ext cx="384048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nginx-unprivileged  ·  runs as UID 101</a:t>
            </a:r>
          </a:p>
        </p:txBody>
      </p:sp>
      <p:sp>
        <p:nvSpPr>
          <p:cNvPr id="350" name="text-188"/>
          <p:cNvSpPr txBox="1"/>
          <p:nvPr/>
        </p:nvSpPr>
        <p:spPr>
          <a:xfrm>
            <a:off x="6611111" y="2788920"/>
            <a:ext cx="4754881" cy="846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500"/>
            </a:pPr>
            <a:r>
              <a:t>Stage 1: node builds the React app</a:t>
            </a:r>
          </a:p>
          <a:p>
            <a:pPr marL="342900" indent="-342900">
              <a:spcBef>
                <a:spcPts val="800"/>
              </a:spcBef>
              <a:buSzPct val="100000"/>
              <a:buChar char="•"/>
              <a:defRPr sz="1500"/>
            </a:pPr>
            <a:r>
              <a:t>Stage 2: only dist/ is copied into nginx</a:t>
            </a:r>
          </a:p>
          <a:p>
            <a:pPr marL="342900" indent="-342900">
              <a:spcBef>
                <a:spcPts val="800"/>
              </a:spcBef>
              <a:buSzPct val="100000"/>
              <a:buChar char="•"/>
              <a:defRPr sz="1500"/>
            </a:pPr>
            <a:r>
              <a:t>apk upgrade patches the base image</a:t>
            </a:r>
          </a:p>
        </p:txBody>
      </p:sp>
      <p:sp>
        <p:nvSpPr>
          <p:cNvPr id="351" name="card-189"/>
          <p:cNvSpPr/>
          <p:nvPr/>
        </p:nvSpPr>
        <p:spPr>
          <a:xfrm>
            <a:off x="548640" y="5120640"/>
            <a:ext cx="11091672" cy="1005841"/>
          </a:xfrm>
          <a:prstGeom prst="roundRect">
            <a:avLst>
              <a:gd name="adj" fmla="val 16364"/>
            </a:avLst>
          </a:prstGeom>
          <a:solidFill>
            <a:schemeClr val="accent2">
              <a:alpha val="30000"/>
            </a:schemeClr>
          </a:solidFill>
          <a:ln w="12700">
            <a:miter lim="400000"/>
          </a:ln>
        </p:spPr>
        <p:txBody>
          <a:bodyPr lIns="45719" rIns="45719"/>
          <a:lstStyle/>
          <a:p>
            <a:pPr/>
          </a:p>
        </p:txBody>
      </p:sp>
      <p:pic>
        <p:nvPicPr>
          <p:cNvPr id="352" name="compose-icon" descr="compose-icon"/>
          <p:cNvPicPr>
            <a:picLocks noChangeAspect="1"/>
          </p:cNvPicPr>
          <p:nvPr/>
        </p:nvPicPr>
        <p:blipFill>
          <a:blip r:embed="rId5">
            <a:extLst/>
          </a:blip>
          <a:stretch>
            <a:fillRect/>
          </a:stretch>
        </p:blipFill>
        <p:spPr>
          <a:xfrm>
            <a:off x="822960" y="5349240"/>
            <a:ext cx="548641" cy="548641"/>
          </a:xfrm>
          <a:prstGeom prst="rect">
            <a:avLst/>
          </a:prstGeom>
          <a:ln w="12700">
            <a:miter lim="400000"/>
          </a:ln>
        </p:spPr>
      </p:pic>
      <p:sp>
        <p:nvSpPr>
          <p:cNvPr id="353" name="text-190"/>
          <p:cNvSpPr txBox="1"/>
          <p:nvPr/>
        </p:nvSpPr>
        <p:spPr>
          <a:xfrm>
            <a:off x="1600199" y="5518983"/>
            <a:ext cx="98755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docker compose: </a:t>
            </a:r>
            <a:r>
              <a:rPr b="0"/>
              <a:t>postgres  →  backend  →  frontend, each one waits until the one before is healthy</a:t>
            </a:r>
          </a:p>
        </p:txBody>
      </p:sp>
      <p:sp>
        <p:nvSpPr>
          <p:cNvPr id="354"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ext 0"/>
          <p:cNvSpPr txBox="1"/>
          <p:nvPr>
            <p:ph type="title"/>
          </p:nvPr>
        </p:nvSpPr>
        <p:spPr>
          <a:xfrm>
            <a:off x="548639" y="347472"/>
            <a:ext cx="9692642" cy="777241"/>
          </a:xfrm>
          <a:prstGeom prst="rect">
            <a:avLst/>
          </a:prstGeom>
        </p:spPr>
        <p:txBody>
          <a:bodyPr lIns="0" tIns="0" rIns="0" bIns="0" anchor="ctr"/>
          <a:lstStyle/>
          <a:p>
            <a:pPr/>
            <a:r>
              <a:t>A 9-stage pipeline on every push</a:t>
            </a:r>
          </a:p>
        </p:txBody>
      </p:sp>
      <p:grpSp>
        <p:nvGrpSpPr>
          <p:cNvPr id="361" name="num-191"/>
          <p:cNvGrpSpPr/>
          <p:nvPr/>
        </p:nvGrpSpPr>
        <p:grpSpPr>
          <a:xfrm>
            <a:off x="1097280" y="1508760"/>
            <a:ext cx="777241" cy="777241"/>
            <a:chOff x="0" y="0"/>
            <a:chExt cx="777240" cy="777240"/>
          </a:xfrm>
        </p:grpSpPr>
        <p:sp>
          <p:nvSpPr>
            <p:cNvPr id="359" name="Circle"/>
            <p:cNvSpPr/>
            <p:nvPr/>
          </p:nvSpPr>
          <p:spPr>
            <a:xfrm>
              <a:off x="-1" y="-1"/>
              <a:ext cx="777242" cy="7772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200"/>
              </a:pPr>
            </a:p>
          </p:txBody>
        </p:sp>
        <p:sp>
          <p:nvSpPr>
            <p:cNvPr id="360" name="1"/>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1</a:t>
              </a:r>
            </a:p>
          </p:txBody>
        </p:sp>
      </p:grpSp>
      <p:sp>
        <p:nvSpPr>
          <p:cNvPr id="362" name="text-192"/>
          <p:cNvSpPr txBox="1"/>
          <p:nvPr/>
        </p:nvSpPr>
        <p:spPr>
          <a:xfrm>
            <a:off x="548639" y="2377439"/>
            <a:ext cx="1874522"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Build &amp; test</a:t>
            </a:r>
            <a:endParaRPr sz="1400"/>
          </a:p>
          <a:p>
            <a:pPr algn="ctr">
              <a:defRPr sz="1200">
                <a:solidFill>
                  <a:srgbClr val="6B5B86"/>
                </a:solidFill>
              </a:defRPr>
            </a:pPr>
            <a:r>
              <a:t>ruff, pytest, npm build, helm lint, terraform validate</a:t>
            </a:r>
          </a:p>
        </p:txBody>
      </p:sp>
      <p:sp>
        <p:nvSpPr>
          <p:cNvPr id="363" name="arrow-193"/>
          <p:cNvSpPr/>
          <p:nvPr/>
        </p:nvSpPr>
        <p:spPr>
          <a:xfrm>
            <a:off x="1920239" y="1897379"/>
            <a:ext cx="1399033" cy="916"/>
          </a:xfrm>
          <a:prstGeom prst="line">
            <a:avLst/>
          </a:prstGeom>
          <a:ln w="25400">
            <a:solidFill>
              <a:srgbClr val="6B5B86"/>
            </a:solidFill>
            <a:tailEnd type="triangle"/>
          </a:ln>
        </p:spPr>
        <p:txBody>
          <a:bodyPr lIns="45719" rIns="45719"/>
          <a:lstStyle/>
          <a:p>
            <a:pPr/>
          </a:p>
        </p:txBody>
      </p:sp>
      <p:grpSp>
        <p:nvGrpSpPr>
          <p:cNvPr id="366" name="num-194"/>
          <p:cNvGrpSpPr/>
          <p:nvPr/>
        </p:nvGrpSpPr>
        <p:grpSpPr>
          <a:xfrm>
            <a:off x="3364991" y="1508760"/>
            <a:ext cx="777241" cy="777241"/>
            <a:chOff x="0" y="0"/>
            <a:chExt cx="777240" cy="777240"/>
          </a:xfrm>
        </p:grpSpPr>
        <p:sp>
          <p:nvSpPr>
            <p:cNvPr id="364"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65" name="2"/>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2</a:t>
              </a:r>
            </a:p>
          </p:txBody>
        </p:sp>
      </p:grpSp>
      <p:sp>
        <p:nvSpPr>
          <p:cNvPr id="367" name="text-195"/>
          <p:cNvSpPr txBox="1"/>
          <p:nvPr/>
        </p:nvSpPr>
        <p:spPr>
          <a:xfrm>
            <a:off x="2816351" y="237743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SAST</a:t>
            </a:r>
            <a:endParaRPr sz="1400"/>
          </a:p>
          <a:p>
            <a:pPr algn="ctr">
              <a:defRPr sz="1200">
                <a:solidFill>
                  <a:srgbClr val="6B5B86"/>
                </a:solidFill>
              </a:defRPr>
            </a:pPr>
            <a:r>
              <a:t>bandit scans the Python code</a:t>
            </a:r>
          </a:p>
        </p:txBody>
      </p:sp>
      <p:sp>
        <p:nvSpPr>
          <p:cNvPr id="368" name="arrow-196"/>
          <p:cNvSpPr/>
          <p:nvPr/>
        </p:nvSpPr>
        <p:spPr>
          <a:xfrm>
            <a:off x="4187952" y="1897379"/>
            <a:ext cx="1399033" cy="916"/>
          </a:xfrm>
          <a:prstGeom prst="line">
            <a:avLst/>
          </a:prstGeom>
          <a:ln w="25400">
            <a:solidFill>
              <a:srgbClr val="6B5B86"/>
            </a:solidFill>
            <a:tailEnd type="triangle"/>
          </a:ln>
        </p:spPr>
        <p:txBody>
          <a:bodyPr lIns="45719" rIns="45719"/>
          <a:lstStyle/>
          <a:p>
            <a:pPr/>
          </a:p>
        </p:txBody>
      </p:sp>
      <p:grpSp>
        <p:nvGrpSpPr>
          <p:cNvPr id="371" name="num-197"/>
          <p:cNvGrpSpPr/>
          <p:nvPr/>
        </p:nvGrpSpPr>
        <p:grpSpPr>
          <a:xfrm>
            <a:off x="5632703" y="1508760"/>
            <a:ext cx="777241" cy="777241"/>
            <a:chOff x="0" y="0"/>
            <a:chExt cx="777240" cy="777240"/>
          </a:xfrm>
        </p:grpSpPr>
        <p:sp>
          <p:nvSpPr>
            <p:cNvPr id="369"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70" name="3"/>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3</a:t>
              </a:r>
            </a:p>
          </p:txBody>
        </p:sp>
      </p:grpSp>
      <p:sp>
        <p:nvSpPr>
          <p:cNvPr id="372" name="text-198"/>
          <p:cNvSpPr txBox="1"/>
          <p:nvPr/>
        </p:nvSpPr>
        <p:spPr>
          <a:xfrm>
            <a:off x="5084064"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SCA</a:t>
            </a:r>
            <a:endParaRPr sz="1400"/>
          </a:p>
          <a:p>
            <a:pPr algn="ctr">
              <a:defRPr sz="1200">
                <a:solidFill>
                  <a:srgbClr val="6B5B86"/>
                </a:solidFill>
              </a:defRPr>
            </a:pPr>
            <a:r>
              <a:t>pip-audit, npm audit, trivy fs</a:t>
            </a:r>
          </a:p>
        </p:txBody>
      </p:sp>
      <p:sp>
        <p:nvSpPr>
          <p:cNvPr id="373" name="arrow-199"/>
          <p:cNvSpPr/>
          <p:nvPr/>
        </p:nvSpPr>
        <p:spPr>
          <a:xfrm>
            <a:off x="6455664" y="1897379"/>
            <a:ext cx="1399033" cy="916"/>
          </a:xfrm>
          <a:prstGeom prst="line">
            <a:avLst/>
          </a:prstGeom>
          <a:ln w="25400">
            <a:solidFill>
              <a:srgbClr val="6B5B86"/>
            </a:solidFill>
            <a:tailEnd type="triangle"/>
          </a:ln>
        </p:spPr>
        <p:txBody>
          <a:bodyPr lIns="45719" rIns="45719"/>
          <a:lstStyle/>
          <a:p>
            <a:pPr/>
          </a:p>
        </p:txBody>
      </p:sp>
      <p:grpSp>
        <p:nvGrpSpPr>
          <p:cNvPr id="376" name="num-200"/>
          <p:cNvGrpSpPr/>
          <p:nvPr/>
        </p:nvGrpSpPr>
        <p:grpSpPr>
          <a:xfrm>
            <a:off x="7900416" y="1508760"/>
            <a:ext cx="777241" cy="777241"/>
            <a:chOff x="0" y="0"/>
            <a:chExt cx="777240" cy="777240"/>
          </a:xfrm>
        </p:grpSpPr>
        <p:sp>
          <p:nvSpPr>
            <p:cNvPr id="374"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75" name="4"/>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4</a:t>
              </a:r>
            </a:p>
          </p:txBody>
        </p:sp>
      </p:grpSp>
      <p:sp>
        <p:nvSpPr>
          <p:cNvPr id="377" name="text-201"/>
          <p:cNvSpPr txBox="1"/>
          <p:nvPr/>
        </p:nvSpPr>
        <p:spPr>
          <a:xfrm>
            <a:off x="7351776"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Secret scan</a:t>
            </a:r>
            <a:endParaRPr sz="1400"/>
          </a:p>
          <a:p>
            <a:pPr algn="ctr">
              <a:defRPr sz="1200">
                <a:solidFill>
                  <a:srgbClr val="6B5B86"/>
                </a:solidFill>
              </a:defRPr>
            </a:pPr>
            <a:r>
              <a:t>gitleaks</a:t>
            </a:r>
          </a:p>
        </p:txBody>
      </p:sp>
      <p:sp>
        <p:nvSpPr>
          <p:cNvPr id="378" name="arrow-202"/>
          <p:cNvSpPr/>
          <p:nvPr/>
        </p:nvSpPr>
        <p:spPr>
          <a:xfrm>
            <a:off x="8723376" y="1897379"/>
            <a:ext cx="1399033" cy="916"/>
          </a:xfrm>
          <a:prstGeom prst="line">
            <a:avLst/>
          </a:prstGeom>
          <a:ln w="25400">
            <a:solidFill>
              <a:srgbClr val="6B5B86"/>
            </a:solidFill>
            <a:tailEnd type="triangle"/>
          </a:ln>
        </p:spPr>
        <p:txBody>
          <a:bodyPr lIns="45719" rIns="45719"/>
          <a:lstStyle/>
          <a:p>
            <a:pPr/>
          </a:p>
        </p:txBody>
      </p:sp>
      <p:grpSp>
        <p:nvGrpSpPr>
          <p:cNvPr id="381" name="num-203"/>
          <p:cNvGrpSpPr/>
          <p:nvPr/>
        </p:nvGrpSpPr>
        <p:grpSpPr>
          <a:xfrm>
            <a:off x="10168128" y="1508760"/>
            <a:ext cx="777241" cy="777241"/>
            <a:chOff x="0" y="0"/>
            <a:chExt cx="777240" cy="777240"/>
          </a:xfrm>
        </p:grpSpPr>
        <p:sp>
          <p:nvSpPr>
            <p:cNvPr id="379" name="Circle"/>
            <p:cNvSpPr/>
            <p:nvPr/>
          </p:nvSpPr>
          <p:spPr>
            <a:xfrm>
              <a:off x="-1" y="-1"/>
              <a:ext cx="777242" cy="7772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2200"/>
              </a:pPr>
            </a:p>
          </p:txBody>
        </p:sp>
        <p:sp>
          <p:nvSpPr>
            <p:cNvPr id="380" name="5"/>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5</a:t>
              </a:r>
            </a:p>
          </p:txBody>
        </p:sp>
      </p:grpSp>
      <p:sp>
        <p:nvSpPr>
          <p:cNvPr id="382" name="text-204"/>
          <p:cNvSpPr txBox="1"/>
          <p:nvPr/>
        </p:nvSpPr>
        <p:spPr>
          <a:xfrm>
            <a:off x="9619488"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Docker build</a:t>
            </a:r>
            <a:endParaRPr sz="1400"/>
          </a:p>
          <a:p>
            <a:pPr algn="ctr">
              <a:defRPr sz="1200">
                <a:solidFill>
                  <a:srgbClr val="6B5B86"/>
                </a:solidFill>
              </a:defRPr>
            </a:pPr>
            <a:r>
              <a:t>backend + frontend</a:t>
            </a:r>
          </a:p>
        </p:txBody>
      </p:sp>
      <p:grpSp>
        <p:nvGrpSpPr>
          <p:cNvPr id="385" name="num-205"/>
          <p:cNvGrpSpPr/>
          <p:nvPr/>
        </p:nvGrpSpPr>
        <p:grpSpPr>
          <a:xfrm>
            <a:off x="10168128" y="3520440"/>
            <a:ext cx="777241" cy="777241"/>
            <a:chOff x="0" y="0"/>
            <a:chExt cx="777240" cy="777240"/>
          </a:xfrm>
        </p:grpSpPr>
        <p:sp>
          <p:nvSpPr>
            <p:cNvPr id="383" name="Circle"/>
            <p:cNvSpPr/>
            <p:nvPr/>
          </p:nvSpPr>
          <p:spPr>
            <a:xfrm>
              <a:off x="-1" y="-1"/>
              <a:ext cx="777242" cy="7772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200"/>
              </a:pPr>
            </a:p>
          </p:txBody>
        </p:sp>
        <p:sp>
          <p:nvSpPr>
            <p:cNvPr id="384" name="6"/>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6</a:t>
              </a:r>
            </a:p>
          </p:txBody>
        </p:sp>
      </p:grpSp>
      <p:sp>
        <p:nvSpPr>
          <p:cNvPr id="386" name="text-206"/>
          <p:cNvSpPr txBox="1"/>
          <p:nvPr/>
        </p:nvSpPr>
        <p:spPr>
          <a:xfrm>
            <a:off x="9619488"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Image scan</a:t>
            </a:r>
            <a:endParaRPr sz="1400"/>
          </a:p>
          <a:p>
            <a:pPr algn="ctr">
              <a:defRPr sz="1200">
                <a:solidFill>
                  <a:srgbClr val="6B5B86"/>
                </a:solidFill>
              </a:defRPr>
            </a:pPr>
            <a:r>
              <a:t>Trivy, fail on fixable HIGH</a:t>
            </a:r>
          </a:p>
        </p:txBody>
      </p:sp>
      <p:sp>
        <p:nvSpPr>
          <p:cNvPr id="387" name="arrow-207"/>
          <p:cNvSpPr/>
          <p:nvPr/>
        </p:nvSpPr>
        <p:spPr>
          <a:xfrm flipH="1">
            <a:off x="8723376" y="3909059"/>
            <a:ext cx="1399033" cy="915"/>
          </a:xfrm>
          <a:prstGeom prst="line">
            <a:avLst/>
          </a:prstGeom>
          <a:ln w="25400">
            <a:solidFill>
              <a:srgbClr val="6B5B86"/>
            </a:solidFill>
            <a:tailEnd type="triangle"/>
          </a:ln>
        </p:spPr>
        <p:txBody>
          <a:bodyPr lIns="45719" rIns="45719"/>
          <a:lstStyle/>
          <a:p>
            <a:pPr/>
          </a:p>
        </p:txBody>
      </p:sp>
      <p:grpSp>
        <p:nvGrpSpPr>
          <p:cNvPr id="390" name="num-208"/>
          <p:cNvGrpSpPr/>
          <p:nvPr/>
        </p:nvGrpSpPr>
        <p:grpSpPr>
          <a:xfrm>
            <a:off x="7900416" y="3520440"/>
            <a:ext cx="777241" cy="777241"/>
            <a:chOff x="0" y="0"/>
            <a:chExt cx="777240" cy="777240"/>
          </a:xfrm>
        </p:grpSpPr>
        <p:sp>
          <p:nvSpPr>
            <p:cNvPr id="388" name="Circle"/>
            <p:cNvSpPr/>
            <p:nvPr/>
          </p:nvSpPr>
          <p:spPr>
            <a:xfrm>
              <a:off x="-1" y="-1"/>
              <a:ext cx="777242" cy="7772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200"/>
              </a:pPr>
            </a:p>
          </p:txBody>
        </p:sp>
        <p:sp>
          <p:nvSpPr>
            <p:cNvPr id="389" name="7"/>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7</a:t>
              </a:r>
            </a:p>
          </p:txBody>
        </p:sp>
      </p:grpSp>
      <p:sp>
        <p:nvSpPr>
          <p:cNvPr id="391" name="text-209"/>
          <p:cNvSpPr txBox="1"/>
          <p:nvPr/>
        </p:nvSpPr>
        <p:spPr>
          <a:xfrm>
            <a:off x="7351776"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Security gate</a:t>
            </a:r>
            <a:endParaRPr sz="1400"/>
          </a:p>
          <a:p>
            <a:pPr algn="ctr">
              <a:defRPr sz="1200">
                <a:solidFill>
                  <a:srgbClr val="6B5B86"/>
                </a:solidFill>
              </a:defRPr>
            </a:pPr>
            <a:r>
              <a:t>one policy file decides</a:t>
            </a:r>
          </a:p>
        </p:txBody>
      </p:sp>
      <p:sp>
        <p:nvSpPr>
          <p:cNvPr id="392" name="arrow-210"/>
          <p:cNvSpPr/>
          <p:nvPr/>
        </p:nvSpPr>
        <p:spPr>
          <a:xfrm flipH="1">
            <a:off x="6455664" y="3909059"/>
            <a:ext cx="1399033" cy="915"/>
          </a:xfrm>
          <a:prstGeom prst="line">
            <a:avLst/>
          </a:prstGeom>
          <a:ln w="25400">
            <a:solidFill>
              <a:srgbClr val="6B5B86"/>
            </a:solidFill>
            <a:tailEnd type="triangle"/>
          </a:ln>
        </p:spPr>
        <p:txBody>
          <a:bodyPr lIns="45719" rIns="45719"/>
          <a:lstStyle/>
          <a:p>
            <a:pPr/>
          </a:p>
        </p:txBody>
      </p:sp>
      <p:grpSp>
        <p:nvGrpSpPr>
          <p:cNvPr id="395" name="num-211"/>
          <p:cNvGrpSpPr/>
          <p:nvPr/>
        </p:nvGrpSpPr>
        <p:grpSpPr>
          <a:xfrm>
            <a:off x="5632703" y="3520440"/>
            <a:ext cx="777241" cy="777241"/>
            <a:chOff x="0" y="0"/>
            <a:chExt cx="777240" cy="777240"/>
          </a:xfrm>
        </p:grpSpPr>
        <p:sp>
          <p:nvSpPr>
            <p:cNvPr id="393" name="Circle"/>
            <p:cNvSpPr/>
            <p:nvPr/>
          </p:nvSpPr>
          <p:spPr>
            <a:xfrm>
              <a:off x="-1" y="-1"/>
              <a:ext cx="777242" cy="7772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2200"/>
              </a:pPr>
            </a:p>
          </p:txBody>
        </p:sp>
        <p:sp>
          <p:nvSpPr>
            <p:cNvPr id="394" name="8"/>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8</a:t>
              </a:r>
            </a:p>
          </p:txBody>
        </p:sp>
      </p:grpSp>
      <p:sp>
        <p:nvSpPr>
          <p:cNvPr id="396" name="text-212"/>
          <p:cNvSpPr txBox="1"/>
          <p:nvPr/>
        </p:nvSpPr>
        <p:spPr>
          <a:xfrm>
            <a:off x="5084064"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Push to GHCR</a:t>
            </a:r>
            <a:endParaRPr sz="1400"/>
          </a:p>
          <a:p>
            <a:pPr algn="ctr">
              <a:defRPr sz="1200">
                <a:solidFill>
                  <a:srgbClr val="6B5B86"/>
                </a:solidFill>
              </a:defRPr>
            </a:pPr>
            <a:r>
              <a:t>main only, SHA tag</a:t>
            </a:r>
          </a:p>
        </p:txBody>
      </p:sp>
      <p:sp>
        <p:nvSpPr>
          <p:cNvPr id="397" name="arrow-213"/>
          <p:cNvSpPr/>
          <p:nvPr/>
        </p:nvSpPr>
        <p:spPr>
          <a:xfrm flipH="1">
            <a:off x="4187952" y="3909059"/>
            <a:ext cx="1399033" cy="915"/>
          </a:xfrm>
          <a:prstGeom prst="line">
            <a:avLst/>
          </a:prstGeom>
          <a:ln w="25400">
            <a:solidFill>
              <a:srgbClr val="6B5B86"/>
            </a:solidFill>
            <a:tailEnd type="triangle"/>
          </a:ln>
        </p:spPr>
        <p:txBody>
          <a:bodyPr lIns="45719" rIns="45719"/>
          <a:lstStyle/>
          <a:p>
            <a:pPr/>
          </a:p>
        </p:txBody>
      </p:sp>
      <p:grpSp>
        <p:nvGrpSpPr>
          <p:cNvPr id="400" name="num-214"/>
          <p:cNvGrpSpPr/>
          <p:nvPr/>
        </p:nvGrpSpPr>
        <p:grpSpPr>
          <a:xfrm>
            <a:off x="3364991" y="3520440"/>
            <a:ext cx="777241" cy="777241"/>
            <a:chOff x="0" y="0"/>
            <a:chExt cx="777240" cy="777240"/>
          </a:xfrm>
        </p:grpSpPr>
        <p:sp>
          <p:nvSpPr>
            <p:cNvPr id="398" name="Circle"/>
            <p:cNvSpPr/>
            <p:nvPr/>
          </p:nvSpPr>
          <p:spPr>
            <a:xfrm>
              <a:off x="-1" y="-1"/>
              <a:ext cx="777242" cy="77724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2200"/>
              </a:pPr>
            </a:p>
          </p:txBody>
        </p:sp>
        <p:sp>
          <p:nvSpPr>
            <p:cNvPr id="399" name="9"/>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9</a:t>
              </a:r>
            </a:p>
          </p:txBody>
        </p:sp>
      </p:grpSp>
      <p:sp>
        <p:nvSpPr>
          <p:cNvPr id="401" name="text-215"/>
          <p:cNvSpPr txBox="1"/>
          <p:nvPr/>
        </p:nvSpPr>
        <p:spPr>
          <a:xfrm>
            <a:off x="2816351" y="4389120"/>
            <a:ext cx="1874522"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Deploy</a:t>
            </a:r>
            <a:endParaRPr sz="1400"/>
          </a:p>
          <a:p>
            <a:pPr algn="ctr">
              <a:defRPr sz="1200">
                <a:solidFill>
                  <a:srgbClr val="6B5B86"/>
                </a:solidFill>
              </a:defRPr>
            </a:pPr>
            <a:r>
              <a:t>kind + helm install + helm test</a:t>
            </a:r>
          </a:p>
        </p:txBody>
      </p:sp>
      <p:sp>
        <p:nvSpPr>
          <p:cNvPr id="402" name="elbow-216"/>
          <p:cNvSpPr/>
          <p:nvPr/>
        </p:nvSpPr>
        <p:spPr>
          <a:xfrm>
            <a:off x="10963656" y="1897379"/>
            <a:ext cx="667513" cy="915"/>
          </a:xfrm>
          <a:prstGeom prst="line">
            <a:avLst/>
          </a:prstGeom>
          <a:ln w="25400">
            <a:solidFill>
              <a:srgbClr val="6B5B86"/>
            </a:solidFill>
          </a:ln>
        </p:spPr>
        <p:txBody>
          <a:bodyPr lIns="45719" rIns="45719"/>
          <a:lstStyle/>
          <a:p>
            <a:pPr/>
          </a:p>
        </p:txBody>
      </p:sp>
      <p:sp>
        <p:nvSpPr>
          <p:cNvPr id="403" name="elbow-217"/>
          <p:cNvSpPr/>
          <p:nvPr/>
        </p:nvSpPr>
        <p:spPr>
          <a:xfrm>
            <a:off x="11631168" y="1897380"/>
            <a:ext cx="915" cy="2011679"/>
          </a:xfrm>
          <a:prstGeom prst="line">
            <a:avLst/>
          </a:prstGeom>
          <a:ln w="25400">
            <a:solidFill>
              <a:srgbClr val="6B5B86"/>
            </a:solidFill>
          </a:ln>
        </p:spPr>
        <p:txBody>
          <a:bodyPr lIns="45719" rIns="45719"/>
          <a:lstStyle/>
          <a:p>
            <a:pPr/>
          </a:p>
        </p:txBody>
      </p:sp>
      <p:sp>
        <p:nvSpPr>
          <p:cNvPr id="404" name="arrow-218"/>
          <p:cNvSpPr/>
          <p:nvPr/>
        </p:nvSpPr>
        <p:spPr>
          <a:xfrm flipH="1">
            <a:off x="10963656" y="3909059"/>
            <a:ext cx="667513" cy="915"/>
          </a:xfrm>
          <a:prstGeom prst="line">
            <a:avLst/>
          </a:prstGeom>
          <a:ln w="25400">
            <a:solidFill>
              <a:srgbClr val="6B5B86"/>
            </a:solidFill>
            <a:tailEnd type="triangle"/>
          </a:ln>
        </p:spPr>
        <p:txBody>
          <a:bodyPr lIns="45719" rIns="45719"/>
          <a:lstStyle/>
          <a:p>
            <a:pPr/>
          </a:p>
        </p:txBody>
      </p:sp>
      <p:sp>
        <p:nvSpPr>
          <p:cNvPr id="405" name="card-219"/>
          <p:cNvSpPr/>
          <p:nvPr/>
        </p:nvSpPr>
        <p:spPr>
          <a:xfrm>
            <a:off x="548640" y="5486400"/>
            <a:ext cx="11091672" cy="658369"/>
          </a:xfrm>
          <a:prstGeom prst="roundRect">
            <a:avLst>
              <a:gd name="adj" fmla="val 25000"/>
            </a:avLst>
          </a:prstGeom>
          <a:solidFill>
            <a:srgbClr val="FFF4F8"/>
          </a:solidFill>
          <a:ln w="12700">
            <a:miter lim="400000"/>
          </a:ln>
        </p:spPr>
        <p:txBody>
          <a:bodyPr lIns="45719" rIns="45719"/>
          <a:lstStyle/>
          <a:p>
            <a:pPr/>
          </a:p>
        </p:txBody>
      </p:sp>
      <p:sp>
        <p:nvSpPr>
          <p:cNvPr id="406" name="text-220"/>
          <p:cNvSpPr txBox="1"/>
          <p:nvPr/>
        </p:nvSpPr>
        <p:spPr>
          <a:xfrm>
            <a:off x="777239" y="5720904"/>
            <a:ext cx="106984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Images are built once, scanned, and that exact image ships  ·  SHA tags only, never latest  ·  owner name lower-cased for GHCR</a:t>
            </a:r>
          </a:p>
        </p:txBody>
      </p:sp>
      <p:sp>
        <p:nvSpPr>
          <p:cNvPr id="407"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Text 0"/>
          <p:cNvSpPr txBox="1"/>
          <p:nvPr>
            <p:ph type="title"/>
          </p:nvPr>
        </p:nvSpPr>
        <p:spPr>
          <a:xfrm>
            <a:off x="548639" y="347472"/>
            <a:ext cx="9692642" cy="777241"/>
          </a:xfrm>
          <a:prstGeom prst="rect">
            <a:avLst/>
          </a:prstGeom>
        </p:spPr>
        <p:txBody>
          <a:bodyPr lIns="0" tIns="0" rIns="0" bIns="0" anchor="ctr"/>
          <a:lstStyle/>
          <a:p>
            <a:pPr/>
            <a:r>
              <a:t>The security gate said no, and it was right</a:t>
            </a:r>
          </a:p>
        </p:txBody>
      </p:sp>
      <p:sp>
        <p:nvSpPr>
          <p:cNvPr id="412" name="frame-221"/>
          <p:cNvSpPr/>
          <p:nvPr/>
        </p:nvSpPr>
        <p:spPr>
          <a:xfrm>
            <a:off x="457200" y="1374295"/>
            <a:ext cx="5440680" cy="3926530"/>
          </a:xfrm>
          <a:prstGeom prst="roundRect">
            <a:avLst>
              <a:gd name="adj" fmla="val 3260"/>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413" name="shot-222" descr="shot-222"/>
          <p:cNvPicPr>
            <a:picLocks noChangeAspect="1"/>
          </p:cNvPicPr>
          <p:nvPr/>
        </p:nvPicPr>
        <p:blipFill>
          <a:blip r:embed="rId3">
            <a:extLst/>
          </a:blip>
          <a:stretch>
            <a:fillRect/>
          </a:stretch>
        </p:blipFill>
        <p:spPr>
          <a:xfrm>
            <a:off x="548640" y="1465736"/>
            <a:ext cx="5257801" cy="3743650"/>
          </a:xfrm>
          <a:prstGeom prst="rect">
            <a:avLst/>
          </a:prstGeom>
          <a:ln w="12700">
            <a:miter lim="400000"/>
          </a:ln>
        </p:spPr>
      </p:pic>
      <p:sp>
        <p:nvSpPr>
          <p:cNvPr id="414" name="text-223"/>
          <p:cNvSpPr txBox="1"/>
          <p:nvPr/>
        </p:nvSpPr>
        <p:spPr>
          <a:xfrm>
            <a:off x="548640" y="5427543"/>
            <a:ext cx="525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Run 1: release blocked</a:t>
            </a:r>
          </a:p>
        </p:txBody>
      </p:sp>
      <p:sp>
        <p:nvSpPr>
          <p:cNvPr id="415" name="card-224"/>
          <p:cNvSpPr/>
          <p:nvPr/>
        </p:nvSpPr>
        <p:spPr>
          <a:xfrm>
            <a:off x="6309359" y="1463039"/>
            <a:ext cx="5330953" cy="1115569"/>
          </a:xfrm>
          <a:prstGeom prst="roundRect">
            <a:avLst>
              <a:gd name="adj" fmla="val 14754"/>
            </a:avLst>
          </a:prstGeom>
          <a:solidFill>
            <a:srgbClr val="FFF4F8"/>
          </a:solidFill>
          <a:ln w="12700">
            <a:miter lim="400000"/>
          </a:ln>
        </p:spPr>
        <p:txBody>
          <a:bodyPr lIns="45719" rIns="45719"/>
          <a:lstStyle/>
          <a:p>
            <a:pPr/>
          </a:p>
        </p:txBody>
      </p:sp>
      <p:grpSp>
        <p:nvGrpSpPr>
          <p:cNvPr id="418" name="num-225"/>
          <p:cNvGrpSpPr/>
          <p:nvPr/>
        </p:nvGrpSpPr>
        <p:grpSpPr>
          <a:xfrm>
            <a:off x="6537959" y="1700783"/>
            <a:ext cx="640081" cy="640081"/>
            <a:chOff x="0" y="0"/>
            <a:chExt cx="640080" cy="640080"/>
          </a:xfrm>
        </p:grpSpPr>
        <p:sp>
          <p:nvSpPr>
            <p:cNvPr id="416" name="Circle"/>
            <p:cNvSpPr/>
            <p:nvPr/>
          </p:nvSpPr>
          <p:spPr>
            <a:xfrm>
              <a:off x="-1" y="-1"/>
              <a:ext cx="640082" cy="64008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417" name="1"/>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1</a:t>
              </a:r>
            </a:p>
          </p:txBody>
        </p:sp>
      </p:grpSp>
      <p:sp>
        <p:nvSpPr>
          <p:cNvPr id="419" name="text-226"/>
          <p:cNvSpPr txBox="1"/>
          <p:nvPr/>
        </p:nvSpPr>
        <p:spPr>
          <a:xfrm>
            <a:off x="7360919" y="1804093"/>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46 fixable HIGH CVEs</a:t>
            </a:r>
            <a:endParaRPr sz="1400"/>
          </a:p>
          <a:p>
            <a:pPr>
              <a:defRPr sz="1300">
                <a:solidFill>
                  <a:srgbClr val="6B5B86"/>
                </a:solidFill>
              </a:defRPr>
            </a:pPr>
            <a:r>
              <a:t>4 in the backend (inside pip), 42 in the frontend's Alpine base</a:t>
            </a:r>
          </a:p>
        </p:txBody>
      </p:sp>
      <p:sp>
        <p:nvSpPr>
          <p:cNvPr id="420" name="card-227"/>
          <p:cNvSpPr/>
          <p:nvPr/>
        </p:nvSpPr>
        <p:spPr>
          <a:xfrm>
            <a:off x="6309359" y="2761488"/>
            <a:ext cx="5330953" cy="1115568"/>
          </a:xfrm>
          <a:prstGeom prst="roundRect">
            <a:avLst>
              <a:gd name="adj" fmla="val 14754"/>
            </a:avLst>
          </a:prstGeom>
          <a:solidFill>
            <a:srgbClr val="FFF4F8"/>
          </a:solidFill>
          <a:ln w="12700">
            <a:miter lim="400000"/>
          </a:ln>
        </p:spPr>
        <p:txBody>
          <a:bodyPr lIns="45719" rIns="45719"/>
          <a:lstStyle/>
          <a:p>
            <a:pPr/>
          </a:p>
        </p:txBody>
      </p:sp>
      <p:grpSp>
        <p:nvGrpSpPr>
          <p:cNvPr id="423" name="num-228"/>
          <p:cNvGrpSpPr/>
          <p:nvPr/>
        </p:nvGrpSpPr>
        <p:grpSpPr>
          <a:xfrm>
            <a:off x="6537959" y="2999232"/>
            <a:ext cx="640081" cy="640081"/>
            <a:chOff x="0" y="0"/>
            <a:chExt cx="640080" cy="640080"/>
          </a:xfrm>
        </p:grpSpPr>
        <p:sp>
          <p:nvSpPr>
            <p:cNvPr id="421" name="Circle"/>
            <p:cNvSpPr/>
            <p:nvPr/>
          </p:nvSpPr>
          <p:spPr>
            <a:xfrm>
              <a:off x="-1" y="-1"/>
              <a:ext cx="640082" cy="64008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p>
          </p:txBody>
        </p:sp>
        <p:sp>
          <p:nvSpPr>
            <p:cNvPr id="422" name="2"/>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2</a:t>
              </a:r>
            </a:p>
          </p:txBody>
        </p:sp>
      </p:grpSp>
      <p:sp>
        <p:nvSpPr>
          <p:cNvPr id="424" name="text-229"/>
          <p:cNvSpPr txBox="1"/>
          <p:nvPr/>
        </p:nvSpPr>
        <p:spPr>
          <a:xfrm>
            <a:off x="7360919" y="3102540"/>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Fixed at the source</a:t>
            </a:r>
            <a:endParaRPr sz="1400"/>
          </a:p>
          <a:p>
            <a:pPr>
              <a:defRPr sz="1300">
                <a:solidFill>
                  <a:srgbClr val="6B5B86"/>
                </a:solidFill>
              </a:defRPr>
            </a:pPr>
            <a:r>
              <a:t>removed pip from the runtime image, added apk upgrade</a:t>
            </a:r>
          </a:p>
        </p:txBody>
      </p:sp>
      <p:sp>
        <p:nvSpPr>
          <p:cNvPr id="425" name="card-230"/>
          <p:cNvSpPr/>
          <p:nvPr/>
        </p:nvSpPr>
        <p:spPr>
          <a:xfrm>
            <a:off x="6309359" y="4059935"/>
            <a:ext cx="5330953" cy="1115569"/>
          </a:xfrm>
          <a:prstGeom prst="roundRect">
            <a:avLst>
              <a:gd name="adj" fmla="val 14754"/>
            </a:avLst>
          </a:prstGeom>
          <a:solidFill>
            <a:srgbClr val="FFF4F8"/>
          </a:solidFill>
          <a:ln w="12700">
            <a:miter lim="400000"/>
          </a:ln>
        </p:spPr>
        <p:txBody>
          <a:bodyPr lIns="45719" rIns="45719"/>
          <a:lstStyle/>
          <a:p>
            <a:pPr/>
          </a:p>
        </p:txBody>
      </p:sp>
      <p:grpSp>
        <p:nvGrpSpPr>
          <p:cNvPr id="428" name="num-231"/>
          <p:cNvGrpSpPr/>
          <p:nvPr/>
        </p:nvGrpSpPr>
        <p:grpSpPr>
          <a:xfrm>
            <a:off x="6537959" y="4297679"/>
            <a:ext cx="640081" cy="640081"/>
            <a:chOff x="0" y="0"/>
            <a:chExt cx="640080" cy="640080"/>
          </a:xfrm>
        </p:grpSpPr>
        <p:sp>
          <p:nvSpPr>
            <p:cNvPr id="426" name="Circle"/>
            <p:cNvSpPr/>
            <p:nvPr/>
          </p:nvSpPr>
          <p:spPr>
            <a:xfrm>
              <a:off x="-1" y="-1"/>
              <a:ext cx="640082" cy="64008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p>
          </p:txBody>
        </p:sp>
        <p:sp>
          <p:nvSpPr>
            <p:cNvPr id="427" name="3"/>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3</a:t>
              </a:r>
            </a:p>
          </p:txBody>
        </p:sp>
      </p:grpSp>
      <p:sp>
        <p:nvSpPr>
          <p:cNvPr id="429" name="text-232"/>
          <p:cNvSpPr txBox="1"/>
          <p:nvPr/>
        </p:nvSpPr>
        <p:spPr>
          <a:xfrm>
            <a:off x="7360919" y="4400989"/>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Run 2: gate passed</a:t>
            </a:r>
            <a:endParaRPr sz="1400"/>
          </a:p>
          <a:p>
            <a:pPr>
              <a:defRPr sz="1300">
                <a:solidFill>
                  <a:srgbClr val="6B5B86"/>
                </a:solidFill>
              </a:defRPr>
            </a:pPr>
            <a:r>
              <a:t>0 fixable HIGH/CRITICAL, secrets, SAST, SCA all clean</a:t>
            </a:r>
          </a:p>
        </p:txBody>
      </p:sp>
      <p:sp>
        <p:nvSpPr>
          <p:cNvPr id="430" name="text-233"/>
          <p:cNvSpPr txBox="1"/>
          <p:nvPr/>
        </p:nvSpPr>
        <p:spPr>
          <a:xfrm>
            <a:off x="6309359" y="5585898"/>
            <a:ext cx="5330953"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rgbClr val="6B5B86"/>
                </a:solidFill>
              </a:defRPr>
            </a:lvl1pPr>
          </a:lstStyle>
          <a:p>
            <a:pPr/>
            <a:r>
              <a:t>bandit · pip-audit · npm audit · trivy fs / image / config · gitleaks · gate.py</a:t>
            </a:r>
          </a:p>
        </p:txBody>
      </p:sp>
      <p:sp>
        <p:nvSpPr>
          <p:cNvPr id="431"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37" name="num-234"/>
          <p:cNvGrpSpPr/>
          <p:nvPr/>
        </p:nvGrpSpPr>
        <p:grpSpPr>
          <a:xfrm>
            <a:off x="731519" y="1325879"/>
            <a:ext cx="1234442" cy="1234442"/>
            <a:chOff x="0" y="0"/>
            <a:chExt cx="1234440" cy="1234440"/>
          </a:xfrm>
        </p:grpSpPr>
        <p:sp>
          <p:nvSpPr>
            <p:cNvPr id="435" name="Circle"/>
            <p:cNvSpPr/>
            <p:nvPr/>
          </p:nvSpPr>
          <p:spPr>
            <a:xfrm>
              <a:off x="-1" y="-1"/>
              <a:ext cx="1234442" cy="12344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4000"/>
              </a:pPr>
            </a:p>
          </p:txBody>
        </p:sp>
        <p:sp>
          <p:nvSpPr>
            <p:cNvPr id="436" name="03"/>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03</a:t>
              </a:r>
            </a:p>
          </p:txBody>
        </p:sp>
      </p:grpSp>
      <p:sp>
        <p:nvSpPr>
          <p:cNvPr id="438" name="Text 0"/>
          <p:cNvSpPr txBox="1"/>
          <p:nvPr>
            <p:ph type="title"/>
          </p:nvPr>
        </p:nvSpPr>
        <p:spPr>
          <a:xfrm>
            <a:off x="731520" y="2788920"/>
            <a:ext cx="7680960" cy="1097281"/>
          </a:xfrm>
          <a:prstGeom prst="rect">
            <a:avLst/>
          </a:prstGeom>
        </p:spPr>
        <p:txBody>
          <a:bodyPr lIns="0" tIns="0" rIns="0" bIns="0" anchor="ctr"/>
          <a:lstStyle/>
          <a:p>
            <a:pPr/>
            <a:r>
              <a:t>Run it on Kubernetes</a:t>
            </a:r>
          </a:p>
        </p:txBody>
      </p:sp>
      <p:sp>
        <p:nvSpPr>
          <p:cNvPr id="439" name="Text 0"/>
          <p:cNvSpPr txBox="1"/>
          <p:nvPr>
            <p:ph type="body" sz="quarter" idx="1"/>
          </p:nvPr>
        </p:nvSpPr>
        <p:spPr>
          <a:prstGeom prst="rect">
            <a:avLst/>
          </a:prstGeom>
        </p:spPr>
        <p:txBody>
          <a:bodyPr lIns="0" tIns="0" rIns="0" bIns="0"/>
          <a:lstStyle/>
          <a:p>
            <a:pPr/>
            <a:r>
              <a:t>Raw manifests, a Helm chart, autoscaling under load, and Terraform for AWS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Text 0"/>
          <p:cNvSpPr txBox="1"/>
          <p:nvPr>
            <p:ph type="title"/>
          </p:nvPr>
        </p:nvSpPr>
        <p:spPr>
          <a:xfrm>
            <a:off x="548639" y="347472"/>
            <a:ext cx="9692642" cy="777241"/>
          </a:xfrm>
          <a:prstGeom prst="rect">
            <a:avLst/>
          </a:prstGeom>
        </p:spPr>
        <p:txBody>
          <a:bodyPr lIns="0" tIns="0" rIns="0" bIns="0" anchor="ctr"/>
          <a:lstStyle/>
          <a:p>
            <a:pPr/>
            <a:r>
              <a:t>Everything the cluster needs</a:t>
            </a:r>
          </a:p>
        </p:txBody>
      </p:sp>
      <p:sp>
        <p:nvSpPr>
          <p:cNvPr id="444" name="card-236"/>
          <p:cNvSpPr/>
          <p:nvPr/>
        </p:nvSpPr>
        <p:spPr>
          <a:xfrm>
            <a:off x="548640" y="1463039"/>
            <a:ext cx="2560321" cy="786385"/>
          </a:xfrm>
          <a:prstGeom prst="roundRect">
            <a:avLst>
              <a:gd name="adj" fmla="val 20930"/>
            </a:avLst>
          </a:prstGeom>
          <a:solidFill>
            <a:srgbClr val="FFF4F8"/>
          </a:solidFill>
          <a:ln w="12700">
            <a:miter lim="400000"/>
          </a:ln>
        </p:spPr>
        <p:txBody>
          <a:bodyPr lIns="45719" rIns="45719"/>
          <a:lstStyle/>
          <a:p>
            <a:pPr/>
          </a:p>
        </p:txBody>
      </p:sp>
      <p:sp>
        <p:nvSpPr>
          <p:cNvPr id="445" name="tick-237"/>
          <p:cNvSpPr/>
          <p:nvPr/>
        </p:nvSpPr>
        <p:spPr>
          <a:xfrm>
            <a:off x="713231" y="1682495"/>
            <a:ext cx="347474" cy="347473"/>
          </a:xfrm>
          <a:prstGeom prst="ellipse">
            <a:avLst/>
          </a:prstGeom>
          <a:solidFill>
            <a:schemeClr val="accent3"/>
          </a:solidFill>
          <a:ln w="12700">
            <a:miter lim="400000"/>
          </a:ln>
        </p:spPr>
        <p:txBody>
          <a:bodyPr lIns="45719" rIns="45719"/>
          <a:lstStyle/>
          <a:p>
            <a:pPr/>
          </a:p>
        </p:txBody>
      </p:sp>
      <p:pic>
        <p:nvPicPr>
          <p:cNvPr id="446" name="tickicon-238" descr="tickicon-238"/>
          <p:cNvPicPr>
            <a:picLocks noChangeAspect="1"/>
          </p:cNvPicPr>
          <p:nvPr/>
        </p:nvPicPr>
        <p:blipFill>
          <a:blip r:embed="rId3">
            <a:extLst/>
          </a:blip>
          <a:stretch>
            <a:fillRect/>
          </a:stretch>
        </p:blipFill>
        <p:spPr>
          <a:xfrm>
            <a:off x="786383" y="1755648"/>
            <a:ext cx="201169" cy="201169"/>
          </a:xfrm>
          <a:prstGeom prst="rect">
            <a:avLst/>
          </a:prstGeom>
          <a:ln w="12700">
            <a:miter lim="400000"/>
          </a:ln>
        </p:spPr>
      </p:pic>
      <p:sp>
        <p:nvSpPr>
          <p:cNvPr id="447" name="text-239"/>
          <p:cNvSpPr txBox="1"/>
          <p:nvPr/>
        </p:nvSpPr>
        <p:spPr>
          <a:xfrm>
            <a:off x="1170432" y="16634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Namespace</a:t>
            </a:r>
          </a:p>
          <a:p>
            <a:pPr>
              <a:defRPr sz="1200">
                <a:solidFill>
                  <a:srgbClr val="6B5B86"/>
                </a:solidFill>
              </a:defRPr>
            </a:pPr>
            <a:r>
              <a:t>final-app</a:t>
            </a:r>
          </a:p>
        </p:txBody>
      </p:sp>
      <p:sp>
        <p:nvSpPr>
          <p:cNvPr id="448" name="card-240"/>
          <p:cNvSpPr/>
          <p:nvPr/>
        </p:nvSpPr>
        <p:spPr>
          <a:xfrm>
            <a:off x="3246120" y="1463039"/>
            <a:ext cx="2560321" cy="786385"/>
          </a:xfrm>
          <a:prstGeom prst="roundRect">
            <a:avLst>
              <a:gd name="adj" fmla="val 20930"/>
            </a:avLst>
          </a:prstGeom>
          <a:solidFill>
            <a:srgbClr val="FFF4F8"/>
          </a:solidFill>
          <a:ln w="12700">
            <a:miter lim="400000"/>
          </a:ln>
        </p:spPr>
        <p:txBody>
          <a:bodyPr lIns="45719" rIns="45719"/>
          <a:lstStyle/>
          <a:p>
            <a:pPr/>
          </a:p>
        </p:txBody>
      </p:sp>
      <p:sp>
        <p:nvSpPr>
          <p:cNvPr id="449" name="tick-241"/>
          <p:cNvSpPr/>
          <p:nvPr/>
        </p:nvSpPr>
        <p:spPr>
          <a:xfrm>
            <a:off x="3410711" y="1682495"/>
            <a:ext cx="347473" cy="347473"/>
          </a:xfrm>
          <a:prstGeom prst="ellipse">
            <a:avLst/>
          </a:prstGeom>
          <a:solidFill>
            <a:schemeClr val="accent3"/>
          </a:solidFill>
          <a:ln w="12700">
            <a:miter lim="400000"/>
          </a:ln>
        </p:spPr>
        <p:txBody>
          <a:bodyPr lIns="45719" rIns="45719"/>
          <a:lstStyle/>
          <a:p>
            <a:pPr/>
          </a:p>
        </p:txBody>
      </p:sp>
      <p:pic>
        <p:nvPicPr>
          <p:cNvPr id="450" name="tickicon-242" descr="tickicon-242"/>
          <p:cNvPicPr>
            <a:picLocks noChangeAspect="1"/>
          </p:cNvPicPr>
          <p:nvPr/>
        </p:nvPicPr>
        <p:blipFill>
          <a:blip r:embed="rId3">
            <a:extLst/>
          </a:blip>
          <a:stretch>
            <a:fillRect/>
          </a:stretch>
        </p:blipFill>
        <p:spPr>
          <a:xfrm>
            <a:off x="3483864" y="1755648"/>
            <a:ext cx="201169" cy="201169"/>
          </a:xfrm>
          <a:prstGeom prst="rect">
            <a:avLst/>
          </a:prstGeom>
          <a:ln w="12700">
            <a:miter lim="400000"/>
          </a:ln>
        </p:spPr>
      </p:pic>
      <p:sp>
        <p:nvSpPr>
          <p:cNvPr id="451" name="text-243"/>
          <p:cNvSpPr txBox="1"/>
          <p:nvPr/>
        </p:nvSpPr>
        <p:spPr>
          <a:xfrm>
            <a:off x="3867911" y="16634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ConfigMap</a:t>
            </a:r>
          </a:p>
          <a:p>
            <a:pPr>
              <a:defRPr sz="1200">
                <a:solidFill>
                  <a:srgbClr val="6B5B86"/>
                </a:solidFill>
              </a:defRPr>
            </a:pPr>
            <a:r>
              <a:t>DB host, port, env</a:t>
            </a:r>
          </a:p>
        </p:txBody>
      </p:sp>
      <p:sp>
        <p:nvSpPr>
          <p:cNvPr id="452" name="card-244"/>
          <p:cNvSpPr/>
          <p:nvPr/>
        </p:nvSpPr>
        <p:spPr>
          <a:xfrm>
            <a:off x="548640" y="2377439"/>
            <a:ext cx="2560321" cy="786385"/>
          </a:xfrm>
          <a:prstGeom prst="roundRect">
            <a:avLst>
              <a:gd name="adj" fmla="val 20930"/>
            </a:avLst>
          </a:prstGeom>
          <a:solidFill>
            <a:srgbClr val="FFF4F8"/>
          </a:solidFill>
          <a:ln w="12700">
            <a:miter lim="400000"/>
          </a:ln>
        </p:spPr>
        <p:txBody>
          <a:bodyPr lIns="45719" rIns="45719"/>
          <a:lstStyle/>
          <a:p>
            <a:pPr/>
          </a:p>
        </p:txBody>
      </p:sp>
      <p:sp>
        <p:nvSpPr>
          <p:cNvPr id="453" name="tick-245"/>
          <p:cNvSpPr/>
          <p:nvPr/>
        </p:nvSpPr>
        <p:spPr>
          <a:xfrm>
            <a:off x="713231" y="2596895"/>
            <a:ext cx="347474" cy="347473"/>
          </a:xfrm>
          <a:prstGeom prst="ellipse">
            <a:avLst/>
          </a:prstGeom>
          <a:solidFill>
            <a:schemeClr val="accent3"/>
          </a:solidFill>
          <a:ln w="12700">
            <a:miter lim="400000"/>
          </a:ln>
        </p:spPr>
        <p:txBody>
          <a:bodyPr lIns="45719" rIns="45719"/>
          <a:lstStyle/>
          <a:p>
            <a:pPr/>
          </a:p>
        </p:txBody>
      </p:sp>
      <p:pic>
        <p:nvPicPr>
          <p:cNvPr id="454" name="tickicon-246" descr="tickicon-246"/>
          <p:cNvPicPr>
            <a:picLocks noChangeAspect="1"/>
          </p:cNvPicPr>
          <p:nvPr/>
        </p:nvPicPr>
        <p:blipFill>
          <a:blip r:embed="rId3">
            <a:extLst/>
          </a:blip>
          <a:stretch>
            <a:fillRect/>
          </a:stretch>
        </p:blipFill>
        <p:spPr>
          <a:xfrm>
            <a:off x="786383" y="2670048"/>
            <a:ext cx="201169" cy="201169"/>
          </a:xfrm>
          <a:prstGeom prst="rect">
            <a:avLst/>
          </a:prstGeom>
          <a:ln w="12700">
            <a:miter lim="400000"/>
          </a:ln>
        </p:spPr>
      </p:pic>
      <p:sp>
        <p:nvSpPr>
          <p:cNvPr id="455" name="text-247"/>
          <p:cNvSpPr txBox="1"/>
          <p:nvPr/>
        </p:nvSpPr>
        <p:spPr>
          <a:xfrm>
            <a:off x="1170432" y="25778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Secret</a:t>
            </a:r>
          </a:p>
          <a:p>
            <a:pPr>
              <a:defRPr sz="1200">
                <a:solidFill>
                  <a:srgbClr val="6B5B86"/>
                </a:solidFill>
              </a:defRPr>
            </a:pPr>
            <a:r>
              <a:t>DB user + password</a:t>
            </a:r>
          </a:p>
        </p:txBody>
      </p:sp>
      <p:sp>
        <p:nvSpPr>
          <p:cNvPr id="456" name="card-248"/>
          <p:cNvSpPr/>
          <p:nvPr/>
        </p:nvSpPr>
        <p:spPr>
          <a:xfrm>
            <a:off x="3246120" y="2377439"/>
            <a:ext cx="2560321" cy="786385"/>
          </a:xfrm>
          <a:prstGeom prst="roundRect">
            <a:avLst>
              <a:gd name="adj" fmla="val 20930"/>
            </a:avLst>
          </a:prstGeom>
          <a:solidFill>
            <a:srgbClr val="FFF4F8"/>
          </a:solidFill>
          <a:ln w="12700">
            <a:miter lim="400000"/>
          </a:ln>
        </p:spPr>
        <p:txBody>
          <a:bodyPr lIns="45719" rIns="45719"/>
          <a:lstStyle/>
          <a:p>
            <a:pPr/>
          </a:p>
        </p:txBody>
      </p:sp>
      <p:sp>
        <p:nvSpPr>
          <p:cNvPr id="457" name="tick-249"/>
          <p:cNvSpPr/>
          <p:nvPr/>
        </p:nvSpPr>
        <p:spPr>
          <a:xfrm>
            <a:off x="3410711" y="2596895"/>
            <a:ext cx="347473" cy="347473"/>
          </a:xfrm>
          <a:prstGeom prst="ellipse">
            <a:avLst/>
          </a:prstGeom>
          <a:solidFill>
            <a:schemeClr val="accent3"/>
          </a:solidFill>
          <a:ln w="12700">
            <a:miter lim="400000"/>
          </a:ln>
        </p:spPr>
        <p:txBody>
          <a:bodyPr lIns="45719" rIns="45719"/>
          <a:lstStyle/>
          <a:p>
            <a:pPr/>
          </a:p>
        </p:txBody>
      </p:sp>
      <p:pic>
        <p:nvPicPr>
          <p:cNvPr id="458" name="tickicon-250" descr="tickicon-250"/>
          <p:cNvPicPr>
            <a:picLocks noChangeAspect="1"/>
          </p:cNvPicPr>
          <p:nvPr/>
        </p:nvPicPr>
        <p:blipFill>
          <a:blip r:embed="rId3">
            <a:extLst/>
          </a:blip>
          <a:stretch>
            <a:fillRect/>
          </a:stretch>
        </p:blipFill>
        <p:spPr>
          <a:xfrm>
            <a:off x="3483864" y="2670048"/>
            <a:ext cx="201169" cy="201169"/>
          </a:xfrm>
          <a:prstGeom prst="rect">
            <a:avLst/>
          </a:prstGeom>
          <a:ln w="12700">
            <a:miter lim="400000"/>
          </a:ln>
        </p:spPr>
      </p:pic>
      <p:sp>
        <p:nvSpPr>
          <p:cNvPr id="459" name="text-251"/>
          <p:cNvSpPr txBox="1"/>
          <p:nvPr/>
        </p:nvSpPr>
        <p:spPr>
          <a:xfrm>
            <a:off x="3867911" y="25778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StatefulSet + PVC</a:t>
            </a:r>
          </a:p>
          <a:p>
            <a:pPr>
              <a:defRPr sz="1200">
                <a:solidFill>
                  <a:srgbClr val="6B5B86"/>
                </a:solidFill>
              </a:defRPr>
            </a:pPr>
            <a:r>
              <a:t>Postgres, 1 Gi volume</a:t>
            </a:r>
          </a:p>
        </p:txBody>
      </p:sp>
      <p:sp>
        <p:nvSpPr>
          <p:cNvPr id="460" name="card-252"/>
          <p:cNvSpPr/>
          <p:nvPr/>
        </p:nvSpPr>
        <p:spPr>
          <a:xfrm>
            <a:off x="548640" y="3291840"/>
            <a:ext cx="2560321" cy="786385"/>
          </a:xfrm>
          <a:prstGeom prst="roundRect">
            <a:avLst>
              <a:gd name="adj" fmla="val 20930"/>
            </a:avLst>
          </a:prstGeom>
          <a:solidFill>
            <a:srgbClr val="FFF4F8"/>
          </a:solidFill>
          <a:ln w="12700">
            <a:miter lim="400000"/>
          </a:ln>
        </p:spPr>
        <p:txBody>
          <a:bodyPr lIns="45719" rIns="45719"/>
          <a:lstStyle/>
          <a:p>
            <a:pPr/>
          </a:p>
        </p:txBody>
      </p:sp>
      <p:sp>
        <p:nvSpPr>
          <p:cNvPr id="461" name="tick-253"/>
          <p:cNvSpPr/>
          <p:nvPr/>
        </p:nvSpPr>
        <p:spPr>
          <a:xfrm>
            <a:off x="713231" y="3511296"/>
            <a:ext cx="347474" cy="347473"/>
          </a:xfrm>
          <a:prstGeom prst="ellipse">
            <a:avLst/>
          </a:prstGeom>
          <a:solidFill>
            <a:schemeClr val="accent3"/>
          </a:solidFill>
          <a:ln w="12700">
            <a:miter lim="400000"/>
          </a:ln>
        </p:spPr>
        <p:txBody>
          <a:bodyPr lIns="45719" rIns="45719"/>
          <a:lstStyle/>
          <a:p>
            <a:pPr/>
          </a:p>
        </p:txBody>
      </p:sp>
      <p:pic>
        <p:nvPicPr>
          <p:cNvPr id="462" name="tickicon-254" descr="tickicon-254"/>
          <p:cNvPicPr>
            <a:picLocks noChangeAspect="1"/>
          </p:cNvPicPr>
          <p:nvPr/>
        </p:nvPicPr>
        <p:blipFill>
          <a:blip r:embed="rId3">
            <a:extLst/>
          </a:blip>
          <a:stretch>
            <a:fillRect/>
          </a:stretch>
        </p:blipFill>
        <p:spPr>
          <a:xfrm>
            <a:off x="786383" y="3584447"/>
            <a:ext cx="201169" cy="201169"/>
          </a:xfrm>
          <a:prstGeom prst="rect">
            <a:avLst/>
          </a:prstGeom>
          <a:ln w="12700">
            <a:miter lim="400000"/>
          </a:ln>
        </p:spPr>
      </p:pic>
      <p:sp>
        <p:nvSpPr>
          <p:cNvPr id="463" name="text-255"/>
          <p:cNvSpPr txBox="1"/>
          <p:nvPr/>
        </p:nvSpPr>
        <p:spPr>
          <a:xfrm>
            <a:off x="1170432" y="34922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Deployments</a:t>
            </a:r>
          </a:p>
          <a:p>
            <a:pPr>
              <a:defRPr sz="1200">
                <a:solidFill>
                  <a:srgbClr val="6B5B86"/>
                </a:solidFill>
              </a:defRPr>
            </a:pPr>
            <a:r>
              <a:t>2 replicas each</a:t>
            </a:r>
          </a:p>
        </p:txBody>
      </p:sp>
      <p:sp>
        <p:nvSpPr>
          <p:cNvPr id="464" name="card-256"/>
          <p:cNvSpPr/>
          <p:nvPr/>
        </p:nvSpPr>
        <p:spPr>
          <a:xfrm>
            <a:off x="3246120" y="3291840"/>
            <a:ext cx="2560321" cy="786385"/>
          </a:xfrm>
          <a:prstGeom prst="roundRect">
            <a:avLst>
              <a:gd name="adj" fmla="val 20930"/>
            </a:avLst>
          </a:prstGeom>
          <a:solidFill>
            <a:srgbClr val="FFF4F8"/>
          </a:solidFill>
          <a:ln w="12700">
            <a:miter lim="400000"/>
          </a:ln>
        </p:spPr>
        <p:txBody>
          <a:bodyPr lIns="45719" rIns="45719"/>
          <a:lstStyle/>
          <a:p>
            <a:pPr/>
          </a:p>
        </p:txBody>
      </p:sp>
      <p:sp>
        <p:nvSpPr>
          <p:cNvPr id="465" name="tick-257"/>
          <p:cNvSpPr/>
          <p:nvPr/>
        </p:nvSpPr>
        <p:spPr>
          <a:xfrm>
            <a:off x="3410711" y="3511296"/>
            <a:ext cx="347473" cy="347473"/>
          </a:xfrm>
          <a:prstGeom prst="ellipse">
            <a:avLst/>
          </a:prstGeom>
          <a:solidFill>
            <a:schemeClr val="accent3"/>
          </a:solidFill>
          <a:ln w="12700">
            <a:miter lim="400000"/>
          </a:ln>
        </p:spPr>
        <p:txBody>
          <a:bodyPr lIns="45719" rIns="45719"/>
          <a:lstStyle/>
          <a:p>
            <a:pPr/>
          </a:p>
        </p:txBody>
      </p:sp>
      <p:pic>
        <p:nvPicPr>
          <p:cNvPr id="466" name="tickicon-258" descr="tickicon-258"/>
          <p:cNvPicPr>
            <a:picLocks noChangeAspect="1"/>
          </p:cNvPicPr>
          <p:nvPr/>
        </p:nvPicPr>
        <p:blipFill>
          <a:blip r:embed="rId3">
            <a:extLst/>
          </a:blip>
          <a:stretch>
            <a:fillRect/>
          </a:stretch>
        </p:blipFill>
        <p:spPr>
          <a:xfrm>
            <a:off x="3483864" y="3584447"/>
            <a:ext cx="201169" cy="201169"/>
          </a:xfrm>
          <a:prstGeom prst="rect">
            <a:avLst/>
          </a:prstGeom>
          <a:ln w="12700">
            <a:miter lim="400000"/>
          </a:ln>
        </p:spPr>
      </p:pic>
      <p:sp>
        <p:nvSpPr>
          <p:cNvPr id="467" name="text-259"/>
          <p:cNvSpPr txBox="1"/>
          <p:nvPr/>
        </p:nvSpPr>
        <p:spPr>
          <a:xfrm>
            <a:off x="3867911" y="34922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Services</a:t>
            </a:r>
          </a:p>
          <a:p>
            <a:pPr>
              <a:defRPr sz="1200">
                <a:solidFill>
                  <a:srgbClr val="6B5B86"/>
                </a:solidFill>
              </a:defRPr>
            </a:pPr>
            <a:r>
              <a:t>ClusterIP + headless</a:t>
            </a:r>
          </a:p>
        </p:txBody>
      </p:sp>
      <p:sp>
        <p:nvSpPr>
          <p:cNvPr id="468" name="card-260"/>
          <p:cNvSpPr/>
          <p:nvPr/>
        </p:nvSpPr>
        <p:spPr>
          <a:xfrm>
            <a:off x="548640" y="4206240"/>
            <a:ext cx="2560321" cy="786385"/>
          </a:xfrm>
          <a:prstGeom prst="roundRect">
            <a:avLst>
              <a:gd name="adj" fmla="val 20930"/>
            </a:avLst>
          </a:prstGeom>
          <a:solidFill>
            <a:srgbClr val="FFF4F8"/>
          </a:solidFill>
          <a:ln w="12700">
            <a:miter lim="400000"/>
          </a:ln>
        </p:spPr>
        <p:txBody>
          <a:bodyPr lIns="45719" rIns="45719"/>
          <a:lstStyle/>
          <a:p>
            <a:pPr/>
          </a:p>
        </p:txBody>
      </p:sp>
      <p:sp>
        <p:nvSpPr>
          <p:cNvPr id="469" name="tick-261"/>
          <p:cNvSpPr/>
          <p:nvPr/>
        </p:nvSpPr>
        <p:spPr>
          <a:xfrm>
            <a:off x="713231" y="4425696"/>
            <a:ext cx="347474" cy="347473"/>
          </a:xfrm>
          <a:prstGeom prst="ellipse">
            <a:avLst/>
          </a:prstGeom>
          <a:solidFill>
            <a:schemeClr val="accent3"/>
          </a:solidFill>
          <a:ln w="12700">
            <a:miter lim="400000"/>
          </a:ln>
        </p:spPr>
        <p:txBody>
          <a:bodyPr lIns="45719" rIns="45719"/>
          <a:lstStyle/>
          <a:p>
            <a:pPr/>
          </a:p>
        </p:txBody>
      </p:sp>
      <p:pic>
        <p:nvPicPr>
          <p:cNvPr id="470" name="tickicon-262" descr="tickicon-262"/>
          <p:cNvPicPr>
            <a:picLocks noChangeAspect="1"/>
          </p:cNvPicPr>
          <p:nvPr/>
        </p:nvPicPr>
        <p:blipFill>
          <a:blip r:embed="rId3">
            <a:extLst/>
          </a:blip>
          <a:stretch>
            <a:fillRect/>
          </a:stretch>
        </p:blipFill>
        <p:spPr>
          <a:xfrm>
            <a:off x="786383" y="4498847"/>
            <a:ext cx="201169" cy="201169"/>
          </a:xfrm>
          <a:prstGeom prst="rect">
            <a:avLst/>
          </a:prstGeom>
          <a:ln w="12700">
            <a:miter lim="400000"/>
          </a:ln>
        </p:spPr>
      </p:pic>
      <p:sp>
        <p:nvSpPr>
          <p:cNvPr id="471" name="text-263"/>
          <p:cNvSpPr txBox="1"/>
          <p:nvPr/>
        </p:nvSpPr>
        <p:spPr>
          <a:xfrm>
            <a:off x="1170432" y="44066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Ingress</a:t>
            </a:r>
          </a:p>
          <a:p>
            <a:pPr>
              <a:defRPr sz="1200">
                <a:solidFill>
                  <a:srgbClr val="6B5B86"/>
                </a:solidFill>
              </a:defRPr>
            </a:pPr>
            <a:r>
              <a:t>/ and /api routing</a:t>
            </a:r>
          </a:p>
        </p:txBody>
      </p:sp>
      <p:sp>
        <p:nvSpPr>
          <p:cNvPr id="472" name="card-264"/>
          <p:cNvSpPr/>
          <p:nvPr/>
        </p:nvSpPr>
        <p:spPr>
          <a:xfrm>
            <a:off x="3246120" y="4206240"/>
            <a:ext cx="2560321" cy="786385"/>
          </a:xfrm>
          <a:prstGeom prst="roundRect">
            <a:avLst>
              <a:gd name="adj" fmla="val 20930"/>
            </a:avLst>
          </a:prstGeom>
          <a:solidFill>
            <a:srgbClr val="FFF4F8"/>
          </a:solidFill>
          <a:ln w="12700">
            <a:miter lim="400000"/>
          </a:ln>
        </p:spPr>
        <p:txBody>
          <a:bodyPr lIns="45719" rIns="45719"/>
          <a:lstStyle/>
          <a:p>
            <a:pPr/>
          </a:p>
        </p:txBody>
      </p:sp>
      <p:sp>
        <p:nvSpPr>
          <p:cNvPr id="473" name="tick-265"/>
          <p:cNvSpPr/>
          <p:nvPr/>
        </p:nvSpPr>
        <p:spPr>
          <a:xfrm>
            <a:off x="3410711" y="4425696"/>
            <a:ext cx="347473" cy="347473"/>
          </a:xfrm>
          <a:prstGeom prst="ellipse">
            <a:avLst/>
          </a:prstGeom>
          <a:solidFill>
            <a:schemeClr val="accent3"/>
          </a:solidFill>
          <a:ln w="12700">
            <a:miter lim="400000"/>
          </a:ln>
        </p:spPr>
        <p:txBody>
          <a:bodyPr lIns="45719" rIns="45719"/>
          <a:lstStyle/>
          <a:p>
            <a:pPr/>
          </a:p>
        </p:txBody>
      </p:sp>
      <p:pic>
        <p:nvPicPr>
          <p:cNvPr id="474" name="tickicon-266" descr="tickicon-266"/>
          <p:cNvPicPr>
            <a:picLocks noChangeAspect="1"/>
          </p:cNvPicPr>
          <p:nvPr/>
        </p:nvPicPr>
        <p:blipFill>
          <a:blip r:embed="rId3">
            <a:extLst/>
          </a:blip>
          <a:stretch>
            <a:fillRect/>
          </a:stretch>
        </p:blipFill>
        <p:spPr>
          <a:xfrm>
            <a:off x="3483864" y="4498847"/>
            <a:ext cx="201169" cy="201169"/>
          </a:xfrm>
          <a:prstGeom prst="rect">
            <a:avLst/>
          </a:prstGeom>
          <a:ln w="12700">
            <a:miter lim="400000"/>
          </a:ln>
        </p:spPr>
      </p:pic>
      <p:sp>
        <p:nvSpPr>
          <p:cNvPr id="475" name="text-267"/>
          <p:cNvSpPr txBox="1"/>
          <p:nvPr/>
        </p:nvSpPr>
        <p:spPr>
          <a:xfrm>
            <a:off x="3867911" y="44066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HPA</a:t>
            </a:r>
          </a:p>
          <a:p>
            <a:pPr>
              <a:defRPr sz="1200">
                <a:solidFill>
                  <a:srgbClr val="6B5B86"/>
                </a:solidFill>
              </a:defRPr>
            </a:pPr>
            <a:r>
              <a:t>backend 2-5 @ 60% CPU</a:t>
            </a:r>
          </a:p>
        </p:txBody>
      </p:sp>
      <p:sp>
        <p:nvSpPr>
          <p:cNvPr id="476" name="card-268"/>
          <p:cNvSpPr/>
          <p:nvPr/>
        </p:nvSpPr>
        <p:spPr>
          <a:xfrm>
            <a:off x="548640" y="5120640"/>
            <a:ext cx="2560321" cy="786385"/>
          </a:xfrm>
          <a:prstGeom prst="roundRect">
            <a:avLst>
              <a:gd name="adj" fmla="val 20930"/>
            </a:avLst>
          </a:prstGeom>
          <a:solidFill>
            <a:srgbClr val="FFF4F8"/>
          </a:solidFill>
          <a:ln w="12700">
            <a:miter lim="400000"/>
          </a:ln>
        </p:spPr>
        <p:txBody>
          <a:bodyPr lIns="45719" rIns="45719"/>
          <a:lstStyle/>
          <a:p>
            <a:pPr/>
          </a:p>
        </p:txBody>
      </p:sp>
      <p:sp>
        <p:nvSpPr>
          <p:cNvPr id="477" name="tick-269"/>
          <p:cNvSpPr/>
          <p:nvPr/>
        </p:nvSpPr>
        <p:spPr>
          <a:xfrm>
            <a:off x="713231" y="5340096"/>
            <a:ext cx="347474" cy="347473"/>
          </a:xfrm>
          <a:prstGeom prst="ellipse">
            <a:avLst/>
          </a:prstGeom>
          <a:solidFill>
            <a:schemeClr val="accent3"/>
          </a:solidFill>
          <a:ln w="12700">
            <a:miter lim="400000"/>
          </a:ln>
        </p:spPr>
        <p:txBody>
          <a:bodyPr lIns="45719" rIns="45719"/>
          <a:lstStyle/>
          <a:p>
            <a:pPr/>
          </a:p>
        </p:txBody>
      </p:sp>
      <p:pic>
        <p:nvPicPr>
          <p:cNvPr id="478" name="tickicon-270" descr="tickicon-270"/>
          <p:cNvPicPr>
            <a:picLocks noChangeAspect="1"/>
          </p:cNvPicPr>
          <p:nvPr/>
        </p:nvPicPr>
        <p:blipFill>
          <a:blip r:embed="rId3">
            <a:extLst/>
          </a:blip>
          <a:stretch>
            <a:fillRect/>
          </a:stretch>
        </p:blipFill>
        <p:spPr>
          <a:xfrm>
            <a:off x="786383" y="5413247"/>
            <a:ext cx="201169" cy="201169"/>
          </a:xfrm>
          <a:prstGeom prst="rect">
            <a:avLst/>
          </a:prstGeom>
          <a:ln w="12700">
            <a:miter lim="400000"/>
          </a:ln>
        </p:spPr>
      </p:pic>
      <p:sp>
        <p:nvSpPr>
          <p:cNvPr id="479" name="text-271"/>
          <p:cNvSpPr txBox="1"/>
          <p:nvPr/>
        </p:nvSpPr>
        <p:spPr>
          <a:xfrm>
            <a:off x="1170432" y="53210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3 kinds of probes</a:t>
            </a:r>
          </a:p>
          <a:p>
            <a:pPr>
              <a:defRPr sz="1200">
                <a:solidFill>
                  <a:srgbClr val="6B5B86"/>
                </a:solidFill>
              </a:defRPr>
            </a:pPr>
            <a:r>
              <a:t>startup, readiness, liveness</a:t>
            </a:r>
          </a:p>
        </p:txBody>
      </p:sp>
      <p:sp>
        <p:nvSpPr>
          <p:cNvPr id="480" name="card-272"/>
          <p:cNvSpPr/>
          <p:nvPr/>
        </p:nvSpPr>
        <p:spPr>
          <a:xfrm>
            <a:off x="3246120" y="5120640"/>
            <a:ext cx="2560321" cy="786385"/>
          </a:xfrm>
          <a:prstGeom prst="roundRect">
            <a:avLst>
              <a:gd name="adj" fmla="val 20930"/>
            </a:avLst>
          </a:prstGeom>
          <a:solidFill>
            <a:srgbClr val="FFF4F8"/>
          </a:solidFill>
          <a:ln w="12700">
            <a:miter lim="400000"/>
          </a:ln>
        </p:spPr>
        <p:txBody>
          <a:bodyPr lIns="45719" rIns="45719"/>
          <a:lstStyle/>
          <a:p>
            <a:pPr/>
          </a:p>
        </p:txBody>
      </p:sp>
      <p:sp>
        <p:nvSpPr>
          <p:cNvPr id="481" name="tick-273"/>
          <p:cNvSpPr/>
          <p:nvPr/>
        </p:nvSpPr>
        <p:spPr>
          <a:xfrm>
            <a:off x="3410711" y="5340096"/>
            <a:ext cx="347473" cy="347473"/>
          </a:xfrm>
          <a:prstGeom prst="ellipse">
            <a:avLst/>
          </a:prstGeom>
          <a:solidFill>
            <a:schemeClr val="accent3"/>
          </a:solidFill>
          <a:ln w="12700">
            <a:miter lim="400000"/>
          </a:ln>
        </p:spPr>
        <p:txBody>
          <a:bodyPr lIns="45719" rIns="45719"/>
          <a:lstStyle/>
          <a:p>
            <a:pPr/>
          </a:p>
        </p:txBody>
      </p:sp>
      <p:pic>
        <p:nvPicPr>
          <p:cNvPr id="482" name="tickicon-274" descr="tickicon-274"/>
          <p:cNvPicPr>
            <a:picLocks noChangeAspect="1"/>
          </p:cNvPicPr>
          <p:nvPr/>
        </p:nvPicPr>
        <p:blipFill>
          <a:blip r:embed="rId3">
            <a:extLst/>
          </a:blip>
          <a:stretch>
            <a:fillRect/>
          </a:stretch>
        </p:blipFill>
        <p:spPr>
          <a:xfrm>
            <a:off x="3483864" y="5413247"/>
            <a:ext cx="201169" cy="201169"/>
          </a:xfrm>
          <a:prstGeom prst="rect">
            <a:avLst/>
          </a:prstGeom>
          <a:ln w="12700">
            <a:miter lim="400000"/>
          </a:ln>
        </p:spPr>
      </p:pic>
      <p:sp>
        <p:nvSpPr>
          <p:cNvPr id="483" name="text-275"/>
          <p:cNvSpPr txBox="1"/>
          <p:nvPr/>
        </p:nvSpPr>
        <p:spPr>
          <a:xfrm>
            <a:off x="3867911" y="53210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Locked-down pods</a:t>
            </a:r>
          </a:p>
          <a:p>
            <a:pPr>
              <a:defRPr sz="1200">
                <a:solidFill>
                  <a:srgbClr val="6B5B86"/>
                </a:solidFill>
              </a:defRPr>
            </a:pPr>
            <a:r>
              <a:t>non-root, read-only, no caps</a:t>
            </a:r>
          </a:p>
        </p:txBody>
      </p:sp>
      <p:sp>
        <p:nvSpPr>
          <p:cNvPr id="484" name="frame-276"/>
          <p:cNvSpPr/>
          <p:nvPr/>
        </p:nvSpPr>
        <p:spPr>
          <a:xfrm>
            <a:off x="5989320" y="1508125"/>
            <a:ext cx="5715001" cy="4024630"/>
          </a:xfrm>
          <a:prstGeom prst="roundRect">
            <a:avLst>
              <a:gd name="adj" fmla="val 3181"/>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485" name="shot-277" descr="shot-277"/>
          <p:cNvPicPr>
            <a:picLocks noChangeAspect="1"/>
          </p:cNvPicPr>
          <p:nvPr/>
        </p:nvPicPr>
        <p:blipFill>
          <a:blip r:embed="rId4">
            <a:extLst/>
          </a:blip>
          <a:stretch>
            <a:fillRect/>
          </a:stretch>
        </p:blipFill>
        <p:spPr>
          <a:xfrm>
            <a:off x="6080759" y="1599564"/>
            <a:ext cx="5532121" cy="3841751"/>
          </a:xfrm>
          <a:prstGeom prst="rect">
            <a:avLst/>
          </a:prstGeom>
          <a:ln w="12700">
            <a:miter lim="400000"/>
          </a:ln>
        </p:spPr>
      </p:pic>
      <p:sp>
        <p:nvSpPr>
          <p:cNvPr id="486" name="text-278"/>
          <p:cNvSpPr txBox="1"/>
          <p:nvPr/>
        </p:nvSpPr>
        <p:spPr>
          <a:xfrm>
            <a:off x="6080759" y="5830746"/>
            <a:ext cx="55321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StockSense served through the Kubernetes Ingress</a:t>
            </a:r>
          </a:p>
        </p:txBody>
      </p:sp>
      <p:sp>
        <p:nvSpPr>
          <p:cNvPr id="487"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Text 0"/>
          <p:cNvSpPr txBox="1"/>
          <p:nvPr>
            <p:ph type="title"/>
          </p:nvPr>
        </p:nvSpPr>
        <p:spPr>
          <a:xfrm>
            <a:off x="548639" y="347472"/>
            <a:ext cx="9692642" cy="777241"/>
          </a:xfrm>
          <a:prstGeom prst="rect">
            <a:avLst/>
          </a:prstGeom>
        </p:spPr>
        <p:txBody>
          <a:bodyPr lIns="0" tIns="0" rIns="0" bIns="0" anchor="ctr"/>
          <a:lstStyle/>
          <a:p>
            <a:pPr/>
            <a:r>
              <a:t>One Helm chart for dev and prod</a:t>
            </a:r>
          </a:p>
        </p:txBody>
      </p:sp>
      <p:sp>
        <p:nvSpPr>
          <p:cNvPr id="492" name="card-279"/>
          <p:cNvSpPr/>
          <p:nvPr/>
        </p:nvSpPr>
        <p:spPr>
          <a:xfrm>
            <a:off x="548640"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493" name="bubble-280"/>
          <p:cNvSpPr/>
          <p:nvPr/>
        </p:nvSpPr>
        <p:spPr>
          <a:xfrm>
            <a:off x="1097280" y="1600200"/>
            <a:ext cx="640081" cy="640081"/>
          </a:xfrm>
          <a:prstGeom prst="ellipse">
            <a:avLst/>
          </a:prstGeom>
          <a:solidFill>
            <a:schemeClr val="accent2"/>
          </a:solidFill>
          <a:ln w="12700">
            <a:miter lim="400000"/>
          </a:ln>
        </p:spPr>
        <p:txBody>
          <a:bodyPr lIns="45719" rIns="45719"/>
          <a:lstStyle/>
          <a:p>
            <a:pPr/>
          </a:p>
        </p:txBody>
      </p:sp>
      <p:pic>
        <p:nvPicPr>
          <p:cNvPr id="494" name="icon-281" descr="icon-281"/>
          <p:cNvPicPr>
            <a:picLocks noChangeAspect="1"/>
          </p:cNvPicPr>
          <p:nvPr/>
        </p:nvPicPr>
        <p:blipFill>
          <a:blip r:embed="rId3">
            <a:extLst/>
          </a:blip>
          <a:stretch>
            <a:fillRect/>
          </a:stretch>
        </p:blipFill>
        <p:spPr>
          <a:xfrm>
            <a:off x="1238097" y="1741017"/>
            <a:ext cx="358446" cy="358446"/>
          </a:xfrm>
          <a:prstGeom prst="rect">
            <a:avLst/>
          </a:prstGeom>
          <a:ln w="12700">
            <a:miter lim="400000"/>
          </a:ln>
        </p:spPr>
      </p:pic>
      <p:sp>
        <p:nvSpPr>
          <p:cNvPr id="495" name="text-282"/>
          <p:cNvSpPr txBox="1"/>
          <p:nvPr/>
        </p:nvSpPr>
        <p:spPr>
          <a:xfrm>
            <a:off x="594359" y="2304288"/>
            <a:ext cx="1645922"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values.yaml</a:t>
            </a:r>
            <a:endParaRPr sz="1400"/>
          </a:p>
          <a:p>
            <a:pPr algn="ctr">
              <a:defRPr sz="1200">
                <a:solidFill>
                  <a:srgbClr val="6B5B86"/>
                </a:solidFill>
              </a:defRPr>
            </a:pPr>
            <a:r>
              <a:t>defaults, GHCR images</a:t>
            </a:r>
          </a:p>
        </p:txBody>
      </p:sp>
      <p:sp>
        <p:nvSpPr>
          <p:cNvPr id="496" name="card-283"/>
          <p:cNvSpPr/>
          <p:nvPr/>
        </p:nvSpPr>
        <p:spPr>
          <a:xfrm>
            <a:off x="2423160"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497" name="bubble-284"/>
          <p:cNvSpPr/>
          <p:nvPr/>
        </p:nvSpPr>
        <p:spPr>
          <a:xfrm>
            <a:off x="2971800" y="1600200"/>
            <a:ext cx="640081" cy="640081"/>
          </a:xfrm>
          <a:prstGeom prst="ellipse">
            <a:avLst/>
          </a:prstGeom>
          <a:solidFill>
            <a:schemeClr val="accent3"/>
          </a:solidFill>
          <a:ln w="12700">
            <a:miter lim="400000"/>
          </a:ln>
        </p:spPr>
        <p:txBody>
          <a:bodyPr lIns="45719" rIns="45719"/>
          <a:lstStyle/>
          <a:p>
            <a:pPr/>
          </a:p>
        </p:txBody>
      </p:sp>
      <p:pic>
        <p:nvPicPr>
          <p:cNvPr id="498" name="icon-285" descr="icon-285"/>
          <p:cNvPicPr>
            <a:picLocks noChangeAspect="1"/>
          </p:cNvPicPr>
          <p:nvPr/>
        </p:nvPicPr>
        <p:blipFill>
          <a:blip r:embed="rId3">
            <a:extLst/>
          </a:blip>
          <a:stretch>
            <a:fillRect/>
          </a:stretch>
        </p:blipFill>
        <p:spPr>
          <a:xfrm>
            <a:off x="3112617" y="1741017"/>
            <a:ext cx="358446" cy="358446"/>
          </a:xfrm>
          <a:prstGeom prst="rect">
            <a:avLst/>
          </a:prstGeom>
          <a:ln w="12700">
            <a:miter lim="400000"/>
          </a:ln>
        </p:spPr>
      </p:pic>
      <p:sp>
        <p:nvSpPr>
          <p:cNvPr id="499" name="text-286"/>
          <p:cNvSpPr txBox="1"/>
          <p:nvPr/>
        </p:nvSpPr>
        <p:spPr>
          <a:xfrm>
            <a:off x="2468879" y="2304288"/>
            <a:ext cx="1645921"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values-dev.yaml</a:t>
            </a:r>
            <a:endParaRPr sz="1400"/>
          </a:p>
          <a:p>
            <a:pPr algn="ctr">
              <a:defRPr sz="1200">
                <a:solidFill>
                  <a:srgbClr val="6B5B86"/>
                </a:solidFill>
              </a:defRPr>
            </a:pPr>
            <a:r>
              <a:t>minikube</a:t>
            </a:r>
          </a:p>
        </p:txBody>
      </p:sp>
      <p:sp>
        <p:nvSpPr>
          <p:cNvPr id="500" name="card-287"/>
          <p:cNvSpPr/>
          <p:nvPr/>
        </p:nvSpPr>
        <p:spPr>
          <a:xfrm>
            <a:off x="4297679"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501" name="bubble-288"/>
          <p:cNvSpPr/>
          <p:nvPr/>
        </p:nvSpPr>
        <p:spPr>
          <a:xfrm>
            <a:off x="4846320" y="1600200"/>
            <a:ext cx="640081" cy="640081"/>
          </a:xfrm>
          <a:prstGeom prst="ellipse">
            <a:avLst/>
          </a:prstGeom>
          <a:solidFill>
            <a:schemeClr val="accent1"/>
          </a:solidFill>
          <a:ln w="12700">
            <a:miter lim="400000"/>
          </a:ln>
        </p:spPr>
        <p:txBody>
          <a:bodyPr lIns="45719" rIns="45719"/>
          <a:lstStyle/>
          <a:p>
            <a:pPr/>
          </a:p>
        </p:txBody>
      </p:sp>
      <p:pic>
        <p:nvPicPr>
          <p:cNvPr id="502" name="icon-289" descr="icon-289"/>
          <p:cNvPicPr>
            <a:picLocks noChangeAspect="1"/>
          </p:cNvPicPr>
          <p:nvPr/>
        </p:nvPicPr>
        <p:blipFill>
          <a:blip r:embed="rId3">
            <a:extLst/>
          </a:blip>
          <a:stretch>
            <a:fillRect/>
          </a:stretch>
        </p:blipFill>
        <p:spPr>
          <a:xfrm>
            <a:off x="4987137" y="1741017"/>
            <a:ext cx="358446" cy="358446"/>
          </a:xfrm>
          <a:prstGeom prst="rect">
            <a:avLst/>
          </a:prstGeom>
          <a:ln w="12700">
            <a:miter lim="400000"/>
          </a:ln>
        </p:spPr>
      </p:pic>
      <p:sp>
        <p:nvSpPr>
          <p:cNvPr id="503" name="text-290"/>
          <p:cNvSpPr txBox="1"/>
          <p:nvPr/>
        </p:nvSpPr>
        <p:spPr>
          <a:xfrm>
            <a:off x="4343400" y="2304288"/>
            <a:ext cx="1645921"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values-prod.yaml</a:t>
            </a:r>
            <a:endParaRPr sz="1400"/>
          </a:p>
          <a:p>
            <a:pPr algn="ctr">
              <a:defRPr sz="1200">
                <a:solidFill>
                  <a:srgbClr val="6B5B86"/>
                </a:solidFill>
              </a:defRPr>
            </a:pPr>
            <a:r>
              <a:t>EKS, TLS, gp3</a:t>
            </a:r>
          </a:p>
        </p:txBody>
      </p:sp>
      <p:grpSp>
        <p:nvGrpSpPr>
          <p:cNvPr id="506" name="chip-291"/>
          <p:cNvGrpSpPr/>
          <p:nvPr/>
        </p:nvGrpSpPr>
        <p:grpSpPr>
          <a:xfrm>
            <a:off x="548640" y="3520440"/>
            <a:ext cx="1188720" cy="457201"/>
            <a:chOff x="0" y="0"/>
            <a:chExt cx="1188719" cy="457200"/>
          </a:xfrm>
        </p:grpSpPr>
        <p:sp>
          <p:nvSpPr>
            <p:cNvPr id="504" name="Rounded Rectangle"/>
            <p:cNvSpPr/>
            <p:nvPr/>
          </p:nvSpPr>
          <p:spPr>
            <a:xfrm>
              <a:off x="0" y="0"/>
              <a:ext cx="1188720" cy="457200"/>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505" name="install"/>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install</a:t>
              </a:r>
            </a:p>
          </p:txBody>
        </p:sp>
      </p:grpSp>
      <p:sp>
        <p:nvSpPr>
          <p:cNvPr id="507" name="arrow-292"/>
          <p:cNvSpPr/>
          <p:nvPr/>
        </p:nvSpPr>
        <p:spPr>
          <a:xfrm>
            <a:off x="1737359" y="3749040"/>
            <a:ext cx="228601" cy="915"/>
          </a:xfrm>
          <a:prstGeom prst="line">
            <a:avLst/>
          </a:prstGeom>
          <a:ln w="25400">
            <a:solidFill>
              <a:srgbClr val="6B5B86"/>
            </a:solidFill>
            <a:tailEnd type="triangle"/>
          </a:ln>
        </p:spPr>
        <p:txBody>
          <a:bodyPr lIns="45719" rIns="45719"/>
          <a:lstStyle/>
          <a:p>
            <a:pPr/>
          </a:p>
        </p:txBody>
      </p:sp>
      <p:grpSp>
        <p:nvGrpSpPr>
          <p:cNvPr id="510" name="chip-293"/>
          <p:cNvGrpSpPr/>
          <p:nvPr/>
        </p:nvGrpSpPr>
        <p:grpSpPr>
          <a:xfrm>
            <a:off x="1965960" y="3520440"/>
            <a:ext cx="1188721" cy="457201"/>
            <a:chOff x="0" y="0"/>
            <a:chExt cx="1188719" cy="457200"/>
          </a:xfrm>
        </p:grpSpPr>
        <p:sp>
          <p:nvSpPr>
            <p:cNvPr id="508" name="Rounded Rectangle"/>
            <p:cNvSpPr/>
            <p:nvPr/>
          </p:nvSpPr>
          <p:spPr>
            <a:xfrm>
              <a:off x="0" y="0"/>
              <a:ext cx="1188720" cy="457200"/>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09" name="helm test"/>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helm test</a:t>
              </a:r>
            </a:p>
          </p:txBody>
        </p:sp>
      </p:grpSp>
      <p:sp>
        <p:nvSpPr>
          <p:cNvPr id="511" name="arrow-294"/>
          <p:cNvSpPr/>
          <p:nvPr/>
        </p:nvSpPr>
        <p:spPr>
          <a:xfrm>
            <a:off x="3154679" y="3749040"/>
            <a:ext cx="228601" cy="915"/>
          </a:xfrm>
          <a:prstGeom prst="line">
            <a:avLst/>
          </a:prstGeom>
          <a:ln w="25400">
            <a:solidFill>
              <a:srgbClr val="6B5B86"/>
            </a:solidFill>
            <a:tailEnd type="triangle"/>
          </a:ln>
        </p:spPr>
        <p:txBody>
          <a:bodyPr lIns="45719" rIns="45719"/>
          <a:lstStyle/>
          <a:p>
            <a:pPr/>
          </a:p>
        </p:txBody>
      </p:sp>
      <p:grpSp>
        <p:nvGrpSpPr>
          <p:cNvPr id="514" name="chip-295"/>
          <p:cNvGrpSpPr/>
          <p:nvPr/>
        </p:nvGrpSpPr>
        <p:grpSpPr>
          <a:xfrm>
            <a:off x="3383279" y="3520440"/>
            <a:ext cx="1188721" cy="457201"/>
            <a:chOff x="0" y="0"/>
            <a:chExt cx="1188719" cy="457200"/>
          </a:xfrm>
        </p:grpSpPr>
        <p:sp>
          <p:nvSpPr>
            <p:cNvPr id="512" name="Rounded Rectangle"/>
            <p:cNvSpPr/>
            <p:nvPr/>
          </p:nvSpPr>
          <p:spPr>
            <a:xfrm>
              <a:off x="0" y="0"/>
              <a:ext cx="1188720" cy="457200"/>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13" name="upgrade"/>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upgrade</a:t>
              </a:r>
            </a:p>
          </p:txBody>
        </p:sp>
      </p:grpSp>
      <p:sp>
        <p:nvSpPr>
          <p:cNvPr id="515" name="arrow-296"/>
          <p:cNvSpPr/>
          <p:nvPr/>
        </p:nvSpPr>
        <p:spPr>
          <a:xfrm>
            <a:off x="4572000" y="3749040"/>
            <a:ext cx="228601" cy="915"/>
          </a:xfrm>
          <a:prstGeom prst="line">
            <a:avLst/>
          </a:prstGeom>
          <a:ln w="25400">
            <a:solidFill>
              <a:srgbClr val="6B5B86"/>
            </a:solidFill>
            <a:tailEnd type="triangle"/>
          </a:ln>
        </p:spPr>
        <p:txBody>
          <a:bodyPr lIns="45719" rIns="45719"/>
          <a:lstStyle/>
          <a:p>
            <a:pPr/>
          </a:p>
        </p:txBody>
      </p:sp>
      <p:grpSp>
        <p:nvGrpSpPr>
          <p:cNvPr id="518" name="chip-297"/>
          <p:cNvGrpSpPr/>
          <p:nvPr/>
        </p:nvGrpSpPr>
        <p:grpSpPr>
          <a:xfrm>
            <a:off x="4800600" y="3520440"/>
            <a:ext cx="1188720" cy="457201"/>
            <a:chOff x="0" y="0"/>
            <a:chExt cx="1188719" cy="457200"/>
          </a:xfrm>
        </p:grpSpPr>
        <p:sp>
          <p:nvSpPr>
            <p:cNvPr id="516" name="Rounded Rectangle"/>
            <p:cNvSpPr/>
            <p:nvPr/>
          </p:nvSpPr>
          <p:spPr>
            <a:xfrm>
              <a:off x="0" y="0"/>
              <a:ext cx="1188720" cy="457200"/>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517" name="rollback"/>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rollback</a:t>
              </a:r>
            </a:p>
          </p:txBody>
        </p:sp>
      </p:grpSp>
      <p:sp>
        <p:nvSpPr>
          <p:cNvPr id="519" name="text-298"/>
          <p:cNvSpPr txBox="1"/>
          <p:nvPr/>
        </p:nvSpPr>
        <p:spPr>
          <a:xfrm>
            <a:off x="548639" y="4251959"/>
            <a:ext cx="5394962" cy="1535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helm test runs a pod that checks health, readiness, the API, /metrics and the frontend proxy</a:t>
            </a:r>
          </a:p>
          <a:p>
            <a:pPr marL="342900" indent="-342900">
              <a:spcBef>
                <a:spcPts val="800"/>
              </a:spcBef>
              <a:buSzPct val="100000"/>
              <a:buChar char="•"/>
              <a:defRPr sz="1400"/>
            </a:pPr>
            <a:r>
              <a:t>A checksum annotation rolls the pods automatically when config changes</a:t>
            </a:r>
          </a:p>
          <a:p>
            <a:pPr marL="342900" indent="-342900">
              <a:spcBef>
                <a:spcPts val="800"/>
              </a:spcBef>
              <a:buSzPct val="100000"/>
              <a:buChar char="•"/>
              <a:defRPr sz="1400"/>
            </a:pPr>
            <a:r>
              <a:t>The chart also ships the ServiceMonitor, alert rules and Grafana dashboard</a:t>
            </a:r>
          </a:p>
        </p:txBody>
      </p:sp>
      <p:sp>
        <p:nvSpPr>
          <p:cNvPr id="520" name="frame-299"/>
          <p:cNvSpPr/>
          <p:nvPr/>
        </p:nvSpPr>
        <p:spPr>
          <a:xfrm>
            <a:off x="6263640" y="2035420"/>
            <a:ext cx="5440681" cy="3335801"/>
          </a:xfrm>
          <a:prstGeom prst="roundRect">
            <a:avLst>
              <a:gd name="adj" fmla="val 3838"/>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521" name="shot-300" descr="shot-300"/>
          <p:cNvPicPr>
            <a:picLocks noChangeAspect="1"/>
          </p:cNvPicPr>
          <p:nvPr/>
        </p:nvPicPr>
        <p:blipFill>
          <a:blip r:embed="rId4">
            <a:extLst/>
          </a:blip>
          <a:stretch>
            <a:fillRect/>
          </a:stretch>
        </p:blipFill>
        <p:spPr>
          <a:xfrm>
            <a:off x="6355079" y="2126861"/>
            <a:ext cx="5257801" cy="3152920"/>
          </a:xfrm>
          <a:prstGeom prst="rect">
            <a:avLst/>
          </a:prstGeom>
          <a:ln w="12700">
            <a:miter lim="400000"/>
          </a:ln>
        </p:spPr>
      </p:pic>
      <p:sp>
        <p:nvSpPr>
          <p:cNvPr id="522"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6" name="Text 0"/>
          <p:cNvSpPr txBox="1"/>
          <p:nvPr>
            <p:ph type="title"/>
          </p:nvPr>
        </p:nvSpPr>
        <p:spPr>
          <a:xfrm>
            <a:off x="548639" y="347472"/>
            <a:ext cx="9692642" cy="777241"/>
          </a:xfrm>
          <a:prstGeom prst="rect">
            <a:avLst/>
          </a:prstGeom>
        </p:spPr>
        <p:txBody>
          <a:bodyPr lIns="0" tIns="0" rIns="0" bIns="0" anchor="ctr"/>
          <a:lstStyle/>
          <a:p>
            <a:pPr/>
            <a:r>
              <a:t>Autoscaling under real load</a:t>
            </a:r>
          </a:p>
        </p:txBody>
      </p:sp>
      <p:sp>
        <p:nvSpPr>
          <p:cNvPr id="527" name="card-301"/>
          <p:cNvSpPr/>
          <p:nvPr/>
        </p:nvSpPr>
        <p:spPr>
          <a:xfrm>
            <a:off x="7863840" y="1463039"/>
            <a:ext cx="3776472" cy="1389889"/>
          </a:xfrm>
          <a:prstGeom prst="roundRect">
            <a:avLst>
              <a:gd name="adj" fmla="val 11842"/>
            </a:avLst>
          </a:prstGeom>
          <a:solidFill>
            <a:srgbClr val="FFF4F8"/>
          </a:solidFill>
          <a:ln w="12700">
            <a:miter lim="400000"/>
          </a:ln>
        </p:spPr>
        <p:txBody>
          <a:bodyPr lIns="45719" rIns="45719"/>
          <a:lstStyle/>
          <a:p>
            <a:pPr/>
          </a:p>
        </p:txBody>
      </p:sp>
      <p:sp>
        <p:nvSpPr>
          <p:cNvPr id="528" name="dot-302"/>
          <p:cNvSpPr/>
          <p:nvPr/>
        </p:nvSpPr>
        <p:spPr>
          <a:xfrm>
            <a:off x="8092440" y="1975104"/>
            <a:ext cx="365761" cy="365761"/>
          </a:xfrm>
          <a:prstGeom prst="ellipse">
            <a:avLst/>
          </a:prstGeom>
          <a:solidFill>
            <a:schemeClr val="accent2"/>
          </a:solidFill>
          <a:ln w="12700">
            <a:miter lim="400000"/>
          </a:ln>
        </p:spPr>
        <p:txBody>
          <a:bodyPr lIns="45719" rIns="45719"/>
          <a:lstStyle/>
          <a:p>
            <a:pPr/>
          </a:p>
        </p:txBody>
      </p:sp>
      <p:sp>
        <p:nvSpPr>
          <p:cNvPr id="529" name="text-303"/>
          <p:cNvSpPr txBox="1"/>
          <p:nvPr/>
        </p:nvSpPr>
        <p:spPr>
          <a:xfrm>
            <a:off x="8641080" y="1815654"/>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2 → 5 → 2</a:t>
            </a:r>
            <a:endParaRPr sz="1400"/>
          </a:p>
          <a:p>
            <a:pPr>
              <a:defRPr sz="1400">
                <a:solidFill>
                  <a:srgbClr val="6B5B86"/>
                </a:solidFill>
              </a:defRPr>
            </a:pPr>
            <a:r>
              <a:t>backend pods</a:t>
            </a:r>
          </a:p>
        </p:txBody>
      </p:sp>
      <p:sp>
        <p:nvSpPr>
          <p:cNvPr id="530" name="card-304"/>
          <p:cNvSpPr/>
          <p:nvPr/>
        </p:nvSpPr>
        <p:spPr>
          <a:xfrm>
            <a:off x="7863840" y="3035807"/>
            <a:ext cx="3776472" cy="1389889"/>
          </a:xfrm>
          <a:prstGeom prst="roundRect">
            <a:avLst>
              <a:gd name="adj" fmla="val 11842"/>
            </a:avLst>
          </a:prstGeom>
          <a:solidFill>
            <a:srgbClr val="FFF4F8"/>
          </a:solidFill>
          <a:ln w="12700">
            <a:miter lim="400000"/>
          </a:ln>
        </p:spPr>
        <p:txBody>
          <a:bodyPr lIns="45719" rIns="45719"/>
          <a:lstStyle/>
          <a:p>
            <a:pPr/>
          </a:p>
        </p:txBody>
      </p:sp>
      <p:sp>
        <p:nvSpPr>
          <p:cNvPr id="531" name="dot-305"/>
          <p:cNvSpPr/>
          <p:nvPr/>
        </p:nvSpPr>
        <p:spPr>
          <a:xfrm>
            <a:off x="8092440" y="3547871"/>
            <a:ext cx="365761" cy="365761"/>
          </a:xfrm>
          <a:prstGeom prst="ellipse">
            <a:avLst/>
          </a:prstGeom>
          <a:solidFill>
            <a:schemeClr val="accent1"/>
          </a:solidFill>
          <a:ln w="12700">
            <a:miter lim="400000"/>
          </a:ln>
        </p:spPr>
        <p:txBody>
          <a:bodyPr lIns="45719" rIns="45719"/>
          <a:lstStyle/>
          <a:p>
            <a:pPr/>
          </a:p>
        </p:txBody>
      </p:sp>
      <p:sp>
        <p:nvSpPr>
          <p:cNvPr id="532" name="text-306"/>
          <p:cNvSpPr txBox="1"/>
          <p:nvPr/>
        </p:nvSpPr>
        <p:spPr>
          <a:xfrm>
            <a:off x="8641080" y="3388422"/>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330%</a:t>
            </a:r>
            <a:endParaRPr sz="1400"/>
          </a:p>
          <a:p>
            <a:pPr>
              <a:defRPr sz="1400">
                <a:solidFill>
                  <a:srgbClr val="6B5B86"/>
                </a:solidFill>
              </a:defRPr>
            </a:pPr>
            <a:r>
              <a:t>peak CPU of the request</a:t>
            </a:r>
          </a:p>
        </p:txBody>
      </p:sp>
      <p:sp>
        <p:nvSpPr>
          <p:cNvPr id="533" name="card-307"/>
          <p:cNvSpPr/>
          <p:nvPr/>
        </p:nvSpPr>
        <p:spPr>
          <a:xfrm>
            <a:off x="7863840" y="4608576"/>
            <a:ext cx="3776472" cy="1389889"/>
          </a:xfrm>
          <a:prstGeom prst="roundRect">
            <a:avLst>
              <a:gd name="adj" fmla="val 11842"/>
            </a:avLst>
          </a:prstGeom>
          <a:solidFill>
            <a:srgbClr val="FFF4F8"/>
          </a:solidFill>
          <a:ln w="12700">
            <a:miter lim="400000"/>
          </a:ln>
        </p:spPr>
        <p:txBody>
          <a:bodyPr lIns="45719" rIns="45719"/>
          <a:lstStyle/>
          <a:p>
            <a:pPr/>
          </a:p>
        </p:txBody>
      </p:sp>
      <p:sp>
        <p:nvSpPr>
          <p:cNvPr id="534" name="dot-308"/>
          <p:cNvSpPr/>
          <p:nvPr/>
        </p:nvSpPr>
        <p:spPr>
          <a:xfrm>
            <a:off x="8092440" y="5120640"/>
            <a:ext cx="365761" cy="365761"/>
          </a:xfrm>
          <a:prstGeom prst="ellipse">
            <a:avLst/>
          </a:prstGeom>
          <a:solidFill>
            <a:schemeClr val="accent3"/>
          </a:solidFill>
          <a:ln w="12700">
            <a:miter lim="400000"/>
          </a:ln>
        </p:spPr>
        <p:txBody>
          <a:bodyPr lIns="45719" rIns="45719"/>
          <a:lstStyle/>
          <a:p>
            <a:pPr/>
          </a:p>
        </p:txBody>
      </p:sp>
      <p:sp>
        <p:nvSpPr>
          <p:cNvPr id="535" name="text-309"/>
          <p:cNvSpPr txBox="1"/>
          <p:nvPr/>
        </p:nvSpPr>
        <p:spPr>
          <a:xfrm>
            <a:off x="8641080" y="4961190"/>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~73k</a:t>
            </a:r>
            <a:endParaRPr sz="1400"/>
          </a:p>
          <a:p>
            <a:pPr>
              <a:defRPr sz="1400">
                <a:solidFill>
                  <a:srgbClr val="6B5B86"/>
                </a:solidFill>
              </a:defRPr>
            </a:pPr>
            <a:r>
              <a:t>requests in 4 minutes</a:t>
            </a:r>
          </a:p>
        </p:txBody>
      </p:sp>
      <p:sp>
        <p:nvSpPr>
          <p:cNvPr id="536"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537" name="hpa-cpu-chart"/>
          <p:cNvGraphicFramePr/>
          <p:nvPr/>
        </p:nvGraphicFramePr>
        <p:xfrm>
          <a:off x="616373" y="1577460"/>
          <a:ext cx="6716608" cy="2151171"/>
        </p:xfrm>
        <a:graphic xmlns:a="http://schemas.openxmlformats.org/drawingml/2006/main">
          <a:graphicData uri="http://schemas.openxmlformats.org/drawingml/2006/chart">
            <c:chart xmlns:c="http://schemas.openxmlformats.org/drawingml/2006/chart" r:id="rId3"/>
          </a:graphicData>
        </a:graphic>
      </p:graphicFrame>
      <p:graphicFrame>
        <p:nvGraphicFramePr>
          <p:cNvPr id="538" name="hpa-pods-chart"/>
          <p:cNvGraphicFramePr/>
          <p:nvPr/>
        </p:nvGraphicFramePr>
        <p:xfrm>
          <a:off x="616373" y="4092060"/>
          <a:ext cx="6739468" cy="1968291"/>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Text 0"/>
          <p:cNvSpPr txBox="1"/>
          <p:nvPr>
            <p:ph type="title"/>
          </p:nvPr>
        </p:nvSpPr>
        <p:spPr>
          <a:xfrm>
            <a:off x="548639" y="347472"/>
            <a:ext cx="9692642" cy="777241"/>
          </a:xfrm>
          <a:prstGeom prst="rect">
            <a:avLst/>
          </a:prstGeom>
        </p:spPr>
        <p:txBody>
          <a:bodyPr lIns="0" tIns="0" rIns="0" bIns="0" anchor="ctr"/>
          <a:lstStyle/>
          <a:p>
            <a:pPr/>
            <a:r>
              <a:t>AWS infrastructure as code</a:t>
            </a:r>
          </a:p>
        </p:txBody>
      </p:sp>
      <p:sp>
        <p:nvSpPr>
          <p:cNvPr id="543" name="vpc"/>
          <p:cNvSpPr/>
          <p:nvPr/>
        </p:nvSpPr>
        <p:spPr>
          <a:xfrm>
            <a:off x="548640" y="1463039"/>
            <a:ext cx="6583681" cy="4663442"/>
          </a:xfrm>
          <a:prstGeom prst="roundRect">
            <a:avLst>
              <a:gd name="adj" fmla="val 3922"/>
            </a:avLst>
          </a:prstGeom>
          <a:solidFill>
            <a:schemeClr val="accent2">
              <a:alpha val="15000"/>
            </a:schemeClr>
          </a:solidFill>
          <a:ln w="19050">
            <a:solidFill>
              <a:schemeClr val="accent2"/>
            </a:solidFill>
            <a:prstDash val="dash"/>
          </a:ln>
        </p:spPr>
        <p:txBody>
          <a:bodyPr lIns="45719" rIns="45719"/>
          <a:lstStyle/>
          <a:p>
            <a:pPr/>
          </a:p>
        </p:txBody>
      </p:sp>
      <p:sp>
        <p:nvSpPr>
          <p:cNvPr id="544" name="text-310"/>
          <p:cNvSpPr txBox="1"/>
          <p:nvPr/>
        </p:nvSpPr>
        <p:spPr>
          <a:xfrm>
            <a:off x="777240" y="1644082"/>
            <a:ext cx="36576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6B5B86"/>
                </a:solidFill>
              </a:defRPr>
            </a:lvl1pPr>
          </a:lstStyle>
          <a:p>
            <a:pPr/>
            <a:r>
              <a:t>VPC  10.42.0.0/16</a:t>
            </a:r>
          </a:p>
        </p:txBody>
      </p:sp>
      <p:sp>
        <p:nvSpPr>
          <p:cNvPr id="545" name="text-311"/>
          <p:cNvSpPr txBox="1"/>
          <p:nvPr/>
        </p:nvSpPr>
        <p:spPr>
          <a:xfrm>
            <a:off x="868679" y="2088319"/>
            <a:ext cx="292608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6B5B86"/>
                </a:solidFill>
              </a:defRPr>
            </a:lvl1pPr>
          </a:lstStyle>
          <a:p>
            <a:pPr/>
            <a:r>
              <a:t>Availability zone A</a:t>
            </a:r>
          </a:p>
        </p:txBody>
      </p:sp>
      <p:grpSp>
        <p:nvGrpSpPr>
          <p:cNvPr id="548" name="chip-312"/>
          <p:cNvGrpSpPr/>
          <p:nvPr/>
        </p:nvGrpSpPr>
        <p:grpSpPr>
          <a:xfrm>
            <a:off x="868680" y="2377439"/>
            <a:ext cx="2926080" cy="548641"/>
            <a:chOff x="0" y="0"/>
            <a:chExt cx="2926079" cy="548640"/>
          </a:xfrm>
        </p:grpSpPr>
        <p:sp>
          <p:nvSpPr>
            <p:cNvPr id="546" name="Rounded Rectangle"/>
            <p:cNvSpPr/>
            <p:nvPr/>
          </p:nvSpPr>
          <p:spPr>
            <a:xfrm>
              <a:off x="0" y="0"/>
              <a:ext cx="2926080" cy="548641"/>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47" name="public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public subnet</a:t>
              </a:r>
            </a:p>
          </p:txBody>
        </p:sp>
      </p:grpSp>
      <p:grpSp>
        <p:nvGrpSpPr>
          <p:cNvPr id="551" name="chip-313"/>
          <p:cNvGrpSpPr/>
          <p:nvPr/>
        </p:nvGrpSpPr>
        <p:grpSpPr>
          <a:xfrm>
            <a:off x="868680" y="3108960"/>
            <a:ext cx="2926080" cy="548641"/>
            <a:chOff x="0" y="0"/>
            <a:chExt cx="2926079" cy="548640"/>
          </a:xfrm>
        </p:grpSpPr>
        <p:sp>
          <p:nvSpPr>
            <p:cNvPr id="549" name="Rounded Rectangle"/>
            <p:cNvSpPr/>
            <p:nvPr/>
          </p:nvSpPr>
          <p:spPr>
            <a:xfrm>
              <a:off x="0" y="0"/>
              <a:ext cx="2926080" cy="548641"/>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50" name="private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private subnet</a:t>
              </a:r>
            </a:p>
          </p:txBody>
        </p:sp>
      </p:grpSp>
      <p:sp>
        <p:nvSpPr>
          <p:cNvPr id="552" name="text-314"/>
          <p:cNvSpPr txBox="1"/>
          <p:nvPr/>
        </p:nvSpPr>
        <p:spPr>
          <a:xfrm>
            <a:off x="3977640" y="2088319"/>
            <a:ext cx="292608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6B5B86"/>
                </a:solidFill>
              </a:defRPr>
            </a:lvl1pPr>
          </a:lstStyle>
          <a:p>
            <a:pPr/>
            <a:r>
              <a:t>Availability zone B</a:t>
            </a:r>
          </a:p>
        </p:txBody>
      </p:sp>
      <p:grpSp>
        <p:nvGrpSpPr>
          <p:cNvPr id="555" name="chip-315"/>
          <p:cNvGrpSpPr/>
          <p:nvPr/>
        </p:nvGrpSpPr>
        <p:grpSpPr>
          <a:xfrm>
            <a:off x="3977640" y="2377439"/>
            <a:ext cx="2926081" cy="548641"/>
            <a:chOff x="0" y="0"/>
            <a:chExt cx="2926079" cy="548640"/>
          </a:xfrm>
        </p:grpSpPr>
        <p:sp>
          <p:nvSpPr>
            <p:cNvPr id="553" name="Rounded Rectangle"/>
            <p:cNvSpPr/>
            <p:nvPr/>
          </p:nvSpPr>
          <p:spPr>
            <a:xfrm>
              <a:off x="0" y="0"/>
              <a:ext cx="2926080" cy="548641"/>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54" name="public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public subnet</a:t>
              </a:r>
            </a:p>
          </p:txBody>
        </p:sp>
      </p:grpSp>
      <p:grpSp>
        <p:nvGrpSpPr>
          <p:cNvPr id="558" name="chip-316"/>
          <p:cNvGrpSpPr/>
          <p:nvPr/>
        </p:nvGrpSpPr>
        <p:grpSpPr>
          <a:xfrm>
            <a:off x="3977640" y="3108960"/>
            <a:ext cx="2926081" cy="548641"/>
            <a:chOff x="0" y="0"/>
            <a:chExt cx="2926079" cy="548640"/>
          </a:xfrm>
        </p:grpSpPr>
        <p:sp>
          <p:nvSpPr>
            <p:cNvPr id="556" name="Rounded Rectangle"/>
            <p:cNvSpPr/>
            <p:nvPr/>
          </p:nvSpPr>
          <p:spPr>
            <a:xfrm>
              <a:off x="0" y="0"/>
              <a:ext cx="2926080" cy="548641"/>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57" name="private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private subnet</a:t>
              </a:r>
            </a:p>
          </p:txBody>
        </p:sp>
      </p:grpSp>
      <p:grpSp>
        <p:nvGrpSpPr>
          <p:cNvPr id="561" name="chip-317"/>
          <p:cNvGrpSpPr/>
          <p:nvPr/>
        </p:nvGrpSpPr>
        <p:grpSpPr>
          <a:xfrm>
            <a:off x="868680" y="3931920"/>
            <a:ext cx="2926080" cy="502921"/>
            <a:chOff x="0" y="0"/>
            <a:chExt cx="2926079" cy="502919"/>
          </a:xfrm>
        </p:grpSpPr>
        <p:sp>
          <p:nvSpPr>
            <p:cNvPr id="559" name="Rounded Rectangle"/>
            <p:cNvSpPr/>
            <p:nvPr/>
          </p:nvSpPr>
          <p:spPr>
            <a:xfrm>
              <a:off x="0" y="0"/>
              <a:ext cx="2926080" cy="502920"/>
            </a:xfrm>
            <a:prstGeom prst="roundRect">
              <a:avLst>
                <a:gd name="adj" fmla="val 50000"/>
              </a:avLst>
            </a:prstGeom>
            <a:solidFill>
              <a:srgbClr val="FFFFFF"/>
            </a:solidFill>
            <a:ln w="12700" cap="flat">
              <a:solidFill>
                <a:schemeClr val="accent2"/>
              </a:solidFill>
              <a:prstDash val="solid"/>
              <a:round/>
            </a:ln>
            <a:effectLst/>
          </p:spPr>
          <p:txBody>
            <a:bodyPr wrap="square" lIns="45719" tIns="45719" rIns="45719" bIns="45719" numCol="1" anchor="ctr">
              <a:noAutofit/>
            </a:bodyPr>
            <a:lstStyle/>
            <a:p>
              <a:pPr algn="ctr">
                <a:defRPr sz="1300"/>
              </a:pPr>
            </a:p>
          </p:txBody>
        </p:sp>
        <p:sp>
          <p:nvSpPr>
            <p:cNvPr id="560" name="internet gateway + 1 NAT"/>
            <p:cNvSpPr txBox="1"/>
            <p:nvPr/>
          </p:nvSpPr>
          <p:spPr>
            <a:xfrm>
              <a:off x="79999" y="168078"/>
              <a:ext cx="2766081" cy="1667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internet gateway + 1 NAT</a:t>
              </a:r>
            </a:p>
          </p:txBody>
        </p:sp>
      </p:grpSp>
      <p:grpSp>
        <p:nvGrpSpPr>
          <p:cNvPr id="564" name="eks"/>
          <p:cNvGrpSpPr/>
          <p:nvPr/>
        </p:nvGrpSpPr>
        <p:grpSpPr>
          <a:xfrm>
            <a:off x="868680" y="4663440"/>
            <a:ext cx="6035041" cy="1188721"/>
            <a:chOff x="0" y="0"/>
            <a:chExt cx="6035040" cy="1188719"/>
          </a:xfrm>
        </p:grpSpPr>
        <p:sp>
          <p:nvSpPr>
            <p:cNvPr id="562" name="Rounded Rectangle"/>
            <p:cNvSpPr/>
            <p:nvPr/>
          </p:nvSpPr>
          <p:spPr>
            <a:xfrm>
              <a:off x="0" y="0"/>
              <a:ext cx="6035041" cy="1188720"/>
            </a:xfrm>
            <a:prstGeom prst="roundRect">
              <a:avLst>
                <a:gd name="adj" fmla="val 12308"/>
              </a:avLst>
            </a:prstGeom>
            <a:solidFill>
              <a:schemeClr val="accent1">
                <a:alpha val="64999"/>
              </a:schemeClr>
            </a:solidFill>
            <a:ln w="12700" cap="flat">
              <a:noFill/>
              <a:miter lim="400000"/>
            </a:ln>
            <a:effectLst/>
          </p:spPr>
          <p:txBody>
            <a:bodyPr wrap="square" lIns="45719" tIns="45719" rIns="45719" bIns="45719" numCol="1" anchor="ctr">
              <a:noAutofit/>
            </a:bodyPr>
            <a:lstStyle/>
            <a:p>
              <a:pPr algn="ctr">
                <a:defRPr sz="1600"/>
              </a:pPr>
            </a:p>
          </p:txBody>
        </p:sp>
        <p:sp>
          <p:nvSpPr>
            <p:cNvPr id="563" name="EKS 1.33 cluster…"/>
            <p:cNvSpPr txBox="1"/>
            <p:nvPr/>
          </p:nvSpPr>
          <p:spPr>
            <a:xfrm>
              <a:off x="42851" y="333179"/>
              <a:ext cx="5949338" cy="5223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ctr">
                <a:defRPr b="1" sz="1600"/>
              </a:pPr>
              <a:r>
                <a:t>EKS 1.33 cluster</a:t>
              </a:r>
            </a:p>
            <a:p>
              <a:pPr algn="ctr">
                <a:defRPr sz="1300">
                  <a:solidFill>
                    <a:srgbClr val="6B5B86"/>
                  </a:solidFill>
                </a:defRPr>
              </a:pPr>
              <a:r>
                <a:t>managed node group: t3.medium, min 1 · desired 2 · max 3</a:t>
              </a:r>
            </a:p>
          </p:txBody>
        </p:sp>
      </p:grpSp>
      <p:sp>
        <p:nvSpPr>
          <p:cNvPr id="565" name="text-318"/>
          <p:cNvSpPr txBox="1"/>
          <p:nvPr/>
        </p:nvSpPr>
        <p:spPr>
          <a:xfrm>
            <a:off x="7589519" y="1547956"/>
            <a:ext cx="402336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Status</a:t>
            </a:r>
          </a:p>
        </p:txBody>
      </p:sp>
      <p:sp>
        <p:nvSpPr>
          <p:cNvPr id="566" name="stat-319"/>
          <p:cNvSpPr/>
          <p:nvPr/>
        </p:nvSpPr>
        <p:spPr>
          <a:xfrm>
            <a:off x="7589519" y="2039111"/>
            <a:ext cx="384049" cy="384049"/>
          </a:xfrm>
          <a:prstGeom prst="ellipse">
            <a:avLst/>
          </a:prstGeom>
          <a:solidFill>
            <a:schemeClr val="accent3"/>
          </a:solidFill>
          <a:ln w="12700">
            <a:miter lim="400000"/>
          </a:ln>
        </p:spPr>
        <p:txBody>
          <a:bodyPr lIns="45719" rIns="45719"/>
          <a:lstStyle/>
          <a:p>
            <a:pPr/>
          </a:p>
        </p:txBody>
      </p:sp>
      <p:pic>
        <p:nvPicPr>
          <p:cNvPr id="567" name="statok-320" descr="statok-320"/>
          <p:cNvPicPr>
            <a:picLocks noChangeAspect="1"/>
          </p:cNvPicPr>
          <p:nvPr/>
        </p:nvPicPr>
        <p:blipFill>
          <a:blip r:embed="rId3">
            <a:extLst/>
          </a:blip>
          <a:stretch>
            <a:fillRect/>
          </a:stretch>
        </p:blipFill>
        <p:spPr>
          <a:xfrm>
            <a:off x="7671816" y="2121407"/>
            <a:ext cx="219457" cy="219457"/>
          </a:xfrm>
          <a:prstGeom prst="rect">
            <a:avLst/>
          </a:prstGeom>
          <a:ln w="12700">
            <a:miter lim="400000"/>
          </a:ln>
        </p:spPr>
      </p:pic>
      <p:sp>
        <p:nvSpPr>
          <p:cNvPr id="568" name="text-321"/>
          <p:cNvSpPr txBox="1"/>
          <p:nvPr/>
        </p:nvSpPr>
        <p:spPr>
          <a:xfrm>
            <a:off x="8138159" y="2123186"/>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init</a:t>
            </a:r>
          </a:p>
        </p:txBody>
      </p:sp>
      <p:sp>
        <p:nvSpPr>
          <p:cNvPr id="569" name="stat-322"/>
          <p:cNvSpPr/>
          <p:nvPr/>
        </p:nvSpPr>
        <p:spPr>
          <a:xfrm>
            <a:off x="7589519" y="2697479"/>
            <a:ext cx="384049" cy="384049"/>
          </a:xfrm>
          <a:prstGeom prst="ellipse">
            <a:avLst/>
          </a:prstGeom>
          <a:solidFill>
            <a:schemeClr val="accent3"/>
          </a:solidFill>
          <a:ln w="12700">
            <a:miter lim="400000"/>
          </a:ln>
        </p:spPr>
        <p:txBody>
          <a:bodyPr lIns="45719" rIns="45719"/>
          <a:lstStyle/>
          <a:p>
            <a:pPr/>
          </a:p>
        </p:txBody>
      </p:sp>
      <p:pic>
        <p:nvPicPr>
          <p:cNvPr id="570" name="statok-323" descr="statok-323"/>
          <p:cNvPicPr>
            <a:picLocks noChangeAspect="1"/>
          </p:cNvPicPr>
          <p:nvPr/>
        </p:nvPicPr>
        <p:blipFill>
          <a:blip r:embed="rId3">
            <a:extLst/>
          </a:blip>
          <a:stretch>
            <a:fillRect/>
          </a:stretch>
        </p:blipFill>
        <p:spPr>
          <a:xfrm>
            <a:off x="7671816" y="2779776"/>
            <a:ext cx="219457" cy="219457"/>
          </a:xfrm>
          <a:prstGeom prst="rect">
            <a:avLst/>
          </a:prstGeom>
          <a:ln w="12700">
            <a:miter lim="400000"/>
          </a:ln>
        </p:spPr>
      </p:pic>
      <p:sp>
        <p:nvSpPr>
          <p:cNvPr id="571" name="text-324"/>
          <p:cNvSpPr txBox="1"/>
          <p:nvPr/>
        </p:nvSpPr>
        <p:spPr>
          <a:xfrm>
            <a:off x="8138159" y="2781554"/>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fmt</a:t>
            </a:r>
          </a:p>
        </p:txBody>
      </p:sp>
      <p:sp>
        <p:nvSpPr>
          <p:cNvPr id="572" name="stat-325"/>
          <p:cNvSpPr/>
          <p:nvPr/>
        </p:nvSpPr>
        <p:spPr>
          <a:xfrm>
            <a:off x="7589519" y="3355847"/>
            <a:ext cx="384049" cy="384049"/>
          </a:xfrm>
          <a:prstGeom prst="ellipse">
            <a:avLst/>
          </a:prstGeom>
          <a:solidFill>
            <a:schemeClr val="accent3"/>
          </a:solidFill>
          <a:ln w="12700">
            <a:miter lim="400000"/>
          </a:ln>
        </p:spPr>
        <p:txBody>
          <a:bodyPr lIns="45719" rIns="45719"/>
          <a:lstStyle/>
          <a:p>
            <a:pPr/>
          </a:p>
        </p:txBody>
      </p:sp>
      <p:pic>
        <p:nvPicPr>
          <p:cNvPr id="573" name="statok-326" descr="statok-326"/>
          <p:cNvPicPr>
            <a:picLocks noChangeAspect="1"/>
          </p:cNvPicPr>
          <p:nvPr/>
        </p:nvPicPr>
        <p:blipFill>
          <a:blip r:embed="rId3">
            <a:extLst/>
          </a:blip>
          <a:stretch>
            <a:fillRect/>
          </a:stretch>
        </p:blipFill>
        <p:spPr>
          <a:xfrm>
            <a:off x="7671816" y="3438144"/>
            <a:ext cx="219457" cy="219457"/>
          </a:xfrm>
          <a:prstGeom prst="rect">
            <a:avLst/>
          </a:prstGeom>
          <a:ln w="12700">
            <a:miter lim="400000"/>
          </a:ln>
        </p:spPr>
      </p:pic>
      <p:sp>
        <p:nvSpPr>
          <p:cNvPr id="574" name="text-327"/>
          <p:cNvSpPr txBox="1"/>
          <p:nvPr/>
        </p:nvSpPr>
        <p:spPr>
          <a:xfrm>
            <a:off x="8138159" y="3439922"/>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validate</a:t>
            </a:r>
          </a:p>
        </p:txBody>
      </p:sp>
      <p:sp>
        <p:nvSpPr>
          <p:cNvPr id="575" name="stat-328"/>
          <p:cNvSpPr/>
          <p:nvPr/>
        </p:nvSpPr>
        <p:spPr>
          <a:xfrm>
            <a:off x="7589519" y="4014215"/>
            <a:ext cx="384049" cy="384049"/>
          </a:xfrm>
          <a:prstGeom prst="ellipse">
            <a:avLst/>
          </a:prstGeom>
          <a:solidFill>
            <a:schemeClr val="accent4"/>
          </a:solidFill>
          <a:ln w="12700">
            <a:miter lim="400000"/>
          </a:ln>
        </p:spPr>
        <p:txBody>
          <a:bodyPr lIns="45719" rIns="45719"/>
          <a:lstStyle/>
          <a:p>
            <a:pPr/>
          </a:p>
        </p:txBody>
      </p:sp>
      <p:pic>
        <p:nvPicPr>
          <p:cNvPr id="576" name="statkey-329" descr="statkey-329"/>
          <p:cNvPicPr>
            <a:picLocks noChangeAspect="1"/>
          </p:cNvPicPr>
          <p:nvPr/>
        </p:nvPicPr>
        <p:blipFill>
          <a:blip r:embed="rId4">
            <a:extLst/>
          </a:blip>
          <a:stretch>
            <a:fillRect/>
          </a:stretch>
        </p:blipFill>
        <p:spPr>
          <a:xfrm>
            <a:off x="7680959" y="4105655"/>
            <a:ext cx="201169" cy="201169"/>
          </a:xfrm>
          <a:prstGeom prst="rect">
            <a:avLst/>
          </a:prstGeom>
          <a:ln w="12700">
            <a:miter lim="400000"/>
          </a:ln>
        </p:spPr>
      </p:pic>
      <p:sp>
        <p:nvSpPr>
          <p:cNvPr id="577" name="text-330"/>
          <p:cNvSpPr txBox="1"/>
          <p:nvPr/>
        </p:nvSpPr>
        <p:spPr>
          <a:xfrm>
            <a:off x="8138159" y="4098290"/>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plan · apply · destroy</a:t>
            </a:r>
          </a:p>
        </p:txBody>
      </p:sp>
      <p:sp>
        <p:nvSpPr>
          <p:cNvPr id="578"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84" name="num-333"/>
          <p:cNvGrpSpPr/>
          <p:nvPr/>
        </p:nvGrpSpPr>
        <p:grpSpPr>
          <a:xfrm>
            <a:off x="731519" y="1325879"/>
            <a:ext cx="1234442" cy="1234442"/>
            <a:chOff x="0" y="0"/>
            <a:chExt cx="1234440" cy="1234440"/>
          </a:xfrm>
        </p:grpSpPr>
        <p:sp>
          <p:nvSpPr>
            <p:cNvPr id="582" name="Circle"/>
            <p:cNvSpPr/>
            <p:nvPr/>
          </p:nvSpPr>
          <p:spPr>
            <a:xfrm>
              <a:off x="-1" y="-1"/>
              <a:ext cx="1234442" cy="12344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4000"/>
              </a:pPr>
            </a:p>
          </p:txBody>
        </p:sp>
        <p:sp>
          <p:nvSpPr>
            <p:cNvPr id="583" name="04"/>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04</a:t>
              </a:r>
            </a:p>
          </p:txBody>
        </p:sp>
      </p:grpSp>
      <p:sp>
        <p:nvSpPr>
          <p:cNvPr id="585" name="Text 0"/>
          <p:cNvSpPr txBox="1"/>
          <p:nvPr>
            <p:ph type="title"/>
          </p:nvPr>
        </p:nvSpPr>
        <p:spPr>
          <a:xfrm>
            <a:off x="731520" y="2788920"/>
            <a:ext cx="7680960" cy="1097281"/>
          </a:xfrm>
          <a:prstGeom prst="rect">
            <a:avLst/>
          </a:prstGeom>
        </p:spPr>
        <p:txBody>
          <a:bodyPr lIns="0" tIns="0" rIns="0" bIns="0" anchor="ctr"/>
          <a:lstStyle/>
          <a:p>
            <a:pPr/>
            <a:r>
              <a:t>Watch, heal &amp; fix</a:t>
            </a:r>
          </a:p>
        </p:txBody>
      </p:sp>
      <p:sp>
        <p:nvSpPr>
          <p:cNvPr id="586" name="Text 0"/>
          <p:cNvSpPr txBox="1"/>
          <p:nvPr>
            <p:ph type="body" sz="quarter" idx="1"/>
          </p:nvPr>
        </p:nvSpPr>
        <p:spPr>
          <a:prstGeom prst="rect">
            <a:avLst/>
          </a:prstGeom>
        </p:spPr>
        <p:txBody>
          <a:bodyPr lIns="0" tIns="0" rIns="0" bIns="0"/>
          <a:lstStyle/>
          <a:p>
            <a:pPr/>
            <a:r>
              <a:t>Monitoring, GitOps, seven troubleshooting scenarios and what I learned</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0" name="Text 0"/>
          <p:cNvSpPr txBox="1"/>
          <p:nvPr>
            <p:ph type="title"/>
          </p:nvPr>
        </p:nvSpPr>
        <p:spPr>
          <a:xfrm>
            <a:off x="548639" y="347472"/>
            <a:ext cx="9692642" cy="777241"/>
          </a:xfrm>
          <a:prstGeom prst="rect">
            <a:avLst/>
          </a:prstGeom>
        </p:spPr>
        <p:txBody>
          <a:bodyPr lIns="0" tIns="0" rIns="0" bIns="0" anchor="ctr"/>
          <a:lstStyle/>
          <a:p>
            <a:pPr/>
            <a:r>
              <a:t>Watching it: Prometheus + Grafana</a:t>
            </a:r>
          </a:p>
        </p:txBody>
      </p:sp>
      <p:sp>
        <p:nvSpPr>
          <p:cNvPr id="591" name="bubble-335"/>
          <p:cNvSpPr/>
          <p:nvPr/>
        </p:nvSpPr>
        <p:spPr>
          <a:xfrm>
            <a:off x="548640" y="1508760"/>
            <a:ext cx="731521" cy="731521"/>
          </a:xfrm>
          <a:prstGeom prst="ellipse">
            <a:avLst/>
          </a:prstGeom>
          <a:solidFill>
            <a:schemeClr val="accent6"/>
          </a:solidFill>
          <a:ln w="12700">
            <a:miter lim="400000"/>
          </a:ln>
        </p:spPr>
        <p:txBody>
          <a:bodyPr lIns="45719" rIns="45719"/>
          <a:lstStyle/>
          <a:p>
            <a:pPr/>
          </a:p>
        </p:txBody>
      </p:sp>
      <p:pic>
        <p:nvPicPr>
          <p:cNvPr id="592" name="icon-336" descr="icon-336"/>
          <p:cNvPicPr>
            <a:picLocks noChangeAspect="1"/>
          </p:cNvPicPr>
          <p:nvPr/>
        </p:nvPicPr>
        <p:blipFill>
          <a:blip r:embed="rId3">
            <a:extLst/>
          </a:blip>
          <a:stretch>
            <a:fillRect/>
          </a:stretch>
        </p:blipFill>
        <p:spPr>
          <a:xfrm>
            <a:off x="709573" y="1669694"/>
            <a:ext cx="409652" cy="409652"/>
          </a:xfrm>
          <a:prstGeom prst="rect">
            <a:avLst/>
          </a:prstGeom>
          <a:ln w="12700">
            <a:miter lim="400000"/>
          </a:ln>
        </p:spPr>
      </p:pic>
      <p:sp>
        <p:nvSpPr>
          <p:cNvPr id="593" name="text-337"/>
          <p:cNvSpPr txBox="1"/>
          <p:nvPr/>
        </p:nvSpPr>
        <p:spPr>
          <a:xfrm>
            <a:off x="1463039" y="1566348"/>
            <a:ext cx="3429001" cy="6620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5 / 5 targets UP</a:t>
            </a:r>
            <a:endParaRPr sz="1400"/>
          </a:p>
          <a:p>
            <a:pPr>
              <a:defRPr sz="1300">
                <a:solidFill>
                  <a:srgbClr val="6B5B86"/>
                </a:solidFill>
              </a:defRPr>
            </a:pPr>
            <a:r>
              <a:t>Prometheus scraping every backend pod via a ServiceMonitor</a:t>
            </a:r>
          </a:p>
        </p:txBody>
      </p:sp>
      <p:sp>
        <p:nvSpPr>
          <p:cNvPr id="594" name="bubble-338"/>
          <p:cNvSpPr/>
          <p:nvPr/>
        </p:nvSpPr>
        <p:spPr>
          <a:xfrm>
            <a:off x="548640" y="2679192"/>
            <a:ext cx="731521" cy="731521"/>
          </a:xfrm>
          <a:prstGeom prst="ellipse">
            <a:avLst/>
          </a:prstGeom>
          <a:solidFill>
            <a:schemeClr val="accent1"/>
          </a:solidFill>
          <a:ln w="12700">
            <a:miter lim="400000"/>
          </a:ln>
        </p:spPr>
        <p:txBody>
          <a:bodyPr lIns="45719" rIns="45719"/>
          <a:lstStyle/>
          <a:p>
            <a:pPr/>
          </a:p>
        </p:txBody>
      </p:sp>
      <p:pic>
        <p:nvPicPr>
          <p:cNvPr id="595" name="icon-339" descr="icon-339"/>
          <p:cNvPicPr>
            <a:picLocks noChangeAspect="1"/>
          </p:cNvPicPr>
          <p:nvPr/>
        </p:nvPicPr>
        <p:blipFill>
          <a:blip r:embed="rId4">
            <a:extLst/>
          </a:blip>
          <a:stretch>
            <a:fillRect/>
          </a:stretch>
        </p:blipFill>
        <p:spPr>
          <a:xfrm>
            <a:off x="709573" y="2840126"/>
            <a:ext cx="409652" cy="409652"/>
          </a:xfrm>
          <a:prstGeom prst="rect">
            <a:avLst/>
          </a:prstGeom>
          <a:ln w="12700">
            <a:miter lim="400000"/>
          </a:ln>
        </p:spPr>
      </p:pic>
      <p:sp>
        <p:nvSpPr>
          <p:cNvPr id="596" name="text-340"/>
          <p:cNvSpPr txBox="1"/>
          <p:nvPr/>
        </p:nvSpPr>
        <p:spPr>
          <a:xfrm>
            <a:off x="1463039" y="2736781"/>
            <a:ext cx="3429001" cy="6620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~420 req/s peak</a:t>
            </a:r>
            <a:endParaRPr sz="1400"/>
          </a:p>
          <a:p>
            <a:pPr>
              <a:defRPr sz="1300">
                <a:solidFill>
                  <a:srgbClr val="6B5B86"/>
                </a:solidFill>
              </a:defRPr>
            </a:pPr>
            <a:r>
              <a:t>live from the load test, with p50 / p95 / p99 latency</a:t>
            </a:r>
          </a:p>
        </p:txBody>
      </p:sp>
      <p:sp>
        <p:nvSpPr>
          <p:cNvPr id="597" name="bubble-341"/>
          <p:cNvSpPr/>
          <p:nvPr/>
        </p:nvSpPr>
        <p:spPr>
          <a:xfrm>
            <a:off x="548640" y="3849623"/>
            <a:ext cx="731521" cy="731521"/>
          </a:xfrm>
          <a:prstGeom prst="ellipse">
            <a:avLst/>
          </a:prstGeom>
          <a:solidFill>
            <a:schemeClr val="accent4"/>
          </a:solidFill>
          <a:ln w="12700">
            <a:miter lim="400000"/>
          </a:ln>
        </p:spPr>
        <p:txBody>
          <a:bodyPr lIns="45719" rIns="45719"/>
          <a:lstStyle/>
          <a:p>
            <a:pPr/>
          </a:p>
        </p:txBody>
      </p:sp>
      <p:pic>
        <p:nvPicPr>
          <p:cNvPr id="598" name="icon-342" descr="icon-342"/>
          <p:cNvPicPr>
            <a:picLocks noChangeAspect="1"/>
          </p:cNvPicPr>
          <p:nvPr/>
        </p:nvPicPr>
        <p:blipFill>
          <a:blip r:embed="rId5">
            <a:extLst/>
          </a:blip>
          <a:stretch>
            <a:fillRect/>
          </a:stretch>
        </p:blipFill>
        <p:spPr>
          <a:xfrm>
            <a:off x="709573" y="4010557"/>
            <a:ext cx="409652" cy="409652"/>
          </a:xfrm>
          <a:prstGeom prst="rect">
            <a:avLst/>
          </a:prstGeom>
          <a:ln w="12700">
            <a:miter lim="400000"/>
          </a:ln>
        </p:spPr>
      </p:pic>
      <p:sp>
        <p:nvSpPr>
          <p:cNvPr id="599" name="text-343"/>
          <p:cNvSpPr txBox="1"/>
          <p:nvPr/>
        </p:nvSpPr>
        <p:spPr>
          <a:xfrm>
            <a:off x="1463039" y="4008813"/>
            <a:ext cx="3429001" cy="4588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5 alert rules</a:t>
            </a:r>
            <a:endParaRPr sz="1400"/>
          </a:p>
          <a:p>
            <a:pPr>
              <a:defRPr sz="1300">
                <a:solidFill>
                  <a:srgbClr val="6B5B86"/>
                </a:solidFill>
              </a:defRPr>
            </a:pPr>
            <a:r>
              <a:t>loaded through a PrometheusRule</a:t>
            </a:r>
          </a:p>
        </p:txBody>
      </p:sp>
      <p:sp>
        <p:nvSpPr>
          <p:cNvPr id="600" name="bubble-344"/>
          <p:cNvSpPr/>
          <p:nvPr/>
        </p:nvSpPr>
        <p:spPr>
          <a:xfrm>
            <a:off x="548640" y="5020055"/>
            <a:ext cx="731521" cy="731522"/>
          </a:xfrm>
          <a:prstGeom prst="ellipse">
            <a:avLst/>
          </a:prstGeom>
          <a:solidFill>
            <a:schemeClr val="accent3"/>
          </a:solidFill>
          <a:ln w="12700">
            <a:miter lim="400000"/>
          </a:ln>
        </p:spPr>
        <p:txBody>
          <a:bodyPr lIns="45719" rIns="45719"/>
          <a:lstStyle/>
          <a:p>
            <a:pPr/>
          </a:p>
        </p:txBody>
      </p:sp>
      <p:pic>
        <p:nvPicPr>
          <p:cNvPr id="601" name="icon-345" descr="icon-345"/>
          <p:cNvPicPr>
            <a:picLocks noChangeAspect="1"/>
          </p:cNvPicPr>
          <p:nvPr/>
        </p:nvPicPr>
        <p:blipFill>
          <a:blip r:embed="rId6">
            <a:extLst/>
          </a:blip>
          <a:stretch>
            <a:fillRect/>
          </a:stretch>
        </p:blipFill>
        <p:spPr>
          <a:xfrm>
            <a:off x="709573" y="5180989"/>
            <a:ext cx="409652" cy="409652"/>
          </a:xfrm>
          <a:prstGeom prst="rect">
            <a:avLst/>
          </a:prstGeom>
          <a:ln w="12700">
            <a:miter lim="400000"/>
          </a:ln>
        </p:spPr>
      </p:pic>
      <p:sp>
        <p:nvSpPr>
          <p:cNvPr id="602" name="text-346"/>
          <p:cNvSpPr txBox="1"/>
          <p:nvPr/>
        </p:nvSpPr>
        <p:spPr>
          <a:xfrm>
            <a:off x="1463039" y="5179244"/>
            <a:ext cx="3429001" cy="4588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Custom metrics</a:t>
            </a:r>
            <a:endParaRPr sz="1400"/>
          </a:p>
          <a:p>
            <a:pPr>
              <a:defRPr sz="1300">
                <a:solidFill>
                  <a:srgbClr val="6B5B86"/>
                </a:solidFill>
              </a:defRPr>
            </a:pPr>
            <a:r>
              <a:t>inventory changes + low-stock items</a:t>
            </a:r>
          </a:p>
        </p:txBody>
      </p:sp>
      <p:sp>
        <p:nvSpPr>
          <p:cNvPr id="603" name="frame-347"/>
          <p:cNvSpPr/>
          <p:nvPr/>
        </p:nvSpPr>
        <p:spPr>
          <a:xfrm>
            <a:off x="5330037" y="1325880"/>
            <a:ext cx="6210606" cy="4892041"/>
          </a:xfrm>
          <a:prstGeom prst="roundRect">
            <a:avLst>
              <a:gd name="adj" fmla="val 2617"/>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604" name="shot-348" descr="shot-348"/>
          <p:cNvPicPr>
            <a:picLocks noChangeAspect="1"/>
          </p:cNvPicPr>
          <p:nvPr/>
        </p:nvPicPr>
        <p:blipFill>
          <a:blip r:embed="rId7">
            <a:extLst/>
          </a:blip>
          <a:stretch>
            <a:fillRect/>
          </a:stretch>
        </p:blipFill>
        <p:spPr>
          <a:xfrm>
            <a:off x="5421477" y="1417319"/>
            <a:ext cx="6027727" cy="4709161"/>
          </a:xfrm>
          <a:prstGeom prst="rect">
            <a:avLst/>
          </a:prstGeom>
          <a:ln w="12700">
            <a:miter lim="400000"/>
          </a:ln>
        </p:spPr>
      </p:pic>
      <p:sp>
        <p:nvSpPr>
          <p:cNvPr id="605"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9" name="Text 0"/>
          <p:cNvSpPr txBox="1"/>
          <p:nvPr>
            <p:ph type="title"/>
          </p:nvPr>
        </p:nvSpPr>
        <p:spPr>
          <a:xfrm>
            <a:off x="548639" y="347472"/>
            <a:ext cx="9692642" cy="777241"/>
          </a:xfrm>
          <a:prstGeom prst="rect">
            <a:avLst/>
          </a:prstGeom>
        </p:spPr>
        <p:txBody>
          <a:bodyPr lIns="0" tIns="0" rIns="0" bIns="0" anchor="ctr"/>
          <a:lstStyle/>
          <a:p>
            <a:pPr/>
            <a:r>
              <a:t>Git is the source of truth</a:t>
            </a:r>
          </a:p>
        </p:txBody>
      </p:sp>
      <p:sp>
        <p:nvSpPr>
          <p:cNvPr id="610" name="bubble-349"/>
          <p:cNvSpPr/>
          <p:nvPr/>
        </p:nvSpPr>
        <p:spPr>
          <a:xfrm>
            <a:off x="548640" y="1600200"/>
            <a:ext cx="868681" cy="868681"/>
          </a:xfrm>
          <a:prstGeom prst="ellipse">
            <a:avLst/>
          </a:prstGeom>
          <a:solidFill>
            <a:schemeClr val="accent2"/>
          </a:solidFill>
          <a:ln w="12700">
            <a:miter lim="400000"/>
          </a:ln>
        </p:spPr>
        <p:txBody>
          <a:bodyPr lIns="45719" rIns="45719"/>
          <a:lstStyle/>
          <a:p>
            <a:pPr/>
          </a:p>
        </p:txBody>
      </p:sp>
      <p:pic>
        <p:nvPicPr>
          <p:cNvPr id="611" name="icon-350" descr="icon-350"/>
          <p:cNvPicPr>
            <a:picLocks noChangeAspect="1"/>
          </p:cNvPicPr>
          <p:nvPr/>
        </p:nvPicPr>
        <p:blipFill>
          <a:blip r:embed="rId3">
            <a:extLst/>
          </a:blip>
          <a:stretch>
            <a:fillRect/>
          </a:stretch>
        </p:blipFill>
        <p:spPr>
          <a:xfrm>
            <a:off x="757123" y="1808683"/>
            <a:ext cx="451715" cy="451715"/>
          </a:xfrm>
          <a:prstGeom prst="rect">
            <a:avLst/>
          </a:prstGeom>
          <a:ln w="12700">
            <a:miter lim="400000"/>
          </a:ln>
        </p:spPr>
      </p:pic>
      <p:sp>
        <p:nvSpPr>
          <p:cNvPr id="612" name="text-351"/>
          <p:cNvSpPr txBox="1"/>
          <p:nvPr/>
        </p:nvSpPr>
        <p:spPr>
          <a:xfrm>
            <a:off x="365759" y="2636959"/>
            <a:ext cx="123444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commit</a:t>
            </a:r>
          </a:p>
        </p:txBody>
      </p:sp>
      <p:sp>
        <p:nvSpPr>
          <p:cNvPr id="613" name="arrow-352"/>
          <p:cNvSpPr/>
          <p:nvPr/>
        </p:nvSpPr>
        <p:spPr>
          <a:xfrm>
            <a:off x="1444752" y="2034539"/>
            <a:ext cx="448056" cy="915"/>
          </a:xfrm>
          <a:prstGeom prst="line">
            <a:avLst/>
          </a:prstGeom>
          <a:ln w="25400">
            <a:solidFill>
              <a:srgbClr val="6B5B86"/>
            </a:solidFill>
            <a:tailEnd type="triangle"/>
          </a:ln>
        </p:spPr>
        <p:txBody>
          <a:bodyPr lIns="45719" rIns="45719"/>
          <a:lstStyle/>
          <a:p>
            <a:pPr/>
          </a:p>
        </p:txBody>
      </p:sp>
      <p:sp>
        <p:nvSpPr>
          <p:cNvPr id="614" name="bubble-353"/>
          <p:cNvSpPr/>
          <p:nvPr/>
        </p:nvSpPr>
        <p:spPr>
          <a:xfrm>
            <a:off x="1920239" y="1600200"/>
            <a:ext cx="868681" cy="868681"/>
          </a:xfrm>
          <a:prstGeom prst="ellipse">
            <a:avLst/>
          </a:prstGeom>
          <a:solidFill>
            <a:schemeClr val="accent5"/>
          </a:solidFill>
          <a:ln w="12700">
            <a:miter lim="400000"/>
          </a:ln>
        </p:spPr>
        <p:txBody>
          <a:bodyPr lIns="45719" rIns="45719"/>
          <a:lstStyle/>
          <a:p>
            <a:pPr/>
          </a:p>
        </p:txBody>
      </p:sp>
      <p:pic>
        <p:nvPicPr>
          <p:cNvPr id="615" name="icon-354" descr="icon-354"/>
          <p:cNvPicPr>
            <a:picLocks noChangeAspect="1"/>
          </p:cNvPicPr>
          <p:nvPr/>
        </p:nvPicPr>
        <p:blipFill>
          <a:blip r:embed="rId4">
            <a:extLst/>
          </a:blip>
          <a:stretch>
            <a:fillRect/>
          </a:stretch>
        </p:blipFill>
        <p:spPr>
          <a:xfrm>
            <a:off x="2128722" y="1808683"/>
            <a:ext cx="451715" cy="451715"/>
          </a:xfrm>
          <a:prstGeom prst="rect">
            <a:avLst/>
          </a:prstGeom>
          <a:ln w="12700">
            <a:miter lim="400000"/>
          </a:ln>
        </p:spPr>
      </p:pic>
      <p:sp>
        <p:nvSpPr>
          <p:cNvPr id="616" name="text-355"/>
          <p:cNvSpPr txBox="1"/>
          <p:nvPr/>
        </p:nvSpPr>
        <p:spPr>
          <a:xfrm>
            <a:off x="1737360"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GitHub</a:t>
            </a:r>
          </a:p>
        </p:txBody>
      </p:sp>
      <p:sp>
        <p:nvSpPr>
          <p:cNvPr id="617" name="arrow-356"/>
          <p:cNvSpPr/>
          <p:nvPr/>
        </p:nvSpPr>
        <p:spPr>
          <a:xfrm>
            <a:off x="2816352" y="2034539"/>
            <a:ext cx="448056" cy="915"/>
          </a:xfrm>
          <a:prstGeom prst="line">
            <a:avLst/>
          </a:prstGeom>
          <a:ln w="25400">
            <a:solidFill>
              <a:srgbClr val="6B5B86"/>
            </a:solidFill>
            <a:tailEnd type="triangle"/>
          </a:ln>
        </p:spPr>
        <p:txBody>
          <a:bodyPr lIns="45719" rIns="45719"/>
          <a:lstStyle/>
          <a:p>
            <a:pPr/>
          </a:p>
        </p:txBody>
      </p:sp>
      <p:sp>
        <p:nvSpPr>
          <p:cNvPr id="618" name="bubble-357"/>
          <p:cNvSpPr/>
          <p:nvPr/>
        </p:nvSpPr>
        <p:spPr>
          <a:xfrm>
            <a:off x="3291840" y="1600200"/>
            <a:ext cx="868681" cy="868681"/>
          </a:xfrm>
          <a:prstGeom prst="ellipse">
            <a:avLst/>
          </a:prstGeom>
          <a:solidFill>
            <a:schemeClr val="accent1"/>
          </a:solidFill>
          <a:ln w="12700">
            <a:miter lim="400000"/>
          </a:ln>
        </p:spPr>
        <p:txBody>
          <a:bodyPr lIns="45719" rIns="45719"/>
          <a:lstStyle/>
          <a:p>
            <a:pPr/>
          </a:p>
        </p:txBody>
      </p:sp>
      <p:pic>
        <p:nvPicPr>
          <p:cNvPr id="619" name="icon-358" descr="icon-358"/>
          <p:cNvPicPr>
            <a:picLocks noChangeAspect="1"/>
          </p:cNvPicPr>
          <p:nvPr/>
        </p:nvPicPr>
        <p:blipFill>
          <a:blip r:embed="rId5">
            <a:extLst/>
          </a:blip>
          <a:stretch>
            <a:fillRect/>
          </a:stretch>
        </p:blipFill>
        <p:spPr>
          <a:xfrm>
            <a:off x="3500323" y="1808683"/>
            <a:ext cx="451715" cy="451715"/>
          </a:xfrm>
          <a:prstGeom prst="rect">
            <a:avLst/>
          </a:prstGeom>
          <a:ln w="12700">
            <a:miter lim="400000"/>
          </a:ln>
        </p:spPr>
      </p:pic>
      <p:sp>
        <p:nvSpPr>
          <p:cNvPr id="620" name="text-359"/>
          <p:cNvSpPr txBox="1"/>
          <p:nvPr/>
        </p:nvSpPr>
        <p:spPr>
          <a:xfrm>
            <a:off x="3108960"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Argo CD</a:t>
            </a:r>
          </a:p>
        </p:txBody>
      </p:sp>
      <p:sp>
        <p:nvSpPr>
          <p:cNvPr id="621" name="arrow-360"/>
          <p:cNvSpPr/>
          <p:nvPr/>
        </p:nvSpPr>
        <p:spPr>
          <a:xfrm>
            <a:off x="4187952" y="2034539"/>
            <a:ext cx="448057" cy="915"/>
          </a:xfrm>
          <a:prstGeom prst="line">
            <a:avLst/>
          </a:prstGeom>
          <a:ln w="25400">
            <a:solidFill>
              <a:srgbClr val="6B5B86"/>
            </a:solidFill>
            <a:tailEnd type="triangle"/>
          </a:ln>
        </p:spPr>
        <p:txBody>
          <a:bodyPr lIns="45719" rIns="45719"/>
          <a:lstStyle/>
          <a:p>
            <a:pPr/>
          </a:p>
        </p:txBody>
      </p:sp>
      <p:sp>
        <p:nvSpPr>
          <p:cNvPr id="622" name="bubble-361"/>
          <p:cNvSpPr/>
          <p:nvPr/>
        </p:nvSpPr>
        <p:spPr>
          <a:xfrm>
            <a:off x="4663440" y="1600200"/>
            <a:ext cx="868681" cy="868681"/>
          </a:xfrm>
          <a:prstGeom prst="ellipse">
            <a:avLst/>
          </a:prstGeom>
          <a:solidFill>
            <a:schemeClr val="accent3"/>
          </a:solidFill>
          <a:ln w="12700">
            <a:miter lim="400000"/>
          </a:ln>
        </p:spPr>
        <p:txBody>
          <a:bodyPr lIns="45719" rIns="45719"/>
          <a:lstStyle/>
          <a:p>
            <a:pPr/>
          </a:p>
        </p:txBody>
      </p:sp>
      <p:pic>
        <p:nvPicPr>
          <p:cNvPr id="623" name="icon-362" descr="icon-362"/>
          <p:cNvPicPr>
            <a:picLocks noChangeAspect="1"/>
          </p:cNvPicPr>
          <p:nvPr/>
        </p:nvPicPr>
        <p:blipFill>
          <a:blip r:embed="rId6">
            <a:extLst/>
          </a:blip>
          <a:stretch>
            <a:fillRect/>
          </a:stretch>
        </p:blipFill>
        <p:spPr>
          <a:xfrm>
            <a:off x="4871923" y="1808683"/>
            <a:ext cx="451715" cy="451715"/>
          </a:xfrm>
          <a:prstGeom prst="rect">
            <a:avLst/>
          </a:prstGeom>
          <a:ln w="12700">
            <a:miter lim="400000"/>
          </a:ln>
        </p:spPr>
      </p:pic>
      <p:sp>
        <p:nvSpPr>
          <p:cNvPr id="624" name="text-363"/>
          <p:cNvSpPr txBox="1"/>
          <p:nvPr/>
        </p:nvSpPr>
        <p:spPr>
          <a:xfrm>
            <a:off x="4480559"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cluster</a:t>
            </a:r>
          </a:p>
        </p:txBody>
      </p:sp>
      <p:sp>
        <p:nvSpPr>
          <p:cNvPr id="625" name="card-364"/>
          <p:cNvSpPr/>
          <p:nvPr/>
        </p:nvSpPr>
        <p:spPr>
          <a:xfrm>
            <a:off x="548640" y="3200400"/>
            <a:ext cx="5120641" cy="2926080"/>
          </a:xfrm>
          <a:prstGeom prst="roundRect">
            <a:avLst>
              <a:gd name="adj" fmla="val 5625"/>
            </a:avLst>
          </a:prstGeom>
          <a:solidFill>
            <a:srgbClr val="FFF4F8"/>
          </a:solidFill>
          <a:ln w="12700">
            <a:miter lim="400000"/>
          </a:ln>
        </p:spPr>
        <p:txBody>
          <a:bodyPr lIns="45719" rIns="45719"/>
          <a:lstStyle/>
          <a:p>
            <a:pPr/>
          </a:p>
        </p:txBody>
      </p:sp>
      <p:sp>
        <p:nvSpPr>
          <p:cNvPr id="626" name="text-365"/>
          <p:cNvSpPr txBox="1"/>
          <p:nvPr/>
        </p:nvSpPr>
        <p:spPr>
          <a:xfrm>
            <a:off x="822960" y="3449908"/>
            <a:ext cx="45720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Self-heal test</a:t>
            </a:r>
          </a:p>
        </p:txBody>
      </p:sp>
      <p:grpSp>
        <p:nvGrpSpPr>
          <p:cNvPr id="629" name="num-366"/>
          <p:cNvGrpSpPr/>
          <p:nvPr/>
        </p:nvGrpSpPr>
        <p:grpSpPr>
          <a:xfrm>
            <a:off x="822960" y="3895344"/>
            <a:ext cx="384049" cy="384049"/>
            <a:chOff x="0" y="0"/>
            <a:chExt cx="384047" cy="384047"/>
          </a:xfrm>
        </p:grpSpPr>
        <p:sp>
          <p:nvSpPr>
            <p:cNvPr id="627" name="Circle"/>
            <p:cNvSpPr/>
            <p:nvPr/>
          </p:nvSpPr>
          <p:spPr>
            <a:xfrm>
              <a:off x="0" y="0"/>
              <a:ext cx="384048" cy="384048"/>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628" name="1"/>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1</a:t>
              </a:r>
            </a:p>
          </p:txBody>
        </p:sp>
      </p:grpSp>
      <p:sp>
        <p:nvSpPr>
          <p:cNvPr id="630" name="text-367"/>
          <p:cNvSpPr txBox="1"/>
          <p:nvPr/>
        </p:nvSpPr>
        <p:spPr>
          <a:xfrm>
            <a:off x="1325879" y="3994089"/>
            <a:ext cx="420624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I scaled the Deployment to 5 replicas by hand</a:t>
            </a:r>
          </a:p>
        </p:txBody>
      </p:sp>
      <p:grpSp>
        <p:nvGrpSpPr>
          <p:cNvPr id="633" name="num-368"/>
          <p:cNvGrpSpPr/>
          <p:nvPr/>
        </p:nvGrpSpPr>
        <p:grpSpPr>
          <a:xfrm>
            <a:off x="822960" y="4407408"/>
            <a:ext cx="384049" cy="384049"/>
            <a:chOff x="0" y="0"/>
            <a:chExt cx="384047" cy="384047"/>
          </a:xfrm>
        </p:grpSpPr>
        <p:sp>
          <p:nvSpPr>
            <p:cNvPr id="631" name="Circle"/>
            <p:cNvSpPr/>
            <p:nvPr/>
          </p:nvSpPr>
          <p:spPr>
            <a:xfrm>
              <a:off x="0" y="0"/>
              <a:ext cx="384048" cy="38404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632" name="2"/>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2</a:t>
              </a:r>
            </a:p>
          </p:txBody>
        </p:sp>
      </p:grpSp>
      <p:sp>
        <p:nvSpPr>
          <p:cNvPr id="634" name="text-369"/>
          <p:cNvSpPr txBox="1"/>
          <p:nvPr/>
        </p:nvSpPr>
        <p:spPr>
          <a:xfrm>
            <a:off x="1325879" y="4506154"/>
            <a:ext cx="420624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Argo CD saw the drift: Synced → OutOfSync</a:t>
            </a:r>
          </a:p>
        </p:txBody>
      </p:sp>
      <p:grpSp>
        <p:nvGrpSpPr>
          <p:cNvPr id="637" name="num-370"/>
          <p:cNvGrpSpPr/>
          <p:nvPr/>
        </p:nvGrpSpPr>
        <p:grpSpPr>
          <a:xfrm>
            <a:off x="822960" y="4919471"/>
            <a:ext cx="384049" cy="384049"/>
            <a:chOff x="0" y="0"/>
            <a:chExt cx="384047" cy="384047"/>
          </a:xfrm>
        </p:grpSpPr>
        <p:sp>
          <p:nvSpPr>
            <p:cNvPr id="635" name="Circle"/>
            <p:cNvSpPr/>
            <p:nvPr/>
          </p:nvSpPr>
          <p:spPr>
            <a:xfrm>
              <a:off x="0" y="0"/>
              <a:ext cx="384048" cy="384048"/>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636" name="3"/>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3</a:t>
              </a:r>
            </a:p>
          </p:txBody>
        </p:sp>
      </p:grpSp>
      <p:sp>
        <p:nvSpPr>
          <p:cNvPr id="638" name="text-371"/>
          <p:cNvSpPr txBox="1"/>
          <p:nvPr/>
        </p:nvSpPr>
        <p:spPr>
          <a:xfrm>
            <a:off x="1325879" y="4903918"/>
            <a:ext cx="4206242"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About a second later it was back to the 2 replicas Git says</a:t>
            </a:r>
          </a:p>
        </p:txBody>
      </p:sp>
      <p:sp>
        <p:nvSpPr>
          <p:cNvPr id="639" name="text-372"/>
          <p:cNvSpPr txBox="1"/>
          <p:nvPr/>
        </p:nvSpPr>
        <p:spPr>
          <a:xfrm>
            <a:off x="822959" y="5597459"/>
            <a:ext cx="4663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6B5B86"/>
                </a:solidFill>
              </a:defRPr>
            </a:lvl1pPr>
          </a:lstStyle>
          <a:p>
            <a:pPr/>
            <a:r>
              <a:t>CI pushes images; the cluster pulls its config from Git.</a:t>
            </a:r>
          </a:p>
        </p:txBody>
      </p:sp>
      <p:sp>
        <p:nvSpPr>
          <p:cNvPr id="640" name="frame-373"/>
          <p:cNvSpPr/>
          <p:nvPr/>
        </p:nvSpPr>
        <p:spPr>
          <a:xfrm>
            <a:off x="6035040" y="2057400"/>
            <a:ext cx="5669281" cy="3474721"/>
          </a:xfrm>
          <a:prstGeom prst="roundRect">
            <a:avLst>
              <a:gd name="adj" fmla="val 3684"/>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641" name="shot-374" descr="shot-374"/>
          <p:cNvPicPr>
            <a:picLocks noChangeAspect="1"/>
          </p:cNvPicPr>
          <p:nvPr/>
        </p:nvPicPr>
        <p:blipFill>
          <a:blip r:embed="rId7">
            <a:extLst/>
          </a:blip>
          <a:stretch>
            <a:fillRect/>
          </a:stretch>
        </p:blipFill>
        <p:spPr>
          <a:xfrm>
            <a:off x="6126479" y="2148839"/>
            <a:ext cx="5486401" cy="3291842"/>
          </a:xfrm>
          <a:prstGeom prst="rect">
            <a:avLst/>
          </a:prstGeom>
          <a:ln w="12700">
            <a:miter lim="400000"/>
          </a:ln>
        </p:spPr>
      </p:pic>
      <p:sp>
        <p:nvSpPr>
          <p:cNvPr id="642"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6" name="Text 0"/>
          <p:cNvSpPr txBox="1"/>
          <p:nvPr>
            <p:ph type="title"/>
          </p:nvPr>
        </p:nvSpPr>
        <p:spPr>
          <a:xfrm>
            <a:off x="548639" y="347472"/>
            <a:ext cx="9692642" cy="777241"/>
          </a:xfrm>
          <a:prstGeom prst="rect">
            <a:avLst/>
          </a:prstGeom>
        </p:spPr>
        <p:txBody>
          <a:bodyPr lIns="0" tIns="0" rIns="0" bIns="0" anchor="ctr"/>
          <a:lstStyle/>
          <a:p>
            <a:pPr/>
            <a:r>
              <a:t>7 things I broke (one by accident)</a:t>
            </a:r>
          </a:p>
        </p:txBody>
      </p:sp>
      <p:sp>
        <p:nvSpPr>
          <p:cNvPr id="647" name="card-375"/>
          <p:cNvSpPr/>
          <p:nvPr/>
        </p:nvSpPr>
        <p:spPr>
          <a:xfrm>
            <a:off x="548640"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50" name="num-376"/>
          <p:cNvGrpSpPr/>
          <p:nvPr/>
        </p:nvGrpSpPr>
        <p:grpSpPr>
          <a:xfrm>
            <a:off x="749808" y="1618488"/>
            <a:ext cx="548641" cy="548641"/>
            <a:chOff x="0" y="0"/>
            <a:chExt cx="548640" cy="548640"/>
          </a:xfrm>
        </p:grpSpPr>
        <p:sp>
          <p:nvSpPr>
            <p:cNvPr id="648" name="Ci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600"/>
              </a:pPr>
            </a:p>
          </p:txBody>
        </p:sp>
        <p:sp>
          <p:nvSpPr>
            <p:cNvPr id="649" name="1"/>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a:t>
              </a:r>
            </a:p>
          </p:txBody>
        </p:sp>
      </p:grpSp>
      <p:sp>
        <p:nvSpPr>
          <p:cNvPr id="651" name="text-377"/>
          <p:cNvSpPr txBox="1"/>
          <p:nvPr/>
        </p:nvSpPr>
        <p:spPr>
          <a:xfrm>
            <a:off x="1417319" y="1799529"/>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Bad image tag</a:t>
            </a:r>
          </a:p>
        </p:txBody>
      </p:sp>
      <p:sp>
        <p:nvSpPr>
          <p:cNvPr id="652" name="text-378"/>
          <p:cNvSpPr txBox="1"/>
          <p:nvPr/>
        </p:nvSpPr>
        <p:spPr>
          <a:xfrm>
            <a:off x="777240"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ImagePullBackOff</a:t>
            </a:r>
          </a:p>
          <a:p>
            <a:pPr>
              <a:spcBef>
                <a:spcPts val="500"/>
              </a:spcBef>
              <a:defRPr b="1" sz="1100">
                <a:solidFill>
                  <a:srgbClr val="6B5B86"/>
                </a:solidFill>
              </a:defRPr>
            </a:pPr>
            <a:r>
              <a:t>FIX</a:t>
            </a:r>
            <a:endParaRPr sz="1400"/>
          </a:p>
          <a:p>
            <a:pPr>
              <a:spcBef>
                <a:spcPts val="500"/>
              </a:spcBef>
              <a:defRPr sz="1400"/>
            </a:pPr>
            <a:r>
              <a:t>rollout undo, right tag</a:t>
            </a:r>
          </a:p>
        </p:txBody>
      </p:sp>
      <p:sp>
        <p:nvSpPr>
          <p:cNvPr id="653" name="card-379"/>
          <p:cNvSpPr/>
          <p:nvPr/>
        </p:nvSpPr>
        <p:spPr>
          <a:xfrm>
            <a:off x="3379622"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56" name="num-380"/>
          <p:cNvGrpSpPr/>
          <p:nvPr/>
        </p:nvGrpSpPr>
        <p:grpSpPr>
          <a:xfrm>
            <a:off x="3580789" y="1618488"/>
            <a:ext cx="548641" cy="548641"/>
            <a:chOff x="0" y="0"/>
            <a:chExt cx="548640" cy="548640"/>
          </a:xfrm>
        </p:grpSpPr>
        <p:sp>
          <p:nvSpPr>
            <p:cNvPr id="654" name="Ci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1600"/>
              </a:pPr>
            </a:p>
          </p:txBody>
        </p:sp>
        <p:sp>
          <p:nvSpPr>
            <p:cNvPr id="655" name="2"/>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a:t>
              </a:r>
            </a:p>
          </p:txBody>
        </p:sp>
      </p:grpSp>
      <p:sp>
        <p:nvSpPr>
          <p:cNvPr id="657" name="text-381"/>
          <p:cNvSpPr txBox="1"/>
          <p:nvPr/>
        </p:nvSpPr>
        <p:spPr>
          <a:xfrm>
            <a:off x="4248301" y="1799529"/>
            <a:ext cx="1636777"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Selector typo</a:t>
            </a:r>
          </a:p>
        </p:txBody>
      </p:sp>
      <p:sp>
        <p:nvSpPr>
          <p:cNvPr id="658" name="text-382"/>
          <p:cNvSpPr txBox="1"/>
          <p:nvPr/>
        </p:nvSpPr>
        <p:spPr>
          <a:xfrm>
            <a:off x="3608222"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503, no endpoints</a:t>
            </a:r>
          </a:p>
          <a:p>
            <a:pPr>
              <a:spcBef>
                <a:spcPts val="500"/>
              </a:spcBef>
              <a:defRPr b="1" sz="1100">
                <a:solidFill>
                  <a:srgbClr val="6B5B86"/>
                </a:solidFill>
              </a:defRPr>
            </a:pPr>
            <a:r>
              <a:t>FIX</a:t>
            </a:r>
            <a:endParaRPr sz="1400"/>
          </a:p>
          <a:p>
            <a:pPr>
              <a:spcBef>
                <a:spcPts val="500"/>
              </a:spcBef>
              <a:defRPr sz="1400"/>
            </a:pPr>
            <a:r>
              <a:t>fix the label</a:t>
            </a:r>
          </a:p>
        </p:txBody>
      </p:sp>
      <p:sp>
        <p:nvSpPr>
          <p:cNvPr id="659" name="card-383"/>
          <p:cNvSpPr/>
          <p:nvPr/>
        </p:nvSpPr>
        <p:spPr>
          <a:xfrm>
            <a:off x="6210605"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62" name="num-384"/>
          <p:cNvGrpSpPr/>
          <p:nvPr/>
        </p:nvGrpSpPr>
        <p:grpSpPr>
          <a:xfrm>
            <a:off x="6411772" y="1618488"/>
            <a:ext cx="548641" cy="548641"/>
            <a:chOff x="0" y="0"/>
            <a:chExt cx="548640" cy="548640"/>
          </a:xfrm>
        </p:grpSpPr>
        <p:sp>
          <p:nvSpPr>
            <p:cNvPr id="660" name="Circle"/>
            <p:cNvSpPr/>
            <p:nvPr/>
          </p:nvSpPr>
          <p:spPr>
            <a:xfrm>
              <a:off x="-1" y="-1"/>
              <a:ext cx="548642" cy="5486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1600"/>
              </a:pPr>
            </a:p>
          </p:txBody>
        </p:sp>
        <p:sp>
          <p:nvSpPr>
            <p:cNvPr id="661" name="3"/>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sp>
        <p:nvSpPr>
          <p:cNvPr id="663" name="text-385"/>
          <p:cNvSpPr txBox="1"/>
          <p:nvPr/>
        </p:nvSpPr>
        <p:spPr>
          <a:xfrm>
            <a:off x="7079284" y="1799529"/>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Wrong DB password</a:t>
            </a:r>
          </a:p>
        </p:txBody>
      </p:sp>
      <p:sp>
        <p:nvSpPr>
          <p:cNvPr id="664" name="text-386"/>
          <p:cNvSpPr txBox="1"/>
          <p:nvPr/>
        </p:nvSpPr>
        <p:spPr>
          <a:xfrm>
            <a:off x="6439205"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pods stuck in init</a:t>
            </a:r>
          </a:p>
          <a:p>
            <a:pPr>
              <a:spcBef>
                <a:spcPts val="500"/>
              </a:spcBef>
              <a:defRPr b="1" sz="1100">
                <a:solidFill>
                  <a:srgbClr val="6B5B86"/>
                </a:solidFill>
              </a:defRPr>
            </a:pPr>
            <a:r>
              <a:t>FIX</a:t>
            </a:r>
            <a:endParaRPr sz="1400"/>
          </a:p>
          <a:p>
            <a:pPr>
              <a:spcBef>
                <a:spcPts val="500"/>
              </a:spcBef>
              <a:defRPr sz="1400"/>
            </a:pPr>
            <a:r>
              <a:t>restore the Secret</a:t>
            </a:r>
          </a:p>
        </p:txBody>
      </p:sp>
      <p:sp>
        <p:nvSpPr>
          <p:cNvPr id="665" name="card-387"/>
          <p:cNvSpPr/>
          <p:nvPr/>
        </p:nvSpPr>
        <p:spPr>
          <a:xfrm>
            <a:off x="9041586" y="1417319"/>
            <a:ext cx="2596897" cy="2240281"/>
          </a:xfrm>
          <a:prstGeom prst="roundRect">
            <a:avLst>
              <a:gd name="adj" fmla="val 7347"/>
            </a:avLst>
          </a:prstGeom>
          <a:solidFill>
            <a:srgbClr val="FFF4F8"/>
          </a:solidFill>
          <a:ln w="12700">
            <a:miter lim="400000"/>
          </a:ln>
        </p:spPr>
        <p:txBody>
          <a:bodyPr lIns="45719" rIns="45719"/>
          <a:lstStyle/>
          <a:p>
            <a:pPr/>
          </a:p>
        </p:txBody>
      </p:sp>
      <p:grpSp>
        <p:nvGrpSpPr>
          <p:cNvPr id="668" name="num-388"/>
          <p:cNvGrpSpPr/>
          <p:nvPr/>
        </p:nvGrpSpPr>
        <p:grpSpPr>
          <a:xfrm>
            <a:off x="9242755" y="1618488"/>
            <a:ext cx="548641" cy="548641"/>
            <a:chOff x="0" y="0"/>
            <a:chExt cx="548640" cy="548640"/>
          </a:xfrm>
        </p:grpSpPr>
        <p:sp>
          <p:nvSpPr>
            <p:cNvPr id="666" name="Circle"/>
            <p:cNvSpPr/>
            <p:nvPr/>
          </p:nvSpPr>
          <p:spPr>
            <a:xfrm>
              <a:off x="-1" y="-1"/>
              <a:ext cx="548642" cy="5486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1600"/>
              </a:pPr>
            </a:p>
          </p:txBody>
        </p:sp>
        <p:sp>
          <p:nvSpPr>
            <p:cNvPr id="667" name="4"/>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a:t>
              </a:r>
            </a:p>
          </p:txBody>
        </p:sp>
      </p:grpSp>
      <p:sp>
        <p:nvSpPr>
          <p:cNvPr id="669" name="text-389"/>
          <p:cNvSpPr txBox="1"/>
          <p:nvPr/>
        </p:nvSpPr>
        <p:spPr>
          <a:xfrm>
            <a:off x="9910267" y="1685229"/>
            <a:ext cx="1636777"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Missing ConfigMap key</a:t>
            </a:r>
          </a:p>
        </p:txBody>
      </p:sp>
      <p:sp>
        <p:nvSpPr>
          <p:cNvPr id="670" name="text-390"/>
          <p:cNvSpPr txBox="1"/>
          <p:nvPr/>
        </p:nvSpPr>
        <p:spPr>
          <a:xfrm>
            <a:off x="9270186" y="2313432"/>
            <a:ext cx="2231137"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CreateContainerConfigError</a:t>
            </a:r>
          </a:p>
          <a:p>
            <a:pPr>
              <a:spcBef>
                <a:spcPts val="500"/>
              </a:spcBef>
              <a:defRPr b="1" sz="1100">
                <a:solidFill>
                  <a:srgbClr val="6B5B86"/>
                </a:solidFill>
              </a:defRPr>
            </a:pPr>
            <a:r>
              <a:t>FIX</a:t>
            </a:r>
            <a:endParaRPr sz="1400"/>
          </a:p>
          <a:p>
            <a:pPr>
              <a:spcBef>
                <a:spcPts val="500"/>
              </a:spcBef>
              <a:defRPr sz="1400"/>
            </a:pPr>
            <a:r>
              <a:t>restore the key</a:t>
            </a:r>
          </a:p>
        </p:txBody>
      </p:sp>
      <p:sp>
        <p:nvSpPr>
          <p:cNvPr id="671" name="card-391"/>
          <p:cNvSpPr/>
          <p:nvPr/>
        </p:nvSpPr>
        <p:spPr>
          <a:xfrm>
            <a:off x="548640" y="3886200"/>
            <a:ext cx="2596896" cy="2240280"/>
          </a:xfrm>
          <a:prstGeom prst="roundRect">
            <a:avLst>
              <a:gd name="adj" fmla="val 7347"/>
            </a:avLst>
          </a:prstGeom>
          <a:solidFill>
            <a:srgbClr val="FFF4F8"/>
          </a:solidFill>
          <a:ln w="12700">
            <a:miter lim="400000"/>
          </a:ln>
        </p:spPr>
        <p:txBody>
          <a:bodyPr lIns="45719" rIns="45719"/>
          <a:lstStyle/>
          <a:p>
            <a:pPr/>
          </a:p>
        </p:txBody>
      </p:sp>
      <p:grpSp>
        <p:nvGrpSpPr>
          <p:cNvPr id="674" name="num-392"/>
          <p:cNvGrpSpPr/>
          <p:nvPr/>
        </p:nvGrpSpPr>
        <p:grpSpPr>
          <a:xfrm>
            <a:off x="749808" y="4087367"/>
            <a:ext cx="548641" cy="548641"/>
            <a:chOff x="0" y="0"/>
            <a:chExt cx="548640" cy="548640"/>
          </a:xfrm>
        </p:grpSpPr>
        <p:sp>
          <p:nvSpPr>
            <p:cNvPr id="672" name="Circle"/>
            <p:cNvSpPr/>
            <p:nvPr/>
          </p:nvSpPr>
          <p:spPr>
            <a:xfrm>
              <a:off x="-1" y="-1"/>
              <a:ext cx="548642" cy="5486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1600"/>
              </a:pPr>
            </a:p>
          </p:txBody>
        </p:sp>
        <p:sp>
          <p:nvSpPr>
            <p:cNvPr id="673" name="5"/>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5</a:t>
              </a:r>
            </a:p>
          </p:txBody>
        </p:sp>
      </p:grpSp>
      <p:sp>
        <p:nvSpPr>
          <p:cNvPr id="675" name="text-393"/>
          <p:cNvSpPr txBox="1"/>
          <p:nvPr/>
        </p:nvSpPr>
        <p:spPr>
          <a:xfrm>
            <a:off x="1417319" y="4268410"/>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Ingress → port 8080</a:t>
            </a:r>
          </a:p>
        </p:txBody>
      </p:sp>
      <p:sp>
        <p:nvSpPr>
          <p:cNvPr id="676" name="text-394"/>
          <p:cNvSpPr txBox="1"/>
          <p:nvPr/>
        </p:nvSpPr>
        <p:spPr>
          <a:xfrm>
            <a:off x="777240"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503 on /api</a:t>
            </a:r>
          </a:p>
          <a:p>
            <a:pPr>
              <a:spcBef>
                <a:spcPts val="500"/>
              </a:spcBef>
              <a:defRPr b="1" sz="1100">
                <a:solidFill>
                  <a:srgbClr val="6B5B86"/>
                </a:solidFill>
              </a:defRPr>
            </a:pPr>
            <a:r>
              <a:t>FIX</a:t>
            </a:r>
            <a:endParaRPr sz="1400"/>
          </a:p>
          <a:p>
            <a:pPr>
              <a:spcBef>
                <a:spcPts val="500"/>
              </a:spcBef>
              <a:defRPr sz="1400"/>
            </a:pPr>
            <a:r>
              <a:t>point it at 8000</a:t>
            </a:r>
          </a:p>
        </p:txBody>
      </p:sp>
      <p:sp>
        <p:nvSpPr>
          <p:cNvPr id="677" name="card-395"/>
          <p:cNvSpPr/>
          <p:nvPr/>
        </p:nvSpPr>
        <p:spPr>
          <a:xfrm>
            <a:off x="3379622" y="3886200"/>
            <a:ext cx="2596896" cy="2240280"/>
          </a:xfrm>
          <a:prstGeom prst="roundRect">
            <a:avLst>
              <a:gd name="adj" fmla="val 7347"/>
            </a:avLst>
          </a:prstGeom>
          <a:solidFill>
            <a:srgbClr val="FFF4F8"/>
          </a:solidFill>
          <a:ln w="12700">
            <a:miter lim="400000"/>
          </a:ln>
        </p:spPr>
        <p:txBody>
          <a:bodyPr lIns="45719" rIns="45719"/>
          <a:lstStyle/>
          <a:p>
            <a:pPr/>
          </a:p>
        </p:txBody>
      </p:sp>
      <p:grpSp>
        <p:nvGrpSpPr>
          <p:cNvPr id="680" name="num-396"/>
          <p:cNvGrpSpPr/>
          <p:nvPr/>
        </p:nvGrpSpPr>
        <p:grpSpPr>
          <a:xfrm>
            <a:off x="3580789" y="4087367"/>
            <a:ext cx="548641" cy="548641"/>
            <a:chOff x="0" y="0"/>
            <a:chExt cx="548640" cy="548640"/>
          </a:xfrm>
        </p:grpSpPr>
        <p:sp>
          <p:nvSpPr>
            <p:cNvPr id="678" name="Circle"/>
            <p:cNvSpPr/>
            <p:nvPr/>
          </p:nvSpPr>
          <p:spPr>
            <a:xfrm>
              <a:off x="-1" y="-1"/>
              <a:ext cx="548642" cy="54864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1600"/>
              </a:pPr>
            </a:p>
          </p:txBody>
        </p:sp>
        <p:sp>
          <p:nvSpPr>
            <p:cNvPr id="679" name="6"/>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6</a:t>
              </a:r>
            </a:p>
          </p:txBody>
        </p:sp>
      </p:grpSp>
      <p:sp>
        <p:nvSpPr>
          <p:cNvPr id="681" name="text-397"/>
          <p:cNvSpPr txBox="1"/>
          <p:nvPr/>
        </p:nvSpPr>
        <p:spPr>
          <a:xfrm>
            <a:off x="4248301" y="4268410"/>
            <a:ext cx="1636777"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No CPU requests</a:t>
            </a:r>
          </a:p>
        </p:txBody>
      </p:sp>
      <p:sp>
        <p:nvSpPr>
          <p:cNvPr id="682" name="text-398"/>
          <p:cNvSpPr txBox="1"/>
          <p:nvPr/>
        </p:nvSpPr>
        <p:spPr>
          <a:xfrm>
            <a:off x="3608222"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HPA shows &lt;unknown&gt;</a:t>
            </a:r>
          </a:p>
          <a:p>
            <a:pPr>
              <a:spcBef>
                <a:spcPts val="500"/>
              </a:spcBef>
              <a:defRPr b="1" sz="1100">
                <a:solidFill>
                  <a:srgbClr val="6B5B86"/>
                </a:solidFill>
              </a:defRPr>
            </a:pPr>
            <a:r>
              <a:t>FIX</a:t>
            </a:r>
            <a:endParaRPr sz="1400"/>
          </a:p>
          <a:p>
            <a:pPr>
              <a:spcBef>
                <a:spcPts val="500"/>
              </a:spcBef>
              <a:defRPr sz="1400"/>
            </a:pPr>
            <a:r>
              <a:t>add resource requests</a:t>
            </a:r>
          </a:p>
        </p:txBody>
      </p:sp>
      <p:sp>
        <p:nvSpPr>
          <p:cNvPr id="683" name="card-399"/>
          <p:cNvSpPr/>
          <p:nvPr/>
        </p:nvSpPr>
        <p:spPr>
          <a:xfrm>
            <a:off x="6210605" y="3886200"/>
            <a:ext cx="2596896" cy="2240280"/>
          </a:xfrm>
          <a:prstGeom prst="roundRect">
            <a:avLst>
              <a:gd name="adj" fmla="val 7347"/>
            </a:avLst>
          </a:prstGeom>
          <a:solidFill>
            <a:schemeClr val="accent1">
              <a:alpha val="35000"/>
            </a:schemeClr>
          </a:solidFill>
          <a:ln w="12700">
            <a:miter lim="400000"/>
          </a:ln>
        </p:spPr>
        <p:txBody>
          <a:bodyPr lIns="45719" rIns="45719"/>
          <a:lstStyle/>
          <a:p>
            <a:pPr/>
          </a:p>
        </p:txBody>
      </p:sp>
      <p:grpSp>
        <p:nvGrpSpPr>
          <p:cNvPr id="686" name="num-400"/>
          <p:cNvGrpSpPr/>
          <p:nvPr/>
        </p:nvGrpSpPr>
        <p:grpSpPr>
          <a:xfrm>
            <a:off x="6411772" y="4087367"/>
            <a:ext cx="548641" cy="548641"/>
            <a:chOff x="0" y="0"/>
            <a:chExt cx="548640" cy="548640"/>
          </a:xfrm>
        </p:grpSpPr>
        <p:sp>
          <p:nvSpPr>
            <p:cNvPr id="684" name="Ci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600"/>
              </a:pPr>
            </a:p>
          </p:txBody>
        </p:sp>
        <p:sp>
          <p:nvSpPr>
            <p:cNvPr id="685" name="7"/>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7</a:t>
              </a:r>
            </a:p>
          </p:txBody>
        </p:sp>
      </p:grpSp>
      <p:sp>
        <p:nvSpPr>
          <p:cNvPr id="687" name="text-401"/>
          <p:cNvSpPr txBox="1"/>
          <p:nvPr/>
        </p:nvSpPr>
        <p:spPr>
          <a:xfrm>
            <a:off x="7079284" y="4268410"/>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Grafana (real!)</a:t>
            </a:r>
          </a:p>
        </p:txBody>
      </p:sp>
      <p:sp>
        <p:nvSpPr>
          <p:cNvPr id="688" name="text-402"/>
          <p:cNvSpPr txBox="1"/>
          <p:nvPr/>
        </p:nvSpPr>
        <p:spPr>
          <a:xfrm>
            <a:off x="6439205"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restart loop, API stall</a:t>
            </a:r>
          </a:p>
          <a:p>
            <a:pPr>
              <a:spcBef>
                <a:spcPts val="500"/>
              </a:spcBef>
              <a:defRPr b="1" sz="1100">
                <a:solidFill>
                  <a:srgbClr val="6B5B86"/>
                </a:solidFill>
              </a:defRPr>
            </a:pPr>
            <a:r>
              <a:t>FIX</a:t>
            </a:r>
            <a:endParaRPr sz="1400"/>
          </a:p>
          <a:p>
            <a:pPr>
              <a:spcBef>
                <a:spcPts val="500"/>
              </a:spcBef>
              <a:defRPr sz="1400"/>
            </a:pPr>
            <a:r>
              <a:t>probe delay + CPU limit</a:t>
            </a:r>
          </a:p>
        </p:txBody>
      </p:sp>
      <p:sp>
        <p:nvSpPr>
          <p:cNvPr id="689"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3" name="Text 0"/>
          <p:cNvSpPr txBox="1"/>
          <p:nvPr>
            <p:ph type="title"/>
          </p:nvPr>
        </p:nvSpPr>
        <p:spPr>
          <a:xfrm>
            <a:off x="548639" y="347472"/>
            <a:ext cx="9692642" cy="777241"/>
          </a:xfrm>
          <a:prstGeom prst="rect">
            <a:avLst/>
          </a:prstGeom>
        </p:spPr>
        <p:txBody>
          <a:bodyPr lIns="0" tIns="0" rIns="0" bIns="0" anchor="ctr"/>
          <a:lstStyle/>
          <a:p>
            <a:pPr/>
            <a:r>
              <a:t>What I learned</a:t>
            </a:r>
          </a:p>
        </p:txBody>
      </p:sp>
      <p:sp>
        <p:nvSpPr>
          <p:cNvPr id="694" name="card-403"/>
          <p:cNvSpPr/>
          <p:nvPr/>
        </p:nvSpPr>
        <p:spPr>
          <a:xfrm>
            <a:off x="548640" y="1463039"/>
            <a:ext cx="5422392" cy="1371601"/>
          </a:xfrm>
          <a:prstGeom prst="roundRect">
            <a:avLst>
              <a:gd name="adj" fmla="val 12000"/>
            </a:avLst>
          </a:prstGeom>
          <a:solidFill>
            <a:srgbClr val="FFF4F8"/>
          </a:solidFill>
          <a:ln w="12700">
            <a:miter lim="400000"/>
          </a:ln>
        </p:spPr>
        <p:txBody>
          <a:bodyPr lIns="45719" rIns="45719"/>
          <a:lstStyle/>
          <a:p>
            <a:pPr/>
          </a:p>
        </p:txBody>
      </p:sp>
      <p:sp>
        <p:nvSpPr>
          <p:cNvPr id="695" name="bubble-404"/>
          <p:cNvSpPr/>
          <p:nvPr/>
        </p:nvSpPr>
        <p:spPr>
          <a:xfrm>
            <a:off x="777240" y="1764792"/>
            <a:ext cx="768097" cy="768097"/>
          </a:xfrm>
          <a:prstGeom prst="ellipse">
            <a:avLst/>
          </a:prstGeom>
          <a:solidFill>
            <a:schemeClr val="accent1"/>
          </a:solidFill>
          <a:ln w="12700">
            <a:miter lim="400000"/>
          </a:ln>
        </p:spPr>
        <p:txBody>
          <a:bodyPr lIns="45719" rIns="45719"/>
          <a:lstStyle/>
          <a:p>
            <a:pPr/>
          </a:p>
        </p:txBody>
      </p:sp>
      <p:pic>
        <p:nvPicPr>
          <p:cNvPr id="696" name="icon-405" descr="icon-405"/>
          <p:cNvPicPr>
            <a:picLocks noChangeAspect="1"/>
          </p:cNvPicPr>
          <p:nvPr/>
        </p:nvPicPr>
        <p:blipFill>
          <a:blip r:embed="rId3">
            <a:extLst/>
          </a:blip>
          <a:stretch>
            <a:fillRect/>
          </a:stretch>
        </p:blipFill>
        <p:spPr>
          <a:xfrm>
            <a:off x="961582" y="1949135"/>
            <a:ext cx="399411" cy="399411"/>
          </a:xfrm>
          <a:prstGeom prst="rect">
            <a:avLst/>
          </a:prstGeom>
          <a:ln w="12700">
            <a:miter lim="400000"/>
          </a:ln>
        </p:spPr>
      </p:pic>
      <p:sp>
        <p:nvSpPr>
          <p:cNvPr id="697" name="text-406"/>
          <p:cNvSpPr txBox="1"/>
          <p:nvPr/>
        </p:nvSpPr>
        <p:spPr>
          <a:xfrm>
            <a:off x="1737360" y="1836859"/>
            <a:ext cx="411480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The symptom is never where the problem is</a:t>
            </a:r>
            <a:endParaRPr sz="1400"/>
          </a:p>
          <a:p>
            <a:pPr>
              <a:defRPr sz="1300">
                <a:solidFill>
                  <a:srgbClr val="6B5B86"/>
                </a:solidFill>
              </a:defRPr>
            </a:pPr>
            <a:r>
              <a:t>a 503 was a label typo; &lt;unknown&gt; was a missing CPU request</a:t>
            </a:r>
          </a:p>
        </p:txBody>
      </p:sp>
      <p:sp>
        <p:nvSpPr>
          <p:cNvPr id="698" name="card-407"/>
          <p:cNvSpPr/>
          <p:nvPr/>
        </p:nvSpPr>
        <p:spPr>
          <a:xfrm>
            <a:off x="6217920" y="1463039"/>
            <a:ext cx="5422392" cy="1371601"/>
          </a:xfrm>
          <a:prstGeom prst="roundRect">
            <a:avLst>
              <a:gd name="adj" fmla="val 12000"/>
            </a:avLst>
          </a:prstGeom>
          <a:solidFill>
            <a:srgbClr val="FFF4F8"/>
          </a:solidFill>
          <a:ln w="12700">
            <a:miter lim="400000"/>
          </a:ln>
        </p:spPr>
        <p:txBody>
          <a:bodyPr lIns="45719" rIns="45719"/>
          <a:lstStyle/>
          <a:p>
            <a:pPr/>
          </a:p>
        </p:txBody>
      </p:sp>
      <p:sp>
        <p:nvSpPr>
          <p:cNvPr id="699" name="bubble-408"/>
          <p:cNvSpPr/>
          <p:nvPr/>
        </p:nvSpPr>
        <p:spPr>
          <a:xfrm>
            <a:off x="6446520" y="1764792"/>
            <a:ext cx="768097" cy="768097"/>
          </a:xfrm>
          <a:prstGeom prst="ellipse">
            <a:avLst/>
          </a:prstGeom>
          <a:solidFill>
            <a:schemeClr val="accent2"/>
          </a:solidFill>
          <a:ln w="12700">
            <a:miter lim="400000"/>
          </a:ln>
        </p:spPr>
        <p:txBody>
          <a:bodyPr lIns="45719" rIns="45719"/>
          <a:lstStyle/>
          <a:p>
            <a:pPr/>
          </a:p>
        </p:txBody>
      </p:sp>
      <p:pic>
        <p:nvPicPr>
          <p:cNvPr id="700" name="icon-409" descr="icon-409"/>
          <p:cNvPicPr>
            <a:picLocks noChangeAspect="1"/>
          </p:cNvPicPr>
          <p:nvPr/>
        </p:nvPicPr>
        <p:blipFill>
          <a:blip r:embed="rId4">
            <a:extLst/>
          </a:blip>
          <a:stretch>
            <a:fillRect/>
          </a:stretch>
        </p:blipFill>
        <p:spPr>
          <a:xfrm>
            <a:off x="6630862" y="1949135"/>
            <a:ext cx="399411" cy="399411"/>
          </a:xfrm>
          <a:prstGeom prst="rect">
            <a:avLst/>
          </a:prstGeom>
          <a:ln w="12700">
            <a:miter lim="400000"/>
          </a:ln>
        </p:spPr>
      </p:pic>
      <p:sp>
        <p:nvSpPr>
          <p:cNvPr id="701" name="text-410"/>
          <p:cNvSpPr txBox="1"/>
          <p:nvPr/>
        </p:nvSpPr>
        <p:spPr>
          <a:xfrm>
            <a:off x="7406640" y="1836859"/>
            <a:ext cx="411480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Liveness ≠ readiness</a:t>
            </a:r>
            <a:endParaRPr sz="1400"/>
          </a:p>
          <a:p>
            <a:pPr>
              <a:defRPr sz="1300">
                <a:solidFill>
                  <a:srgbClr val="6B5B86"/>
                </a:solidFill>
              </a:defRPr>
            </a:pPr>
            <a:r>
              <a:t>readiness checks the DB, liveness doesn't, or one DB blip restarts everything</a:t>
            </a:r>
          </a:p>
        </p:txBody>
      </p:sp>
      <p:sp>
        <p:nvSpPr>
          <p:cNvPr id="702" name="card-411"/>
          <p:cNvSpPr/>
          <p:nvPr/>
        </p:nvSpPr>
        <p:spPr>
          <a:xfrm>
            <a:off x="548640" y="3017520"/>
            <a:ext cx="5422392" cy="1371601"/>
          </a:xfrm>
          <a:prstGeom prst="roundRect">
            <a:avLst>
              <a:gd name="adj" fmla="val 12000"/>
            </a:avLst>
          </a:prstGeom>
          <a:solidFill>
            <a:srgbClr val="FFF4F8"/>
          </a:solidFill>
          <a:ln w="12700">
            <a:miter lim="400000"/>
          </a:ln>
        </p:spPr>
        <p:txBody>
          <a:bodyPr lIns="45719" rIns="45719"/>
          <a:lstStyle/>
          <a:p>
            <a:pPr/>
          </a:p>
        </p:txBody>
      </p:sp>
      <p:sp>
        <p:nvSpPr>
          <p:cNvPr id="703" name="bubble-412"/>
          <p:cNvSpPr/>
          <p:nvPr/>
        </p:nvSpPr>
        <p:spPr>
          <a:xfrm>
            <a:off x="777240" y="3319271"/>
            <a:ext cx="768097" cy="768097"/>
          </a:xfrm>
          <a:prstGeom prst="ellipse">
            <a:avLst/>
          </a:prstGeom>
          <a:solidFill>
            <a:schemeClr val="accent3"/>
          </a:solidFill>
          <a:ln w="12700">
            <a:miter lim="400000"/>
          </a:ln>
        </p:spPr>
        <p:txBody>
          <a:bodyPr lIns="45719" rIns="45719"/>
          <a:lstStyle/>
          <a:p>
            <a:pPr/>
          </a:p>
        </p:txBody>
      </p:sp>
      <p:pic>
        <p:nvPicPr>
          <p:cNvPr id="704" name="icon-413" descr="icon-413"/>
          <p:cNvPicPr>
            <a:picLocks noChangeAspect="1"/>
          </p:cNvPicPr>
          <p:nvPr/>
        </p:nvPicPr>
        <p:blipFill>
          <a:blip r:embed="rId5">
            <a:extLst/>
          </a:blip>
          <a:stretch>
            <a:fillRect/>
          </a:stretch>
        </p:blipFill>
        <p:spPr>
          <a:xfrm>
            <a:off x="961582" y="3503614"/>
            <a:ext cx="399411" cy="399411"/>
          </a:xfrm>
          <a:prstGeom prst="rect">
            <a:avLst/>
          </a:prstGeom>
          <a:ln w="12700">
            <a:miter lim="400000"/>
          </a:ln>
        </p:spPr>
      </p:pic>
      <p:sp>
        <p:nvSpPr>
          <p:cNvPr id="705" name="text-414"/>
          <p:cNvSpPr txBox="1"/>
          <p:nvPr/>
        </p:nvSpPr>
        <p:spPr>
          <a:xfrm>
            <a:off x="1737360" y="3492939"/>
            <a:ext cx="411480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maxUnavailable: 0 saved the app</a:t>
            </a:r>
            <a:endParaRPr sz="1400"/>
          </a:p>
          <a:p>
            <a:pPr>
              <a:defRPr sz="1300">
                <a:solidFill>
                  <a:srgbClr val="6B5B86"/>
                </a:solidFill>
              </a:defRPr>
            </a:pPr>
            <a:r>
              <a:t>broken new pods never replaced the working old ones</a:t>
            </a:r>
          </a:p>
        </p:txBody>
      </p:sp>
      <p:sp>
        <p:nvSpPr>
          <p:cNvPr id="706" name="card-415"/>
          <p:cNvSpPr/>
          <p:nvPr/>
        </p:nvSpPr>
        <p:spPr>
          <a:xfrm>
            <a:off x="6217920" y="3017520"/>
            <a:ext cx="5422392" cy="1371601"/>
          </a:xfrm>
          <a:prstGeom prst="roundRect">
            <a:avLst>
              <a:gd name="adj" fmla="val 12000"/>
            </a:avLst>
          </a:prstGeom>
          <a:solidFill>
            <a:srgbClr val="FFF4F8"/>
          </a:solidFill>
          <a:ln w="12700">
            <a:miter lim="400000"/>
          </a:ln>
        </p:spPr>
        <p:txBody>
          <a:bodyPr lIns="45719" rIns="45719"/>
          <a:lstStyle/>
          <a:p>
            <a:pPr/>
          </a:p>
        </p:txBody>
      </p:sp>
      <p:sp>
        <p:nvSpPr>
          <p:cNvPr id="707" name="bubble-416"/>
          <p:cNvSpPr/>
          <p:nvPr/>
        </p:nvSpPr>
        <p:spPr>
          <a:xfrm>
            <a:off x="6446520" y="3319271"/>
            <a:ext cx="768097" cy="768097"/>
          </a:xfrm>
          <a:prstGeom prst="ellipse">
            <a:avLst/>
          </a:prstGeom>
          <a:solidFill>
            <a:schemeClr val="accent4"/>
          </a:solidFill>
          <a:ln w="12700">
            <a:miter lim="400000"/>
          </a:ln>
        </p:spPr>
        <p:txBody>
          <a:bodyPr lIns="45719" rIns="45719"/>
          <a:lstStyle/>
          <a:p>
            <a:pPr/>
          </a:p>
        </p:txBody>
      </p:sp>
      <p:pic>
        <p:nvPicPr>
          <p:cNvPr id="708" name="icon-417" descr="icon-417"/>
          <p:cNvPicPr>
            <a:picLocks noChangeAspect="1"/>
          </p:cNvPicPr>
          <p:nvPr/>
        </p:nvPicPr>
        <p:blipFill>
          <a:blip r:embed="rId6">
            <a:extLst/>
          </a:blip>
          <a:stretch>
            <a:fillRect/>
          </a:stretch>
        </p:blipFill>
        <p:spPr>
          <a:xfrm>
            <a:off x="6630862" y="3503614"/>
            <a:ext cx="399411" cy="399411"/>
          </a:xfrm>
          <a:prstGeom prst="rect">
            <a:avLst/>
          </a:prstGeom>
          <a:ln w="12700">
            <a:miter lim="400000"/>
          </a:ln>
        </p:spPr>
      </p:pic>
      <p:sp>
        <p:nvSpPr>
          <p:cNvPr id="709" name="text-418"/>
          <p:cNvSpPr txBox="1"/>
          <p:nvPr/>
        </p:nvSpPr>
        <p:spPr>
          <a:xfrm>
            <a:off x="7406640" y="3492939"/>
            <a:ext cx="411480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Scanners find what you didn't write</a:t>
            </a:r>
            <a:endParaRPr sz="1400"/>
          </a:p>
          <a:p>
            <a:pPr>
              <a:defRPr sz="1300">
                <a:solidFill>
                  <a:srgbClr val="6B5B86"/>
                </a:solidFill>
              </a:defRPr>
            </a:pPr>
            <a:r>
              <a:t>the CVEs were inside pip and the nginx base image</a:t>
            </a:r>
          </a:p>
        </p:txBody>
      </p:sp>
      <p:sp>
        <p:nvSpPr>
          <p:cNvPr id="710" name="card-419"/>
          <p:cNvSpPr/>
          <p:nvPr/>
        </p:nvSpPr>
        <p:spPr>
          <a:xfrm>
            <a:off x="548640" y="4572000"/>
            <a:ext cx="5422392" cy="1371600"/>
          </a:xfrm>
          <a:prstGeom prst="roundRect">
            <a:avLst>
              <a:gd name="adj" fmla="val 12000"/>
            </a:avLst>
          </a:prstGeom>
          <a:solidFill>
            <a:srgbClr val="FFF4F8"/>
          </a:solidFill>
          <a:ln w="12700">
            <a:miter lim="400000"/>
          </a:ln>
        </p:spPr>
        <p:txBody>
          <a:bodyPr lIns="45719" rIns="45719"/>
          <a:lstStyle/>
          <a:p>
            <a:pPr/>
          </a:p>
        </p:txBody>
      </p:sp>
      <p:sp>
        <p:nvSpPr>
          <p:cNvPr id="711" name="bubble-420"/>
          <p:cNvSpPr/>
          <p:nvPr/>
        </p:nvSpPr>
        <p:spPr>
          <a:xfrm>
            <a:off x="777240" y="4873752"/>
            <a:ext cx="768097" cy="768097"/>
          </a:xfrm>
          <a:prstGeom prst="ellipse">
            <a:avLst/>
          </a:prstGeom>
          <a:solidFill>
            <a:schemeClr val="accent5"/>
          </a:solidFill>
          <a:ln w="12700">
            <a:miter lim="400000"/>
          </a:ln>
        </p:spPr>
        <p:txBody>
          <a:bodyPr lIns="45719" rIns="45719"/>
          <a:lstStyle/>
          <a:p>
            <a:pPr/>
          </a:p>
        </p:txBody>
      </p:sp>
      <p:pic>
        <p:nvPicPr>
          <p:cNvPr id="712" name="icon-421" descr="icon-421"/>
          <p:cNvPicPr>
            <a:picLocks noChangeAspect="1"/>
          </p:cNvPicPr>
          <p:nvPr/>
        </p:nvPicPr>
        <p:blipFill>
          <a:blip r:embed="rId7">
            <a:extLst/>
          </a:blip>
          <a:stretch>
            <a:fillRect/>
          </a:stretch>
        </p:blipFill>
        <p:spPr>
          <a:xfrm>
            <a:off x="961582" y="5058095"/>
            <a:ext cx="399411" cy="399411"/>
          </a:xfrm>
          <a:prstGeom prst="rect">
            <a:avLst/>
          </a:prstGeom>
          <a:ln w="12700">
            <a:miter lim="400000"/>
          </a:ln>
        </p:spPr>
      </p:pic>
      <p:sp>
        <p:nvSpPr>
          <p:cNvPr id="713" name="text-422"/>
          <p:cNvSpPr txBox="1"/>
          <p:nvPr/>
        </p:nvSpPr>
        <p:spPr>
          <a:xfrm>
            <a:off x="1737360" y="5047419"/>
            <a:ext cx="4114801"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Limits protect neighbours</a:t>
            </a:r>
            <a:endParaRPr sz="1400"/>
          </a:p>
          <a:p>
            <a:pPr>
              <a:defRPr sz="1300">
                <a:solidFill>
                  <a:srgbClr val="6B5B86"/>
                </a:solidFill>
              </a:defRPr>
            </a:pPr>
            <a:r>
              <a:t>one pod with no CPU limit stalled the whole API server</a:t>
            </a:r>
          </a:p>
        </p:txBody>
      </p:sp>
      <p:sp>
        <p:nvSpPr>
          <p:cNvPr id="714" name="card-423"/>
          <p:cNvSpPr/>
          <p:nvPr/>
        </p:nvSpPr>
        <p:spPr>
          <a:xfrm>
            <a:off x="6217920" y="4572000"/>
            <a:ext cx="5422392" cy="1371600"/>
          </a:xfrm>
          <a:prstGeom prst="roundRect">
            <a:avLst>
              <a:gd name="adj" fmla="val 12000"/>
            </a:avLst>
          </a:prstGeom>
          <a:solidFill>
            <a:srgbClr val="FFF4F8"/>
          </a:solidFill>
          <a:ln w="12700">
            <a:miter lim="400000"/>
          </a:ln>
        </p:spPr>
        <p:txBody>
          <a:bodyPr lIns="45719" rIns="45719"/>
          <a:lstStyle/>
          <a:p>
            <a:pPr/>
          </a:p>
        </p:txBody>
      </p:sp>
      <p:sp>
        <p:nvSpPr>
          <p:cNvPr id="715" name="bubble-424"/>
          <p:cNvSpPr/>
          <p:nvPr/>
        </p:nvSpPr>
        <p:spPr>
          <a:xfrm>
            <a:off x="6446520" y="4873752"/>
            <a:ext cx="768097" cy="768097"/>
          </a:xfrm>
          <a:prstGeom prst="ellipse">
            <a:avLst/>
          </a:prstGeom>
          <a:solidFill>
            <a:schemeClr val="accent6"/>
          </a:solidFill>
          <a:ln w="12700">
            <a:miter lim="400000"/>
          </a:ln>
        </p:spPr>
        <p:txBody>
          <a:bodyPr lIns="45719" rIns="45719"/>
          <a:lstStyle/>
          <a:p>
            <a:pPr/>
          </a:p>
        </p:txBody>
      </p:sp>
      <p:pic>
        <p:nvPicPr>
          <p:cNvPr id="716" name="icon-425" descr="icon-425"/>
          <p:cNvPicPr>
            <a:picLocks noChangeAspect="1"/>
          </p:cNvPicPr>
          <p:nvPr/>
        </p:nvPicPr>
        <p:blipFill>
          <a:blip r:embed="rId8">
            <a:extLst/>
          </a:blip>
          <a:stretch>
            <a:fillRect/>
          </a:stretch>
        </p:blipFill>
        <p:spPr>
          <a:xfrm>
            <a:off x="6630862" y="5058095"/>
            <a:ext cx="399411" cy="399411"/>
          </a:xfrm>
          <a:prstGeom prst="rect">
            <a:avLst/>
          </a:prstGeom>
          <a:ln w="12700">
            <a:miter lim="400000"/>
          </a:ln>
        </p:spPr>
      </p:pic>
      <p:sp>
        <p:nvSpPr>
          <p:cNvPr id="717" name="text-426"/>
          <p:cNvSpPr txBox="1"/>
          <p:nvPr/>
        </p:nvSpPr>
        <p:spPr>
          <a:xfrm>
            <a:off x="7406640" y="5047419"/>
            <a:ext cx="4114801"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GitOps flips the direction</a:t>
            </a:r>
            <a:endParaRPr sz="1400"/>
          </a:p>
          <a:p>
            <a:pPr>
              <a:defRPr sz="1300">
                <a:solidFill>
                  <a:srgbClr val="6B5B86"/>
                </a:solidFill>
              </a:defRPr>
            </a:pPr>
            <a:r>
              <a:t>CI pushes images, the cluster pulls config from Git</a:t>
            </a:r>
          </a:p>
        </p:txBody>
      </p:sp>
      <p:sp>
        <p:nvSpPr>
          <p:cNvPr id="718"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2" name="Text 0"/>
          <p:cNvSpPr txBox="1"/>
          <p:nvPr>
            <p:ph type="title"/>
          </p:nvPr>
        </p:nvSpPr>
        <p:spPr>
          <a:xfrm>
            <a:off x="548639" y="347472"/>
            <a:ext cx="9692642" cy="777241"/>
          </a:xfrm>
          <a:prstGeom prst="rect">
            <a:avLst/>
          </a:prstGeom>
        </p:spPr>
        <p:txBody>
          <a:bodyPr lIns="0" tIns="0" rIns="0" bIns="0" anchor="ctr"/>
          <a:lstStyle/>
          <a:p>
            <a:pPr/>
            <a:r>
              <a:t>Live demo: commit → pipeline → deploy</a:t>
            </a:r>
          </a:p>
        </p:txBody>
      </p:sp>
      <p:sp>
        <p:nvSpPr>
          <p:cNvPr id="723" name="card-478"/>
          <p:cNvSpPr/>
          <p:nvPr/>
        </p:nvSpPr>
        <p:spPr>
          <a:xfrm>
            <a:off x="548640" y="1508760"/>
            <a:ext cx="2606040" cy="3566160"/>
          </a:xfrm>
          <a:prstGeom prst="roundRect">
            <a:avLst>
              <a:gd name="adj" fmla="val 6316"/>
            </a:avLst>
          </a:prstGeom>
          <a:solidFill>
            <a:srgbClr val="FFF4F8"/>
          </a:solidFill>
          <a:ln w="12700">
            <a:miter lim="400000"/>
          </a:ln>
        </p:spPr>
        <p:txBody>
          <a:bodyPr lIns="45719" rIns="45719"/>
          <a:lstStyle/>
          <a:p>
            <a:pPr/>
          </a:p>
        </p:txBody>
      </p:sp>
      <p:grpSp>
        <p:nvGrpSpPr>
          <p:cNvPr id="726" name="num-479"/>
          <p:cNvGrpSpPr/>
          <p:nvPr/>
        </p:nvGrpSpPr>
        <p:grpSpPr>
          <a:xfrm>
            <a:off x="731519" y="1691639"/>
            <a:ext cx="502921" cy="502921"/>
            <a:chOff x="0" y="0"/>
            <a:chExt cx="502920" cy="502920"/>
          </a:xfrm>
        </p:grpSpPr>
        <p:sp>
          <p:nvSpPr>
            <p:cNvPr id="724"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25" name="1"/>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a:t>
              </a:r>
            </a:p>
          </p:txBody>
        </p:sp>
      </p:grpSp>
      <p:sp>
        <p:nvSpPr>
          <p:cNvPr id="727" name="bubble-480"/>
          <p:cNvSpPr/>
          <p:nvPr/>
        </p:nvSpPr>
        <p:spPr>
          <a:xfrm>
            <a:off x="1298447" y="2148839"/>
            <a:ext cx="1097281" cy="1097281"/>
          </a:xfrm>
          <a:prstGeom prst="ellipse">
            <a:avLst/>
          </a:prstGeom>
          <a:solidFill>
            <a:schemeClr val="accent1"/>
          </a:solidFill>
          <a:ln w="12700">
            <a:miter lim="400000"/>
          </a:ln>
        </p:spPr>
        <p:txBody>
          <a:bodyPr lIns="45719" rIns="45719"/>
          <a:lstStyle/>
          <a:p>
            <a:pPr/>
          </a:p>
        </p:txBody>
      </p:sp>
      <p:pic>
        <p:nvPicPr>
          <p:cNvPr id="728" name="icon-481" descr="icon-481"/>
          <p:cNvPicPr>
            <a:picLocks noChangeAspect="1"/>
          </p:cNvPicPr>
          <p:nvPr/>
        </p:nvPicPr>
        <p:blipFill>
          <a:blip r:embed="rId3">
            <a:extLst/>
          </a:blip>
          <a:stretch>
            <a:fillRect/>
          </a:stretch>
        </p:blipFill>
        <p:spPr>
          <a:xfrm>
            <a:off x="1583741" y="2434133"/>
            <a:ext cx="526695" cy="526695"/>
          </a:xfrm>
          <a:prstGeom prst="rect">
            <a:avLst/>
          </a:prstGeom>
          <a:ln w="12700">
            <a:miter lim="400000"/>
          </a:ln>
        </p:spPr>
      </p:pic>
      <p:sp>
        <p:nvSpPr>
          <p:cNvPr id="729" name="text-482"/>
          <p:cNvSpPr txBox="1"/>
          <p:nvPr/>
        </p:nvSpPr>
        <p:spPr>
          <a:xfrm>
            <a:off x="726948" y="3429000"/>
            <a:ext cx="2240280"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Change &amp; commit</a:t>
            </a:r>
            <a:endParaRPr sz="1400"/>
          </a:p>
          <a:p>
            <a:pPr algn="ctr">
              <a:spcBef>
                <a:spcPts val="400"/>
              </a:spcBef>
              <a:defRPr sz="1400">
                <a:solidFill>
                  <a:srgbClr val="6B5B86"/>
                </a:solidFill>
              </a:defRPr>
            </a:pPr>
            <a:r>
              <a:t>edit a visible text in the frontend, git commit, git push</a:t>
            </a:r>
          </a:p>
        </p:txBody>
      </p:sp>
      <p:sp>
        <p:nvSpPr>
          <p:cNvPr id="730" name="arrow-483"/>
          <p:cNvSpPr/>
          <p:nvPr/>
        </p:nvSpPr>
        <p:spPr>
          <a:xfrm>
            <a:off x="3182112" y="3291840"/>
            <a:ext cx="173737" cy="915"/>
          </a:xfrm>
          <a:prstGeom prst="line">
            <a:avLst/>
          </a:prstGeom>
          <a:ln w="25400">
            <a:solidFill>
              <a:srgbClr val="6B5B86"/>
            </a:solidFill>
            <a:tailEnd type="triangle"/>
          </a:ln>
        </p:spPr>
        <p:txBody>
          <a:bodyPr lIns="45719" rIns="45719"/>
          <a:lstStyle/>
          <a:p>
            <a:pPr/>
          </a:p>
        </p:txBody>
      </p:sp>
      <p:sp>
        <p:nvSpPr>
          <p:cNvPr id="731" name="card-484"/>
          <p:cNvSpPr/>
          <p:nvPr/>
        </p:nvSpPr>
        <p:spPr>
          <a:xfrm>
            <a:off x="3383279"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34" name="num-485"/>
          <p:cNvGrpSpPr/>
          <p:nvPr/>
        </p:nvGrpSpPr>
        <p:grpSpPr>
          <a:xfrm>
            <a:off x="3566159" y="1691639"/>
            <a:ext cx="502921" cy="502921"/>
            <a:chOff x="0" y="0"/>
            <a:chExt cx="502920" cy="502920"/>
          </a:xfrm>
        </p:grpSpPr>
        <p:sp>
          <p:nvSpPr>
            <p:cNvPr id="732"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33" name="2"/>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a:t>
              </a:r>
            </a:p>
          </p:txBody>
        </p:sp>
      </p:grpSp>
      <p:sp>
        <p:nvSpPr>
          <p:cNvPr id="735" name="bubble-486"/>
          <p:cNvSpPr/>
          <p:nvPr/>
        </p:nvSpPr>
        <p:spPr>
          <a:xfrm>
            <a:off x="4133088" y="2148839"/>
            <a:ext cx="1097281" cy="1097281"/>
          </a:xfrm>
          <a:prstGeom prst="ellipse">
            <a:avLst/>
          </a:prstGeom>
          <a:solidFill>
            <a:schemeClr val="accent4"/>
          </a:solidFill>
          <a:ln w="12700">
            <a:miter lim="400000"/>
          </a:ln>
        </p:spPr>
        <p:txBody>
          <a:bodyPr lIns="45719" rIns="45719"/>
          <a:lstStyle/>
          <a:p>
            <a:pPr/>
          </a:p>
        </p:txBody>
      </p:sp>
      <p:pic>
        <p:nvPicPr>
          <p:cNvPr id="736" name="icon-487" descr="icon-487"/>
          <p:cNvPicPr>
            <a:picLocks noChangeAspect="1"/>
          </p:cNvPicPr>
          <p:nvPr/>
        </p:nvPicPr>
        <p:blipFill>
          <a:blip r:embed="rId4">
            <a:extLst/>
          </a:blip>
          <a:stretch>
            <a:fillRect/>
          </a:stretch>
        </p:blipFill>
        <p:spPr>
          <a:xfrm>
            <a:off x="4418381" y="2434133"/>
            <a:ext cx="526695" cy="526695"/>
          </a:xfrm>
          <a:prstGeom prst="rect">
            <a:avLst/>
          </a:prstGeom>
          <a:ln w="12700">
            <a:miter lim="400000"/>
          </a:ln>
        </p:spPr>
      </p:pic>
      <p:sp>
        <p:nvSpPr>
          <p:cNvPr id="737" name="text-488"/>
          <p:cNvSpPr txBox="1"/>
          <p:nvPr/>
        </p:nvSpPr>
        <p:spPr>
          <a:xfrm>
            <a:off x="3566159" y="3429000"/>
            <a:ext cx="2240281"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Watch the pipeline</a:t>
            </a:r>
            <a:endParaRPr sz="1400"/>
          </a:p>
          <a:p>
            <a:pPr algn="ctr">
              <a:spcBef>
                <a:spcPts val="400"/>
              </a:spcBef>
              <a:defRPr sz="1400">
                <a:solidFill>
                  <a:srgbClr val="6B5B86"/>
                </a:solidFill>
              </a:defRPr>
            </a:pPr>
            <a:r>
              <a:t>Actions runs all 9 stages: tests, scans, gate</a:t>
            </a:r>
          </a:p>
        </p:txBody>
      </p:sp>
      <p:sp>
        <p:nvSpPr>
          <p:cNvPr id="738" name="arrow-489"/>
          <p:cNvSpPr/>
          <p:nvPr/>
        </p:nvSpPr>
        <p:spPr>
          <a:xfrm>
            <a:off x="6016752" y="3291840"/>
            <a:ext cx="173737" cy="915"/>
          </a:xfrm>
          <a:prstGeom prst="line">
            <a:avLst/>
          </a:prstGeom>
          <a:ln w="25400">
            <a:solidFill>
              <a:srgbClr val="6B5B86"/>
            </a:solidFill>
            <a:tailEnd type="triangle"/>
          </a:ln>
        </p:spPr>
        <p:txBody>
          <a:bodyPr lIns="45719" rIns="45719"/>
          <a:lstStyle/>
          <a:p>
            <a:pPr/>
          </a:p>
        </p:txBody>
      </p:sp>
      <p:sp>
        <p:nvSpPr>
          <p:cNvPr id="739" name="card-490"/>
          <p:cNvSpPr/>
          <p:nvPr/>
        </p:nvSpPr>
        <p:spPr>
          <a:xfrm>
            <a:off x="6217920"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42" name="num-491"/>
          <p:cNvGrpSpPr/>
          <p:nvPr/>
        </p:nvGrpSpPr>
        <p:grpSpPr>
          <a:xfrm>
            <a:off x="6400799" y="1691639"/>
            <a:ext cx="502922" cy="502921"/>
            <a:chOff x="0" y="0"/>
            <a:chExt cx="502920" cy="502920"/>
          </a:xfrm>
        </p:grpSpPr>
        <p:sp>
          <p:nvSpPr>
            <p:cNvPr id="740"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41" name="3"/>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sp>
        <p:nvSpPr>
          <p:cNvPr id="743" name="bubble-492"/>
          <p:cNvSpPr/>
          <p:nvPr/>
        </p:nvSpPr>
        <p:spPr>
          <a:xfrm>
            <a:off x="6967728" y="2148839"/>
            <a:ext cx="1097281" cy="1097281"/>
          </a:xfrm>
          <a:prstGeom prst="ellipse">
            <a:avLst/>
          </a:prstGeom>
          <a:solidFill>
            <a:schemeClr val="accent5"/>
          </a:solidFill>
          <a:ln w="12700">
            <a:miter lim="400000"/>
          </a:ln>
        </p:spPr>
        <p:txBody>
          <a:bodyPr lIns="45719" rIns="45719"/>
          <a:lstStyle/>
          <a:p>
            <a:pPr/>
          </a:p>
        </p:txBody>
      </p:sp>
      <p:pic>
        <p:nvPicPr>
          <p:cNvPr id="744" name="icon-493" descr="icon-493"/>
          <p:cNvPicPr>
            <a:picLocks noChangeAspect="1"/>
          </p:cNvPicPr>
          <p:nvPr/>
        </p:nvPicPr>
        <p:blipFill>
          <a:blip r:embed="rId5">
            <a:extLst/>
          </a:blip>
          <a:stretch>
            <a:fillRect/>
          </a:stretch>
        </p:blipFill>
        <p:spPr>
          <a:xfrm>
            <a:off x="7253020" y="2434133"/>
            <a:ext cx="526695" cy="526695"/>
          </a:xfrm>
          <a:prstGeom prst="rect">
            <a:avLst/>
          </a:prstGeom>
          <a:ln w="12700">
            <a:miter lim="400000"/>
          </a:ln>
        </p:spPr>
      </p:pic>
      <p:sp>
        <p:nvSpPr>
          <p:cNvPr id="745" name="text-494"/>
          <p:cNvSpPr txBox="1"/>
          <p:nvPr/>
        </p:nvSpPr>
        <p:spPr>
          <a:xfrm>
            <a:off x="6400800" y="3429000"/>
            <a:ext cx="2240280"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New image in GHCR</a:t>
            </a:r>
            <a:endParaRPr sz="1400"/>
          </a:p>
          <a:p>
            <a:pPr algn="ctr">
              <a:spcBef>
                <a:spcPts val="400"/>
              </a:spcBef>
              <a:defRPr sz="1400">
                <a:solidFill>
                  <a:srgbClr val="6B5B86"/>
                </a:solidFill>
              </a:defRPr>
            </a:pPr>
            <a:r>
              <a:t>stocksense-frontend tagged with the new commit SHA</a:t>
            </a:r>
          </a:p>
        </p:txBody>
      </p:sp>
      <p:sp>
        <p:nvSpPr>
          <p:cNvPr id="746" name="arrow-495"/>
          <p:cNvSpPr/>
          <p:nvPr/>
        </p:nvSpPr>
        <p:spPr>
          <a:xfrm>
            <a:off x="8851391" y="3291840"/>
            <a:ext cx="173737" cy="915"/>
          </a:xfrm>
          <a:prstGeom prst="line">
            <a:avLst/>
          </a:prstGeom>
          <a:ln w="25400">
            <a:solidFill>
              <a:srgbClr val="6B5B86"/>
            </a:solidFill>
            <a:tailEnd type="triangle"/>
          </a:ln>
        </p:spPr>
        <p:txBody>
          <a:bodyPr lIns="45719" rIns="45719"/>
          <a:lstStyle/>
          <a:p>
            <a:pPr/>
          </a:p>
        </p:txBody>
      </p:sp>
      <p:sp>
        <p:nvSpPr>
          <p:cNvPr id="747" name="card-496"/>
          <p:cNvSpPr/>
          <p:nvPr/>
        </p:nvSpPr>
        <p:spPr>
          <a:xfrm>
            <a:off x="9052559"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50" name="num-497"/>
          <p:cNvGrpSpPr/>
          <p:nvPr/>
        </p:nvGrpSpPr>
        <p:grpSpPr>
          <a:xfrm>
            <a:off x="9235440" y="1691639"/>
            <a:ext cx="502921" cy="502921"/>
            <a:chOff x="0" y="0"/>
            <a:chExt cx="502920" cy="502920"/>
          </a:xfrm>
        </p:grpSpPr>
        <p:sp>
          <p:nvSpPr>
            <p:cNvPr id="748"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49" name="4"/>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a:t>
              </a:r>
            </a:p>
          </p:txBody>
        </p:sp>
      </p:grpSp>
      <p:sp>
        <p:nvSpPr>
          <p:cNvPr id="751" name="bubble-498"/>
          <p:cNvSpPr/>
          <p:nvPr/>
        </p:nvSpPr>
        <p:spPr>
          <a:xfrm>
            <a:off x="9802368" y="2148839"/>
            <a:ext cx="1097281" cy="1097281"/>
          </a:xfrm>
          <a:prstGeom prst="ellipse">
            <a:avLst/>
          </a:prstGeom>
          <a:solidFill>
            <a:schemeClr val="accent3"/>
          </a:solidFill>
          <a:ln w="12700">
            <a:miter lim="400000"/>
          </a:ln>
        </p:spPr>
        <p:txBody>
          <a:bodyPr lIns="45719" rIns="45719"/>
          <a:lstStyle/>
          <a:p>
            <a:pPr/>
          </a:p>
        </p:txBody>
      </p:sp>
      <p:pic>
        <p:nvPicPr>
          <p:cNvPr id="752" name="icon-499" descr="icon-499"/>
          <p:cNvPicPr>
            <a:picLocks noChangeAspect="1"/>
          </p:cNvPicPr>
          <p:nvPr/>
        </p:nvPicPr>
        <p:blipFill>
          <a:blip r:embed="rId6">
            <a:extLst/>
          </a:blip>
          <a:stretch>
            <a:fillRect/>
          </a:stretch>
        </p:blipFill>
        <p:spPr>
          <a:xfrm>
            <a:off x="10087661" y="2434133"/>
            <a:ext cx="526695" cy="526695"/>
          </a:xfrm>
          <a:prstGeom prst="rect">
            <a:avLst/>
          </a:prstGeom>
          <a:ln w="12700">
            <a:miter lim="400000"/>
          </a:ln>
        </p:spPr>
      </p:pic>
      <p:sp>
        <p:nvSpPr>
          <p:cNvPr id="753" name="text-500"/>
          <p:cNvSpPr txBox="1"/>
          <p:nvPr/>
        </p:nvSpPr>
        <p:spPr>
          <a:xfrm>
            <a:off x="9235440" y="3429000"/>
            <a:ext cx="2240281"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Deployment updates</a:t>
            </a:r>
            <a:endParaRPr sz="1400"/>
          </a:p>
          <a:p>
            <a:pPr algn="ctr">
              <a:spcBef>
                <a:spcPts val="400"/>
              </a:spcBef>
              <a:defRPr sz="1400">
                <a:solidFill>
                  <a:srgbClr val="6B5B86"/>
                </a:solidFill>
              </a:defRPr>
            </a:pPr>
            <a:r>
              <a:t>new SHA in Git → Argo CD syncs → refresh the browser</a:t>
            </a:r>
          </a:p>
        </p:txBody>
      </p:sp>
      <p:sp>
        <p:nvSpPr>
          <p:cNvPr id="754"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8" name="Text 0"/>
          <p:cNvSpPr txBox="1"/>
          <p:nvPr>
            <p:ph type="body" sz="quarter" idx="1"/>
          </p:nvPr>
        </p:nvSpPr>
        <p:spPr>
          <a:xfrm>
            <a:off x="731519" y="2138283"/>
            <a:ext cx="6217922" cy="457201"/>
          </a:xfrm>
          <a:prstGeom prst="rect">
            <a:avLst/>
          </a:prstGeom>
        </p:spPr>
        <p:txBody>
          <a:bodyPr lIns="0" tIns="0" rIns="0" bIns="0"/>
          <a:lstStyle/>
          <a:p>
            <a:pPr/>
            <a:r>
              <a:t>That's StockSense</a:t>
            </a:r>
          </a:p>
        </p:txBody>
      </p:sp>
      <p:sp>
        <p:nvSpPr>
          <p:cNvPr id="759" name="Text 0"/>
          <p:cNvSpPr txBox="1"/>
          <p:nvPr>
            <p:ph type="title"/>
          </p:nvPr>
        </p:nvSpPr>
        <p:spPr>
          <a:xfrm>
            <a:off x="667148" y="2743200"/>
            <a:ext cx="6583681" cy="1371600"/>
          </a:xfrm>
          <a:prstGeom prst="rect">
            <a:avLst/>
          </a:prstGeom>
        </p:spPr>
        <p:txBody>
          <a:bodyPr lIns="0" tIns="0" rIns="0" bIns="0" anchor="ctr"/>
          <a:lstStyle/>
          <a:p>
            <a:pPr/>
            <a:r>
              <a:t>Thank you!</a:t>
            </a:r>
          </a:p>
        </p:txBody>
      </p:sp>
      <p:sp>
        <p:nvSpPr>
          <p:cNvPr id="760" name="text-503"/>
          <p:cNvSpPr txBox="1"/>
          <p:nvPr/>
        </p:nvSpPr>
        <p:spPr>
          <a:xfrm>
            <a:off x="731519" y="5059243"/>
            <a:ext cx="5943601" cy="488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200"/>
              </a:spcBef>
              <a:defRPr b="1" sz="1600">
                <a:solidFill>
                  <a:srgbClr val="FFFFFF"/>
                </a:solidFill>
              </a:defRPr>
            </a:pPr>
            <a:r>
              <a:t>Ridaa Mirza  ·  24BCS10394</a:t>
            </a:r>
          </a:p>
          <a:p>
            <a:pPr>
              <a:spcBef>
                <a:spcPts val="200"/>
              </a:spcBef>
              <a:defRPr sz="1600">
                <a:solidFill>
                  <a:schemeClr val="accent3"/>
                </a:solidFill>
              </a:defRPr>
            </a:pPr>
            <a:r>
              <a:t>github.com/Ridaa10394/devops-project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tockSense Pastel">
  <a:themeElements>
    <a:clrScheme name="StockSense Pastel">
      <a:dk1>
        <a:srgbClr val="3B2A4F"/>
      </a:dk1>
      <a:lt1>
        <a:srgbClr val="3B2A4F"/>
      </a:lt1>
      <a:dk2>
        <a:srgbClr val="A7A7A7"/>
      </a:dk2>
      <a:lt2>
        <a:srgbClr val="535353"/>
      </a:lt2>
      <a:accent1>
        <a:srgbClr val="F78FB3"/>
      </a:accent1>
      <a:accent2>
        <a:srgbClr val="B8A4F4"/>
      </a:accent2>
      <a:accent3>
        <a:srgbClr val="7FD1BE"/>
      </a:accent3>
      <a:accent4>
        <a:srgbClr val="FFD37A"/>
      </a:accent4>
      <a:accent5>
        <a:srgbClr val="8EC5FF"/>
      </a:accent5>
      <a:accent6>
        <a:srgbClr val="FFAB91"/>
      </a:accent6>
      <a:hlink>
        <a:srgbClr val="0000FF"/>
      </a:hlink>
      <a:folHlink>
        <a:srgbClr val="FF00FF"/>
      </a:folHlink>
    </a:clrScheme>
    <a:fontScheme name="StockSense Pastel">
      <a:majorFont>
        <a:latin typeface="Calibri"/>
        <a:ea typeface="Calibri"/>
        <a:cs typeface="Calibri"/>
      </a:majorFont>
      <a:minorFont>
        <a:latin typeface="Helvetica"/>
        <a:ea typeface="Helvetica"/>
        <a:cs typeface="Helvetica"/>
      </a:minorFont>
    </a:fontScheme>
    <a:fmtScheme name="StockSense Past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tockSense Pastel">
  <a:themeElements>
    <a:clrScheme name="StockSense Pastel">
      <a:dk1>
        <a:srgbClr val="3B2A4F"/>
      </a:dk1>
      <a:lt1>
        <a:srgbClr val="3C4F25"/>
      </a:lt1>
      <a:dk2>
        <a:srgbClr val="A7A7A7"/>
      </a:dk2>
      <a:lt2>
        <a:srgbClr val="535353"/>
      </a:lt2>
      <a:accent1>
        <a:srgbClr val="F78FB3"/>
      </a:accent1>
      <a:accent2>
        <a:srgbClr val="B8A4F4"/>
      </a:accent2>
      <a:accent3>
        <a:srgbClr val="7FD1BE"/>
      </a:accent3>
      <a:accent4>
        <a:srgbClr val="FFD37A"/>
      </a:accent4>
      <a:accent5>
        <a:srgbClr val="8EC5FF"/>
      </a:accent5>
      <a:accent6>
        <a:srgbClr val="FFAB91"/>
      </a:accent6>
      <a:hlink>
        <a:srgbClr val="0000FF"/>
      </a:hlink>
      <a:folHlink>
        <a:srgbClr val="FF00FF"/>
      </a:folHlink>
    </a:clrScheme>
    <a:fontScheme name="StockSense Pastel">
      <a:majorFont>
        <a:latin typeface="Calibri"/>
        <a:ea typeface="Calibri"/>
        <a:cs typeface="Calibri"/>
      </a:majorFont>
      <a:minorFont>
        <a:latin typeface="Helvetica"/>
        <a:ea typeface="Helvetica"/>
        <a:cs typeface="Helvetica"/>
      </a:minorFont>
    </a:fontScheme>
    <a:fmtScheme name="StockSense Past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